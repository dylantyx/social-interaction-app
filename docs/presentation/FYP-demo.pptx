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~177 words
Good morning. My final year project is ConvoTrainer, an interview practice
application.
All three ways of practising today have the same hole. A question bank asks
the same things in the same order; it never notices that you dodged the
question. A human adapts perfectly, but isn't available at eleven at night and
can't be repeated ten times. A general chatbot will role-play, but won't grade
you against a rubric or push back when you're weak. Nothing connects how you
answered to what you get asked next. That loop is the project.
So: you describe the role, optionally attaching the real job description and
your CV, which are used to ground the questions. You pick the rounds and shape
the interviewer. Then you interview.
Six round types, each with its own rubric — a system design answer isn't
judged the way a behavioural one is. Text or voice, with a code editor on
technical rounds. Afterwards, a scored report with per-answer coaching, model
answers and competency coverage.
The rest of the slides are how that works underneath.
FILL IN before presenting: your supervisor's name and the date.
SHORT VERSION: "Question banks don't adapt, humans don't scale, chatbots don't score. ConvoTrainer scores every answer and uses that score to pick the next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[1:11]  ~196 words  ★
This is the centre of the project — one turn, left to right.
Your answer arrives at the chat endpoint. Before anything is generated, a
second model call scores it against the rubric for that round type, at low
temperature, returning JSON.
That verdict goes into a decision engine — ordinary deterministic code, no
model involved. It picks one of seven questioning strategies: probe the
action, challenge ownership, drill for specificity. It also computes a
difficulty target. Those become a private steering block inside the
interviewer's prompt, which the candidate never sees. Then the next question
streams back.
Three engineering points. Scoring is bounded at four seconds — I measured the
turn before changing it, rather than guessing. Past that deadline the question
starts unsteered, but the verdict is still collected and stored, so the
transcript and the report are unaffected.
Both messages and the analysis commit in one Postgres transaction, so a turn
can't half-exist.
And every interviewer turn runs on the same model. The opening turn used to
use a stronger one — but a different model is a different prompt cache, so the
session paid full price twice and hit cache neither time.
KEY SLIDE — this is the architecture. Do not rush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[2:29]  ~205 words  ★
This is the claim I can prove, and the one I'd most like you to look at.
The persona reaches the model down two paths. Textually, each dial becomes a
sentence in the system prompt — and prompt text has no effect you can compute,
so you have to measure what comes back.
The numeric path is arithmetic: strictness minus warmth, over four, plus a
repetition boost, clamped one to ten. That number is injected as an explicit
instruction — aim for difficulty seven out of ten.
On the right is real output. Identical question, identical answer, identical
round type. The only variable is who's asking. Yuki, at strictness nine and
warmth four, targets seven. Isabella, at warmth nine and pushback four,
targets five.
That isn't a sample from a stochastic model, it's a computation — you can do
the arithmetic by hand and get the same two numbers, every run, offline. And a
test fails if a future edit brings those two personas' dials together, so the
comparison can't quietly stop demonstrating anything.
Two limits, before you ask. The dials are coarse: strictness one to ten moves
difficulty only five to seven. And scoring deliberately ignores persona —
grading shouldn't depend on who asked.
KEY SLIDE — your strongest evidence. Slow down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[3:51]  ~215 words  ★
Second — I don't estimate what this costs. I measure it.
Every OpenAI call records its token usage, including how much was served from
cache, into a Postgres table as the call happens. A command-line tool reads
that table and prices it, reporting tokens per call site, cache hit rate, and
cost per turn. So any cost figure I give you is a query you can re-run.
The most useful result was a negative one. OpenAI only caches a prompt prefix
once it reaches 1,024 tokens. I'd deliberately structured the prompt in two
layers — stable part first, volatile part last — specifically so caching could
engage. Then I measured it: on a bare session the stable prefix is about 590
tokens. Under the floor. It never fires.
I kept the structure, because it costs nothing and it's what makes caching
possible once a job description is attached — which is when the prompt is big
enough to matter. But the tool reports that it didn't fire, in words, rather
than printing a zero I could quietly reinterpret.
That's the claim I want to make. Not that this is cheap — a ten-question round
is roughly a cent. It's that every model call is instrumented, priced and
checkable, including the optimisation that provably doesn't work.
KEY SLIDE — the negative result is the point, not a caveat.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[5:17]  ~166 words
Finally, where it honestly stands.
Built and verified: 299 unit tests across 31 files, all passing in CI on every
push alongside typecheck and lint. Ten migrations with row-level security on
every table — and retrieval runs through pgvector inside Postgres, so it
inherits the same access rules as everything else.
Built but not yet measured, and I'll be direct. I wrote an evaluation harness
for scoring accuracy, with eighteen hand-authored fixtures and defined
metrics. The results aren't collected yet. Same for user acceptance testing:
the plan, the handout and the exit criteria are written; no participants have
been through it.
Some things are deliberately out of scope — submitted code is reviewed, never
executed, and it's English only.
The rule I held to throughout: never claim a number I haven't run. That's why
the middle column is on this slide rather than left off it.
So, three things to show you, ordered by how much can go wrong. Starting with
the one that can't fail.
Stop talking. Start demoing.
SHORT VERSION: "299 tests passing in CI, RLS everywhere, voice and text working. The eval harness and the UAT plan are written but not yet run — I'm not going to show you results I don't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if asked to expand on slide 4. The point to land: domain logic is pure and therefore testable, and retrieval was kept in Postgres so it inherits RLS.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questions about the database, security, or RAG. Strongest line: retrieval is filtered by auth.uid() inside Postgres, so it is covered by the same rule as every other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 this question. It is a design decision, not an omission.
If asked what you would do instead: interview CONVENTIONS by market — competency frameworks, self-introduction openers, whether case rounds are used — keyed off the job description and cited to hiring guides. About process, not people. Defensible and sourceable. Scoped out deliberately, not overlooked.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questions most likely to come back after slide 5 and slide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answer to 'how do you know it works?' and to any question about developer tooling being reachable by end users.
The honest exception: a logged-in user can read their OWN token-usage rows over the API, because usage is written using their own session. They cannot read anyone else's, cannot modify any, and cannot derive cost — the price table is not in the browser. Documented as a trade-off, with the proper fix being a service-role write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this ready for 'what's left?' — answering with a prioritised list, where the top item is 'run the measurement I already built', is much stronger than a feature wishlist.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01168" cy="6858000"/>
          </a:xfrm>
          <a:prstGeom prst="rect">
            <a:avLst/>
          </a:prstGeom>
          <a:solidFill>
            <a:srgbClr val="1D4ED8"/>
          </a:solidFill>
          <a:ln/>
        </p:spPr>
      </p:sp>
      <p:sp>
        <p:nvSpPr>
          <p:cNvPr id="3" name="Text 1"/>
          <p:cNvSpPr/>
          <p:nvPr/>
        </p:nvSpPr>
        <p:spPr>
          <a:xfrm>
            <a:off x="786384" y="347472"/>
            <a:ext cx="11057839" cy="256032"/>
          </a:xfrm>
          <a:prstGeom prst="rect">
            <a:avLst/>
          </a:prstGeom>
          <a:noFill/>
          <a:ln/>
        </p:spPr>
        <p:txBody>
          <a:bodyPr wrap="square" rtlCol="0" anchor="ctr"/>
          <a:lstStyle/>
          <a:p>
            <a:pPr indent="0" marL="0">
              <a:buNone/>
            </a:pPr>
            <a:r>
              <a:rPr lang="en-US" sz="1100" b="1" spc="200" kern="0" dirty="0">
                <a:solidFill>
                  <a:srgbClr val="1D4ED8"/>
                </a:solidFill>
                <a:latin typeface="Arial" pitchFamily="34" charset="0"/>
                <a:ea typeface="Arial" pitchFamily="34" charset="-122"/>
                <a:cs typeface="Arial" pitchFamily="34" charset="-120"/>
              </a:rPr>
              <a:t>FINAL YEAR PROJECT  ·  DEMONSTRATION</a:t>
            </a:r>
            <a:endParaRPr lang="en-US" sz="1100" dirty="0"/>
          </a:p>
        </p:txBody>
      </p:sp>
      <p:sp>
        <p:nvSpPr>
          <p:cNvPr id="4" name="Text 2"/>
          <p:cNvSpPr/>
          <p:nvPr/>
        </p:nvSpPr>
        <p:spPr>
          <a:xfrm>
            <a:off x="749808" y="658368"/>
            <a:ext cx="11057839" cy="530352"/>
          </a:xfrm>
          <a:prstGeom prst="rect">
            <a:avLst/>
          </a:prstGeom>
          <a:noFill/>
          <a:ln/>
        </p:spPr>
        <p:txBody>
          <a:bodyPr wrap="square" rtlCol="0" anchor="ctr"/>
          <a:lstStyle/>
          <a:p>
            <a:pPr indent="0" marL="0">
              <a:buNone/>
            </a:pPr>
            <a:r>
              <a:rPr lang="en-US" sz="3800" b="1" dirty="0">
                <a:solidFill>
                  <a:srgbClr val="14161A"/>
                </a:solidFill>
                <a:latin typeface="Arial" pitchFamily="34" charset="0"/>
                <a:ea typeface="Arial" pitchFamily="34" charset="-122"/>
                <a:cs typeface="Arial" pitchFamily="34" charset="-120"/>
              </a:rPr>
              <a:t>ConvoTrainer</a:t>
            </a:r>
            <a:endParaRPr lang="en-US" sz="3800" dirty="0"/>
          </a:p>
        </p:txBody>
      </p:sp>
      <p:sp>
        <p:nvSpPr>
          <p:cNvPr id="5" name="Text 3"/>
          <p:cNvSpPr/>
          <p:nvPr/>
        </p:nvSpPr>
        <p:spPr>
          <a:xfrm>
            <a:off x="786384" y="1225296"/>
            <a:ext cx="10600639" cy="329184"/>
          </a:xfrm>
          <a:prstGeom prst="rect">
            <a:avLst/>
          </a:prstGeom>
          <a:noFill/>
          <a:ln/>
        </p:spPr>
        <p:txBody>
          <a:bodyPr wrap="square" rtlCol="0" anchor="ctr"/>
          <a:lstStyle/>
          <a:p>
            <a:pPr indent="0" marL="0">
              <a:buNone/>
            </a:pPr>
            <a:r>
              <a:rPr lang="en-US" sz="1600" dirty="0">
                <a:solidFill>
                  <a:srgbClr val="3F4750"/>
                </a:solidFill>
                <a:latin typeface="Arial" pitchFamily="34" charset="0"/>
                <a:ea typeface="Arial" pitchFamily="34" charset="-122"/>
                <a:cs typeface="Arial" pitchFamily="34" charset="-120"/>
              </a:rPr>
              <a:t>An AI interview partner that scores every answer — and lets that score steer the next question.</a:t>
            </a:r>
            <a:endParaRPr lang="en-US" sz="1600" dirty="0"/>
          </a:p>
        </p:txBody>
      </p:sp>
      <p:sp>
        <p:nvSpPr>
          <p:cNvPr id="6" name="Text 4"/>
          <p:cNvSpPr/>
          <p:nvPr/>
        </p:nvSpPr>
        <p:spPr>
          <a:xfrm>
            <a:off x="786384" y="1572768"/>
            <a:ext cx="10600639" cy="237744"/>
          </a:xfrm>
          <a:prstGeom prst="rect">
            <a:avLst/>
          </a:prstGeom>
          <a:noFill/>
          <a:ln/>
        </p:spPr>
        <p:txBody>
          <a:bodyPr wrap="square" rtlCol="0" anchor="ctr"/>
          <a:lstStyle/>
          <a:p>
            <a:pPr indent="0" marL="0">
              <a:buNone/>
            </a:pPr>
            <a:r>
              <a:rPr lang="en-US" sz="1200" b="1" dirty="0">
                <a:solidFill>
                  <a:srgbClr val="14161A"/>
                </a:solidFill>
                <a:latin typeface="Arial" pitchFamily="34" charset="0"/>
                <a:ea typeface="Arial" pitchFamily="34" charset="-122"/>
                <a:cs typeface="Arial" pitchFamily="34" charset="-120"/>
              </a:rPr>
              <a:t>Dylan Tan</a:t>
            </a:r>
            <a:pPr indent="0" marL="0">
              <a:buNone/>
            </a:pPr>
            <a:r>
              <a:rPr lang="en-US" sz="1200" dirty="0">
                <a:solidFill>
                  <a:srgbClr val="7A8593"/>
                </a:solidFill>
                <a:latin typeface="Arial" pitchFamily="34" charset="0"/>
                <a:ea typeface="Arial" pitchFamily="34" charset="-122"/>
                <a:cs typeface="Arial" pitchFamily="34" charset="-120"/>
              </a:rPr>
              <a:t>   ·   Supervisor: «name»   ·   «date»</a:t>
            </a:r>
            <a:endParaRPr lang="en-US" sz="1200" dirty="0"/>
          </a:p>
        </p:txBody>
      </p:sp>
      <p:sp>
        <p:nvSpPr>
          <p:cNvPr id="7" name="Shape 5"/>
          <p:cNvSpPr/>
          <p:nvPr/>
        </p:nvSpPr>
        <p:spPr>
          <a:xfrm>
            <a:off x="566928" y="2011680"/>
            <a:ext cx="11057839" cy="676656"/>
          </a:xfrm>
          <a:prstGeom prst="rect">
            <a:avLst/>
          </a:prstGeom>
          <a:solidFill>
            <a:srgbClr val="EAF0FE"/>
          </a:solidFill>
          <a:ln w="12700">
            <a:solidFill>
              <a:srgbClr val="EAF0FE"/>
            </a:solidFill>
            <a:prstDash val="solid"/>
          </a:ln>
        </p:spPr>
      </p:sp>
      <p:sp>
        <p:nvSpPr>
          <p:cNvPr id="8" name="Shape 6"/>
          <p:cNvSpPr/>
          <p:nvPr/>
        </p:nvSpPr>
        <p:spPr>
          <a:xfrm>
            <a:off x="566928" y="2011680"/>
            <a:ext cx="50292" cy="676656"/>
          </a:xfrm>
          <a:prstGeom prst="rect">
            <a:avLst/>
          </a:prstGeom>
          <a:solidFill>
            <a:srgbClr val="1D4ED8"/>
          </a:solidFill>
          <a:ln w="12700">
            <a:solidFill>
              <a:srgbClr val="333333"/>
            </a:solidFill>
            <a:prstDash val="solid"/>
          </a:ln>
        </p:spPr>
      </p:sp>
      <p:sp>
        <p:nvSpPr>
          <p:cNvPr id="9" name="Text 7"/>
          <p:cNvSpPr/>
          <p:nvPr/>
        </p:nvSpPr>
        <p:spPr>
          <a:xfrm>
            <a:off x="877824" y="2011680"/>
            <a:ext cx="10509199" cy="676656"/>
          </a:xfrm>
          <a:prstGeom prst="rect">
            <a:avLst/>
          </a:prstGeom>
          <a:noFill/>
          <a:ln/>
        </p:spPr>
        <p:txBody>
          <a:bodyPr wrap="square" rtlCol="0" anchor="ctr"/>
          <a:lstStyle/>
          <a:p>
            <a:pPr indent="0" marL="0">
              <a:lnSpc>
                <a:spcPts val="1900"/>
              </a:lnSpc>
              <a:buNone/>
            </a:pPr>
            <a:r>
              <a:rPr lang="en-US" sz="1350" dirty="0">
                <a:solidFill>
                  <a:srgbClr val="3F4750"/>
                </a:solidFill>
                <a:latin typeface="Arial" pitchFamily="34" charset="0"/>
                <a:ea typeface="Arial" pitchFamily="34" charset="-122"/>
                <a:cs typeface="Arial" pitchFamily="34" charset="-120"/>
              </a:rPr>
              <a:t>Question banks don't adapt. Humans don't scale. Chatbots don't score.   </a:t>
            </a:r>
            <a:pPr indent="0" marL="0">
              <a:lnSpc>
                <a:spcPts val="1900"/>
              </a:lnSpc>
              <a:buNone/>
            </a:pPr>
            <a:r>
              <a:rPr lang="en-US" sz="1350" b="1" dirty="0">
                <a:solidFill>
                  <a:srgbClr val="14161A"/>
                </a:solidFill>
                <a:latin typeface="Arial" pitchFamily="34" charset="0"/>
                <a:ea typeface="Arial" pitchFamily="34" charset="-122"/>
                <a:cs typeface="Arial" pitchFamily="34" charset="-120"/>
              </a:rPr>
              <a:t>Nothing closes the loop between how you answered and what you get asked next.</a:t>
            </a:r>
            <a:endParaRPr lang="en-US" sz="1350" dirty="0"/>
          </a:p>
        </p:txBody>
      </p:sp>
      <p:sp>
        <p:nvSpPr>
          <p:cNvPr id="10" name="Shape 8"/>
          <p:cNvSpPr/>
          <p:nvPr/>
        </p:nvSpPr>
        <p:spPr>
          <a:xfrm>
            <a:off x="566928" y="2834640"/>
            <a:ext cx="2558720" cy="932688"/>
          </a:xfrm>
          <a:prstGeom prst="rect">
            <a:avLst/>
          </a:prstGeom>
          <a:solidFill>
            <a:srgbClr val="FFFFFF"/>
          </a:solidFill>
          <a:ln w="12700">
            <a:solidFill>
              <a:srgbClr val="DFE4EA"/>
            </a:solidFill>
            <a:prstDash val="solid"/>
          </a:ln>
        </p:spPr>
      </p:sp>
      <p:sp>
        <p:nvSpPr>
          <p:cNvPr id="11" name="Text 9"/>
          <p:cNvSpPr/>
          <p:nvPr/>
        </p:nvSpPr>
        <p:spPr>
          <a:xfrm>
            <a:off x="713232" y="2953512"/>
            <a:ext cx="2266112" cy="219456"/>
          </a:xfrm>
          <a:prstGeom prst="rect">
            <a:avLst/>
          </a:prstGeom>
          <a:noFill/>
          <a:ln/>
        </p:spPr>
        <p:txBody>
          <a:bodyPr wrap="square" rtlCol="0" anchor="ctr"/>
          <a:lstStyle/>
          <a:p>
            <a:pPr indent="0" marL="0">
              <a:buNone/>
            </a:pPr>
            <a:r>
              <a:rPr lang="en-US" sz="950" b="1" spc="120" kern="0" dirty="0">
                <a:solidFill>
                  <a:srgbClr val="1D4ED8"/>
                </a:solidFill>
                <a:latin typeface="Arial" pitchFamily="34" charset="0"/>
                <a:ea typeface="Arial" pitchFamily="34" charset="-122"/>
                <a:cs typeface="Arial" pitchFamily="34" charset="-120"/>
              </a:rPr>
              <a:t>STEP 1</a:t>
            </a:r>
            <a:endParaRPr lang="en-US" sz="950" dirty="0"/>
          </a:p>
        </p:txBody>
      </p:sp>
      <p:sp>
        <p:nvSpPr>
          <p:cNvPr id="12" name="Text 10"/>
          <p:cNvSpPr/>
          <p:nvPr/>
        </p:nvSpPr>
        <p:spPr>
          <a:xfrm>
            <a:off x="713232" y="3182112"/>
            <a:ext cx="2266112" cy="310896"/>
          </a:xfrm>
          <a:prstGeom prst="rect">
            <a:avLst/>
          </a:prstGeom>
          <a:noFill/>
          <a:ln/>
        </p:spPr>
        <p:txBody>
          <a:bodyPr wrap="square" rtlCol="0" anchor="ctr"/>
          <a:lstStyle/>
          <a:p>
            <a:pPr indent="0" marL="0">
              <a:buNone/>
            </a:pPr>
            <a:r>
              <a:rPr lang="en-US" sz="1400" b="1" dirty="0">
                <a:solidFill>
                  <a:srgbClr val="14161A"/>
                </a:solidFill>
                <a:latin typeface="Arial" pitchFamily="34" charset="0"/>
                <a:ea typeface="Arial" pitchFamily="34" charset="-122"/>
                <a:cs typeface="Arial" pitchFamily="34" charset="-120"/>
              </a:rPr>
              <a:t>Context</a:t>
            </a:r>
            <a:endParaRPr lang="en-US" sz="1400" dirty="0"/>
          </a:p>
        </p:txBody>
      </p:sp>
      <p:sp>
        <p:nvSpPr>
          <p:cNvPr id="13" name="Text 11"/>
          <p:cNvSpPr/>
          <p:nvPr/>
        </p:nvSpPr>
        <p:spPr>
          <a:xfrm>
            <a:off x="713232" y="3511296"/>
            <a:ext cx="2266112" cy="109728"/>
          </a:xfrm>
          <a:prstGeom prst="rect">
            <a:avLst/>
          </a:prstGeom>
          <a:noFill/>
          <a:ln/>
        </p:spPr>
        <p:txBody>
          <a:bodyPr wrap="square" rtlCol="0" anchor="t"/>
          <a:lstStyle/>
          <a:p>
            <a:pPr indent="0" marL="0">
              <a:lnSpc>
                <a:spcPts val="1500"/>
              </a:lnSpc>
              <a:buNone/>
            </a:pPr>
            <a:r>
              <a:rPr lang="en-US" sz="1100" dirty="0">
                <a:solidFill>
                  <a:srgbClr val="3F4750"/>
                </a:solidFill>
                <a:latin typeface="Arial" pitchFamily="34" charset="0"/>
                <a:ea typeface="Arial" pitchFamily="34" charset="-122"/>
                <a:cs typeface="Arial" pitchFamily="34" charset="-120"/>
              </a:rPr>
              <a:t>Role, job description, CV</a:t>
            </a:r>
            <a:endParaRPr lang="en-US" sz="1100" dirty="0"/>
          </a:p>
        </p:txBody>
      </p:sp>
      <p:sp>
        <p:nvSpPr>
          <p:cNvPr id="14" name="Text 12"/>
          <p:cNvSpPr/>
          <p:nvPr/>
        </p:nvSpPr>
        <p:spPr>
          <a:xfrm>
            <a:off x="3125648" y="3154680"/>
            <a:ext cx="274320" cy="292608"/>
          </a:xfrm>
          <a:prstGeom prst="rect">
            <a:avLst/>
          </a:prstGeom>
          <a:noFill/>
          <a:ln/>
        </p:spPr>
        <p:txBody>
          <a:bodyPr wrap="square" rtlCol="0" anchor="ctr"/>
          <a:lstStyle/>
          <a:p>
            <a:pPr algn="ctr" indent="0" marL="0">
              <a:buNone/>
            </a:pPr>
            <a:r>
              <a:rPr lang="en-US" sz="1500" dirty="0">
                <a:solidFill>
                  <a:srgbClr val="7A8593"/>
                </a:solidFill>
                <a:latin typeface="Arial" pitchFamily="34" charset="0"/>
                <a:ea typeface="Arial" pitchFamily="34" charset="-122"/>
                <a:cs typeface="Arial" pitchFamily="34" charset="-120"/>
              </a:rPr>
              <a:t>▸</a:t>
            </a:r>
            <a:endParaRPr lang="en-US" sz="1500" dirty="0"/>
          </a:p>
        </p:txBody>
      </p:sp>
      <p:sp>
        <p:nvSpPr>
          <p:cNvPr id="15" name="Shape 13"/>
          <p:cNvSpPr/>
          <p:nvPr/>
        </p:nvSpPr>
        <p:spPr>
          <a:xfrm>
            <a:off x="3399968" y="2834640"/>
            <a:ext cx="2558720" cy="932688"/>
          </a:xfrm>
          <a:prstGeom prst="rect">
            <a:avLst/>
          </a:prstGeom>
          <a:solidFill>
            <a:srgbClr val="FFFFFF"/>
          </a:solidFill>
          <a:ln w="12700">
            <a:solidFill>
              <a:srgbClr val="DFE4EA"/>
            </a:solidFill>
            <a:prstDash val="solid"/>
          </a:ln>
        </p:spPr>
      </p:sp>
      <p:sp>
        <p:nvSpPr>
          <p:cNvPr id="16" name="Text 14"/>
          <p:cNvSpPr/>
          <p:nvPr/>
        </p:nvSpPr>
        <p:spPr>
          <a:xfrm>
            <a:off x="3546272" y="2953512"/>
            <a:ext cx="2266112" cy="219456"/>
          </a:xfrm>
          <a:prstGeom prst="rect">
            <a:avLst/>
          </a:prstGeom>
          <a:noFill/>
          <a:ln/>
        </p:spPr>
        <p:txBody>
          <a:bodyPr wrap="square" rtlCol="0" anchor="ctr"/>
          <a:lstStyle/>
          <a:p>
            <a:pPr indent="0" marL="0">
              <a:buNone/>
            </a:pPr>
            <a:r>
              <a:rPr lang="en-US" sz="950" b="1" spc="120" kern="0" dirty="0">
                <a:solidFill>
                  <a:srgbClr val="1D4ED8"/>
                </a:solidFill>
                <a:latin typeface="Arial" pitchFamily="34" charset="0"/>
                <a:ea typeface="Arial" pitchFamily="34" charset="-122"/>
                <a:cs typeface="Arial" pitchFamily="34" charset="-120"/>
              </a:rPr>
              <a:t>STEP 2</a:t>
            </a:r>
            <a:endParaRPr lang="en-US" sz="950" dirty="0"/>
          </a:p>
        </p:txBody>
      </p:sp>
      <p:sp>
        <p:nvSpPr>
          <p:cNvPr id="17" name="Text 15"/>
          <p:cNvSpPr/>
          <p:nvPr/>
        </p:nvSpPr>
        <p:spPr>
          <a:xfrm>
            <a:off x="3546272" y="3182112"/>
            <a:ext cx="2266112" cy="310896"/>
          </a:xfrm>
          <a:prstGeom prst="rect">
            <a:avLst/>
          </a:prstGeom>
          <a:noFill/>
          <a:ln/>
        </p:spPr>
        <p:txBody>
          <a:bodyPr wrap="square" rtlCol="0" anchor="ctr"/>
          <a:lstStyle/>
          <a:p>
            <a:pPr indent="0" marL="0">
              <a:buNone/>
            </a:pPr>
            <a:r>
              <a:rPr lang="en-US" sz="1400" b="1" dirty="0">
                <a:solidFill>
                  <a:srgbClr val="14161A"/>
                </a:solidFill>
                <a:latin typeface="Arial" pitchFamily="34" charset="0"/>
                <a:ea typeface="Arial" pitchFamily="34" charset="-122"/>
                <a:cs typeface="Arial" pitchFamily="34" charset="-120"/>
              </a:rPr>
              <a:t>Rounds</a:t>
            </a:r>
            <a:endParaRPr lang="en-US" sz="1400" dirty="0"/>
          </a:p>
        </p:txBody>
      </p:sp>
      <p:sp>
        <p:nvSpPr>
          <p:cNvPr id="18" name="Text 16"/>
          <p:cNvSpPr/>
          <p:nvPr/>
        </p:nvSpPr>
        <p:spPr>
          <a:xfrm>
            <a:off x="3546272" y="3511296"/>
            <a:ext cx="2266112" cy="109728"/>
          </a:xfrm>
          <a:prstGeom prst="rect">
            <a:avLst/>
          </a:prstGeom>
          <a:noFill/>
          <a:ln/>
        </p:spPr>
        <p:txBody>
          <a:bodyPr wrap="square" rtlCol="0" anchor="t"/>
          <a:lstStyle/>
          <a:p>
            <a:pPr indent="0" marL="0">
              <a:lnSpc>
                <a:spcPts val="1500"/>
              </a:lnSpc>
              <a:buNone/>
            </a:pPr>
            <a:r>
              <a:rPr lang="en-US" sz="1100" dirty="0">
                <a:solidFill>
                  <a:srgbClr val="3F4750"/>
                </a:solidFill>
                <a:latin typeface="Arial" pitchFamily="34" charset="0"/>
                <a:ea typeface="Arial" pitchFamily="34" charset="-122"/>
                <a:cs typeface="Arial" pitchFamily="34" charset="-120"/>
              </a:rPr>
              <a:t>One round, or a full loop</a:t>
            </a:r>
            <a:endParaRPr lang="en-US" sz="1100" dirty="0"/>
          </a:p>
        </p:txBody>
      </p:sp>
      <p:sp>
        <p:nvSpPr>
          <p:cNvPr id="19" name="Text 17"/>
          <p:cNvSpPr/>
          <p:nvPr/>
        </p:nvSpPr>
        <p:spPr>
          <a:xfrm>
            <a:off x="5958688" y="3154680"/>
            <a:ext cx="274320" cy="292608"/>
          </a:xfrm>
          <a:prstGeom prst="rect">
            <a:avLst/>
          </a:prstGeom>
          <a:noFill/>
          <a:ln/>
        </p:spPr>
        <p:txBody>
          <a:bodyPr wrap="square" rtlCol="0" anchor="ctr"/>
          <a:lstStyle/>
          <a:p>
            <a:pPr algn="ctr" indent="0" marL="0">
              <a:buNone/>
            </a:pPr>
            <a:r>
              <a:rPr lang="en-US" sz="1500" dirty="0">
                <a:solidFill>
                  <a:srgbClr val="7A8593"/>
                </a:solidFill>
                <a:latin typeface="Arial" pitchFamily="34" charset="0"/>
                <a:ea typeface="Arial" pitchFamily="34" charset="-122"/>
                <a:cs typeface="Arial" pitchFamily="34" charset="-120"/>
              </a:rPr>
              <a:t>▸</a:t>
            </a:r>
            <a:endParaRPr lang="en-US" sz="1500" dirty="0"/>
          </a:p>
        </p:txBody>
      </p:sp>
      <p:sp>
        <p:nvSpPr>
          <p:cNvPr id="20" name="Shape 18"/>
          <p:cNvSpPr/>
          <p:nvPr/>
        </p:nvSpPr>
        <p:spPr>
          <a:xfrm>
            <a:off x="6233008" y="2834640"/>
            <a:ext cx="2558720" cy="932688"/>
          </a:xfrm>
          <a:prstGeom prst="rect">
            <a:avLst/>
          </a:prstGeom>
          <a:solidFill>
            <a:srgbClr val="FFFFFF"/>
          </a:solidFill>
          <a:ln w="12700">
            <a:solidFill>
              <a:srgbClr val="DFE4EA"/>
            </a:solidFill>
            <a:prstDash val="solid"/>
          </a:ln>
        </p:spPr>
      </p:sp>
      <p:sp>
        <p:nvSpPr>
          <p:cNvPr id="21" name="Text 19"/>
          <p:cNvSpPr/>
          <p:nvPr/>
        </p:nvSpPr>
        <p:spPr>
          <a:xfrm>
            <a:off x="6379312" y="2953512"/>
            <a:ext cx="2266112" cy="219456"/>
          </a:xfrm>
          <a:prstGeom prst="rect">
            <a:avLst/>
          </a:prstGeom>
          <a:noFill/>
          <a:ln/>
        </p:spPr>
        <p:txBody>
          <a:bodyPr wrap="square" rtlCol="0" anchor="ctr"/>
          <a:lstStyle/>
          <a:p>
            <a:pPr indent="0" marL="0">
              <a:buNone/>
            </a:pPr>
            <a:r>
              <a:rPr lang="en-US" sz="950" b="1" spc="120" kern="0" dirty="0">
                <a:solidFill>
                  <a:srgbClr val="1D4ED8"/>
                </a:solidFill>
                <a:latin typeface="Arial" pitchFamily="34" charset="0"/>
                <a:ea typeface="Arial" pitchFamily="34" charset="-122"/>
                <a:cs typeface="Arial" pitchFamily="34" charset="-120"/>
              </a:rPr>
              <a:t>STEP 3</a:t>
            </a:r>
            <a:endParaRPr lang="en-US" sz="950" dirty="0"/>
          </a:p>
        </p:txBody>
      </p:sp>
      <p:sp>
        <p:nvSpPr>
          <p:cNvPr id="22" name="Text 20"/>
          <p:cNvSpPr/>
          <p:nvPr/>
        </p:nvSpPr>
        <p:spPr>
          <a:xfrm>
            <a:off x="6379312" y="3182112"/>
            <a:ext cx="2266112" cy="310896"/>
          </a:xfrm>
          <a:prstGeom prst="rect">
            <a:avLst/>
          </a:prstGeom>
          <a:noFill/>
          <a:ln/>
        </p:spPr>
        <p:txBody>
          <a:bodyPr wrap="square" rtlCol="0" anchor="ctr"/>
          <a:lstStyle/>
          <a:p>
            <a:pPr indent="0" marL="0">
              <a:buNone/>
            </a:pPr>
            <a:r>
              <a:rPr lang="en-US" sz="1400" b="1" dirty="0">
                <a:solidFill>
                  <a:srgbClr val="14161A"/>
                </a:solidFill>
                <a:latin typeface="Arial" pitchFamily="34" charset="0"/>
                <a:ea typeface="Arial" pitchFamily="34" charset="-122"/>
                <a:cs typeface="Arial" pitchFamily="34" charset="-120"/>
              </a:rPr>
              <a:t>Interviewer</a:t>
            </a:r>
            <a:endParaRPr lang="en-US" sz="1400" dirty="0"/>
          </a:p>
        </p:txBody>
      </p:sp>
      <p:sp>
        <p:nvSpPr>
          <p:cNvPr id="23" name="Text 21"/>
          <p:cNvSpPr/>
          <p:nvPr/>
        </p:nvSpPr>
        <p:spPr>
          <a:xfrm>
            <a:off x="6379312" y="3511296"/>
            <a:ext cx="2266112" cy="109728"/>
          </a:xfrm>
          <a:prstGeom prst="rect">
            <a:avLst/>
          </a:prstGeom>
          <a:noFill/>
          <a:ln/>
        </p:spPr>
        <p:txBody>
          <a:bodyPr wrap="square" rtlCol="0" anchor="t"/>
          <a:lstStyle/>
          <a:p>
            <a:pPr indent="0" marL="0">
              <a:lnSpc>
                <a:spcPts val="1500"/>
              </a:lnSpc>
              <a:buNone/>
            </a:pPr>
            <a:r>
              <a:rPr lang="en-US" sz="1100" dirty="0">
                <a:solidFill>
                  <a:srgbClr val="3F4750"/>
                </a:solidFill>
                <a:latin typeface="Arial" pitchFamily="34" charset="0"/>
                <a:ea typeface="Arial" pitchFamily="34" charset="-122"/>
                <a:cs typeface="Arial" pitchFamily="34" charset="-120"/>
              </a:rPr>
              <a:t>Persona + four dials</a:t>
            </a:r>
            <a:endParaRPr lang="en-US" sz="1100" dirty="0"/>
          </a:p>
        </p:txBody>
      </p:sp>
      <p:sp>
        <p:nvSpPr>
          <p:cNvPr id="24" name="Text 22"/>
          <p:cNvSpPr/>
          <p:nvPr/>
        </p:nvSpPr>
        <p:spPr>
          <a:xfrm>
            <a:off x="8791727" y="3154680"/>
            <a:ext cx="274320" cy="292608"/>
          </a:xfrm>
          <a:prstGeom prst="rect">
            <a:avLst/>
          </a:prstGeom>
          <a:noFill/>
          <a:ln/>
        </p:spPr>
        <p:txBody>
          <a:bodyPr wrap="square" rtlCol="0" anchor="ctr"/>
          <a:lstStyle/>
          <a:p>
            <a:pPr algn="ctr" indent="0" marL="0">
              <a:buNone/>
            </a:pPr>
            <a:r>
              <a:rPr lang="en-US" sz="1500" dirty="0">
                <a:solidFill>
                  <a:srgbClr val="7A8593"/>
                </a:solidFill>
                <a:latin typeface="Arial" pitchFamily="34" charset="0"/>
                <a:ea typeface="Arial" pitchFamily="34" charset="-122"/>
                <a:cs typeface="Arial" pitchFamily="34" charset="-120"/>
              </a:rPr>
              <a:t>▸</a:t>
            </a:r>
            <a:endParaRPr lang="en-US" sz="1500" dirty="0"/>
          </a:p>
        </p:txBody>
      </p:sp>
      <p:sp>
        <p:nvSpPr>
          <p:cNvPr id="25" name="Shape 23"/>
          <p:cNvSpPr/>
          <p:nvPr/>
        </p:nvSpPr>
        <p:spPr>
          <a:xfrm>
            <a:off x="9066047" y="2834640"/>
            <a:ext cx="2558720" cy="932688"/>
          </a:xfrm>
          <a:prstGeom prst="rect">
            <a:avLst/>
          </a:prstGeom>
          <a:solidFill>
            <a:srgbClr val="FFFFFF"/>
          </a:solidFill>
          <a:ln w="12700">
            <a:solidFill>
              <a:srgbClr val="DFE4EA"/>
            </a:solidFill>
            <a:prstDash val="solid"/>
          </a:ln>
        </p:spPr>
      </p:sp>
      <p:sp>
        <p:nvSpPr>
          <p:cNvPr id="26" name="Text 24"/>
          <p:cNvSpPr/>
          <p:nvPr/>
        </p:nvSpPr>
        <p:spPr>
          <a:xfrm>
            <a:off x="9212351" y="2953512"/>
            <a:ext cx="2266112" cy="219456"/>
          </a:xfrm>
          <a:prstGeom prst="rect">
            <a:avLst/>
          </a:prstGeom>
          <a:noFill/>
          <a:ln/>
        </p:spPr>
        <p:txBody>
          <a:bodyPr wrap="square" rtlCol="0" anchor="ctr"/>
          <a:lstStyle/>
          <a:p>
            <a:pPr indent="0" marL="0">
              <a:buNone/>
            </a:pPr>
            <a:r>
              <a:rPr lang="en-US" sz="950" b="1" spc="120" kern="0" dirty="0">
                <a:solidFill>
                  <a:srgbClr val="1D4ED8"/>
                </a:solidFill>
                <a:latin typeface="Arial" pitchFamily="34" charset="0"/>
                <a:ea typeface="Arial" pitchFamily="34" charset="-122"/>
                <a:cs typeface="Arial" pitchFamily="34" charset="-120"/>
              </a:rPr>
              <a:t>STEP 4</a:t>
            </a:r>
            <a:endParaRPr lang="en-US" sz="950" dirty="0"/>
          </a:p>
        </p:txBody>
      </p:sp>
      <p:sp>
        <p:nvSpPr>
          <p:cNvPr id="27" name="Text 25"/>
          <p:cNvSpPr/>
          <p:nvPr/>
        </p:nvSpPr>
        <p:spPr>
          <a:xfrm>
            <a:off x="9212351" y="3182112"/>
            <a:ext cx="2266112" cy="310896"/>
          </a:xfrm>
          <a:prstGeom prst="rect">
            <a:avLst/>
          </a:prstGeom>
          <a:noFill/>
          <a:ln/>
        </p:spPr>
        <p:txBody>
          <a:bodyPr wrap="square" rtlCol="0" anchor="ctr"/>
          <a:lstStyle/>
          <a:p>
            <a:pPr indent="0" marL="0">
              <a:buNone/>
            </a:pPr>
            <a:r>
              <a:rPr lang="en-US" sz="1400" b="1" dirty="0">
                <a:solidFill>
                  <a:srgbClr val="14161A"/>
                </a:solidFill>
                <a:latin typeface="Arial" pitchFamily="34" charset="0"/>
                <a:ea typeface="Arial" pitchFamily="34" charset="-122"/>
                <a:cs typeface="Arial" pitchFamily="34" charset="-120"/>
              </a:rPr>
              <a:t>Review</a:t>
            </a:r>
            <a:endParaRPr lang="en-US" sz="1400" dirty="0"/>
          </a:p>
        </p:txBody>
      </p:sp>
      <p:sp>
        <p:nvSpPr>
          <p:cNvPr id="28" name="Text 26"/>
          <p:cNvSpPr/>
          <p:nvPr/>
        </p:nvSpPr>
        <p:spPr>
          <a:xfrm>
            <a:off x="9212351" y="3511296"/>
            <a:ext cx="2266112" cy="109728"/>
          </a:xfrm>
          <a:prstGeom prst="rect">
            <a:avLst/>
          </a:prstGeom>
          <a:noFill/>
          <a:ln/>
        </p:spPr>
        <p:txBody>
          <a:bodyPr wrap="square" rtlCol="0" anchor="t"/>
          <a:lstStyle/>
          <a:p>
            <a:pPr indent="0" marL="0">
              <a:lnSpc>
                <a:spcPts val="1500"/>
              </a:lnSpc>
              <a:buNone/>
            </a:pPr>
            <a:r>
              <a:rPr lang="en-US" sz="1100" dirty="0">
                <a:solidFill>
                  <a:srgbClr val="3F4750"/>
                </a:solidFill>
                <a:latin typeface="Arial" pitchFamily="34" charset="0"/>
                <a:ea typeface="Arial" pitchFamily="34" charset="-122"/>
                <a:cs typeface="Arial" pitchFamily="34" charset="-120"/>
              </a:rPr>
              <a:t>Confirm and launch</a:t>
            </a:r>
            <a:endParaRPr lang="en-US" sz="1100" dirty="0"/>
          </a:p>
        </p:txBody>
      </p:sp>
      <p:sp>
        <p:nvSpPr>
          <p:cNvPr id="29" name="Shape 27"/>
          <p:cNvSpPr/>
          <p:nvPr/>
        </p:nvSpPr>
        <p:spPr>
          <a:xfrm>
            <a:off x="566928" y="3931920"/>
            <a:ext cx="3478682" cy="1170432"/>
          </a:xfrm>
          <a:prstGeom prst="rect">
            <a:avLst/>
          </a:prstGeom>
          <a:solidFill>
            <a:srgbClr val="F5F7FA"/>
          </a:solidFill>
          <a:ln w="12700">
            <a:solidFill>
              <a:srgbClr val="F5F7FA"/>
            </a:solidFill>
            <a:prstDash val="solid"/>
          </a:ln>
        </p:spPr>
      </p:sp>
      <p:sp>
        <p:nvSpPr>
          <p:cNvPr id="30" name="Shape 28"/>
          <p:cNvSpPr/>
          <p:nvPr/>
        </p:nvSpPr>
        <p:spPr>
          <a:xfrm>
            <a:off x="566928" y="3931920"/>
            <a:ext cx="50292" cy="1170432"/>
          </a:xfrm>
          <a:prstGeom prst="rect">
            <a:avLst/>
          </a:prstGeom>
          <a:solidFill>
            <a:srgbClr val="1D4ED8"/>
          </a:solidFill>
          <a:ln w="12700">
            <a:solidFill>
              <a:srgbClr val="333333"/>
            </a:solidFill>
            <a:prstDash val="solid"/>
          </a:ln>
        </p:spPr>
      </p:sp>
      <p:sp>
        <p:nvSpPr>
          <p:cNvPr id="31" name="Text 29"/>
          <p:cNvSpPr/>
          <p:nvPr/>
        </p:nvSpPr>
        <p:spPr>
          <a:xfrm>
            <a:off x="822960" y="4023360"/>
            <a:ext cx="3058058" cy="256032"/>
          </a:xfrm>
          <a:prstGeom prst="rect">
            <a:avLst/>
          </a:prstGeom>
          <a:noFill/>
          <a:ln/>
        </p:spPr>
        <p:txBody>
          <a:bodyPr wrap="square" rtlCol="0" anchor="ctr"/>
          <a:lstStyle/>
          <a:p>
            <a:pPr indent="0" marL="0">
              <a:buNone/>
            </a:pPr>
            <a:r>
              <a:rPr lang="en-US" sz="1300" b="1" dirty="0">
                <a:solidFill>
                  <a:srgbClr val="14161A"/>
                </a:solidFill>
                <a:latin typeface="Arial" pitchFamily="34" charset="0"/>
                <a:ea typeface="Arial" pitchFamily="34" charset="-122"/>
                <a:cs typeface="Arial" pitchFamily="34" charset="-120"/>
              </a:rPr>
              <a:t>Six round types</a:t>
            </a:r>
            <a:endParaRPr lang="en-US" sz="1300" dirty="0"/>
          </a:p>
        </p:txBody>
      </p:sp>
      <p:sp>
        <p:nvSpPr>
          <p:cNvPr id="32" name="Text 30"/>
          <p:cNvSpPr/>
          <p:nvPr/>
        </p:nvSpPr>
        <p:spPr>
          <a:xfrm>
            <a:off x="822960" y="4297680"/>
            <a:ext cx="3058058" cy="749808"/>
          </a:xfrm>
          <a:prstGeom prst="rect">
            <a:avLst/>
          </a:prstGeom>
          <a:noFill/>
          <a:ln/>
        </p:spPr>
        <p:txBody>
          <a:bodyPr wrap="square" rtlCol="0" anchor="t"/>
          <a:lstStyle/>
          <a:p>
            <a:pPr indent="0" marL="0">
              <a:lnSpc>
                <a:spcPts val="1450"/>
              </a:lnSpc>
              <a:buNone/>
            </a:pPr>
            <a:r>
              <a:rPr lang="en-US" sz="1050" dirty="0">
                <a:solidFill>
                  <a:srgbClr val="3F4750"/>
                </a:solidFill>
                <a:latin typeface="Arial" pitchFamily="34" charset="0"/>
                <a:ea typeface="Arial" pitchFamily="34" charset="-122"/>
                <a:cs typeface="Arial" pitchFamily="34" charset="-120"/>
              </a:rPr>
              <a:t>Screening · behavioural · HR</a:t>
            </a:r>
            <a:endParaRPr lang="en-US" sz="1050" dirty="0"/>
          </a:p>
          <a:p>
            <a:pPr indent="0" marL="0">
              <a:lnSpc>
                <a:spcPts val="1450"/>
              </a:lnSpc>
              <a:buNone/>
            </a:pPr>
            <a:r>
              <a:rPr lang="en-US" sz="1050" dirty="0">
                <a:solidFill>
                  <a:srgbClr val="3F4750"/>
                </a:solidFill>
                <a:latin typeface="Arial" pitchFamily="34" charset="0"/>
                <a:ea typeface="Arial" pitchFamily="34" charset="-122"/>
                <a:cs typeface="Arial" pitchFamily="34" charset="-120"/>
              </a:rPr>
              <a:t>Technical SWE · system design · case</a:t>
            </a:r>
            <a:endParaRPr lang="en-US" sz="1050" dirty="0"/>
          </a:p>
          <a:p>
            <a:pPr indent="0" marL="0">
              <a:lnSpc>
                <a:spcPts val="1450"/>
              </a:lnSpc>
              <a:buNone/>
            </a:pPr>
            <a:r>
              <a:rPr lang="en-US" sz="1050" dirty="0">
                <a:solidFill>
                  <a:srgbClr val="3F4750"/>
                </a:solidFill>
                <a:latin typeface="Arial" pitchFamily="34" charset="0"/>
                <a:ea typeface="Arial" pitchFamily="34" charset="-122"/>
                <a:cs typeface="Arial" pitchFamily="34" charset="-120"/>
              </a:rPr>
              <a:t>Each with its own rubric</a:t>
            </a:r>
            <a:endParaRPr lang="en-US" sz="1050" dirty="0"/>
          </a:p>
        </p:txBody>
      </p:sp>
      <p:sp>
        <p:nvSpPr>
          <p:cNvPr id="33" name="Shape 31"/>
          <p:cNvSpPr/>
          <p:nvPr/>
        </p:nvSpPr>
        <p:spPr>
          <a:xfrm>
            <a:off x="4356506" y="3931920"/>
            <a:ext cx="3478682" cy="1170432"/>
          </a:xfrm>
          <a:prstGeom prst="rect">
            <a:avLst/>
          </a:prstGeom>
          <a:solidFill>
            <a:srgbClr val="F5F7FA"/>
          </a:solidFill>
          <a:ln w="12700">
            <a:solidFill>
              <a:srgbClr val="F5F7FA"/>
            </a:solidFill>
            <a:prstDash val="solid"/>
          </a:ln>
        </p:spPr>
      </p:sp>
      <p:sp>
        <p:nvSpPr>
          <p:cNvPr id="34" name="Shape 32"/>
          <p:cNvSpPr/>
          <p:nvPr/>
        </p:nvSpPr>
        <p:spPr>
          <a:xfrm>
            <a:off x="4356506" y="3931920"/>
            <a:ext cx="50292" cy="1170432"/>
          </a:xfrm>
          <a:prstGeom prst="rect">
            <a:avLst/>
          </a:prstGeom>
          <a:solidFill>
            <a:srgbClr val="1D4ED8"/>
          </a:solidFill>
          <a:ln w="12700">
            <a:solidFill>
              <a:srgbClr val="333333"/>
            </a:solidFill>
            <a:prstDash val="solid"/>
          </a:ln>
        </p:spPr>
      </p:sp>
      <p:sp>
        <p:nvSpPr>
          <p:cNvPr id="35" name="Text 33"/>
          <p:cNvSpPr/>
          <p:nvPr/>
        </p:nvSpPr>
        <p:spPr>
          <a:xfrm>
            <a:off x="4612538" y="4023360"/>
            <a:ext cx="3058058" cy="256032"/>
          </a:xfrm>
          <a:prstGeom prst="rect">
            <a:avLst/>
          </a:prstGeom>
          <a:noFill/>
          <a:ln/>
        </p:spPr>
        <p:txBody>
          <a:bodyPr wrap="square" rtlCol="0" anchor="ctr"/>
          <a:lstStyle/>
          <a:p>
            <a:pPr indent="0" marL="0">
              <a:buNone/>
            </a:pPr>
            <a:r>
              <a:rPr lang="en-US" sz="1300" b="1" dirty="0">
                <a:solidFill>
                  <a:srgbClr val="14161A"/>
                </a:solidFill>
                <a:latin typeface="Arial" pitchFamily="34" charset="0"/>
                <a:ea typeface="Arial" pitchFamily="34" charset="-122"/>
                <a:cs typeface="Arial" pitchFamily="34" charset="-120"/>
              </a:rPr>
              <a:t>Text or voice</a:t>
            </a:r>
            <a:endParaRPr lang="en-US" sz="1300" dirty="0"/>
          </a:p>
        </p:txBody>
      </p:sp>
      <p:sp>
        <p:nvSpPr>
          <p:cNvPr id="36" name="Text 34"/>
          <p:cNvSpPr/>
          <p:nvPr/>
        </p:nvSpPr>
        <p:spPr>
          <a:xfrm>
            <a:off x="4612538" y="4297680"/>
            <a:ext cx="3058058" cy="749808"/>
          </a:xfrm>
          <a:prstGeom prst="rect">
            <a:avLst/>
          </a:prstGeom>
          <a:noFill/>
          <a:ln/>
        </p:spPr>
        <p:txBody>
          <a:bodyPr wrap="square" rtlCol="0" anchor="t"/>
          <a:lstStyle/>
          <a:p>
            <a:pPr indent="0" marL="0">
              <a:lnSpc>
                <a:spcPts val="1450"/>
              </a:lnSpc>
              <a:buNone/>
            </a:pPr>
            <a:r>
              <a:rPr lang="en-US" sz="1050" dirty="0">
                <a:solidFill>
                  <a:srgbClr val="3F4750"/>
                </a:solidFill>
                <a:latin typeface="Arial" pitchFamily="34" charset="0"/>
                <a:ea typeface="Arial" pitchFamily="34" charset="-122"/>
                <a:cs typeface="Arial" pitchFamily="34" charset="-120"/>
              </a:rPr>
              <a:t>Streamed replies, live coaching rail</a:t>
            </a:r>
            <a:endParaRPr lang="en-US" sz="1050" dirty="0"/>
          </a:p>
          <a:p>
            <a:pPr indent="0" marL="0">
              <a:lnSpc>
                <a:spcPts val="1450"/>
              </a:lnSpc>
              <a:buNone/>
            </a:pPr>
            <a:r>
              <a:rPr lang="en-US" sz="1050" dirty="0">
                <a:solidFill>
                  <a:srgbClr val="3F4750"/>
                </a:solidFill>
                <a:latin typeface="Arial" pitchFamily="34" charset="0"/>
                <a:ea typeface="Arial" pitchFamily="34" charset="-122"/>
                <a:cs typeface="Arial" pitchFamily="34" charset="-120"/>
              </a:rPr>
              <a:t>Code editor on technical rounds</a:t>
            </a:r>
            <a:endParaRPr lang="en-US" sz="1050" dirty="0"/>
          </a:p>
          <a:p>
            <a:pPr indent="0" marL="0">
              <a:lnSpc>
                <a:spcPts val="1450"/>
              </a:lnSpc>
              <a:buNone/>
            </a:pPr>
            <a:r>
              <a:rPr lang="en-US" sz="1050" dirty="0">
                <a:solidFill>
                  <a:srgbClr val="3F4750"/>
                </a:solidFill>
                <a:latin typeface="Arial" pitchFamily="34" charset="0"/>
                <a:ea typeface="Arial" pitchFamily="34" charset="-122"/>
                <a:cs typeface="Arial" pitchFamily="34" charset="-120"/>
              </a:rPr>
              <a:t>Azure speech-to-text and TTS</a:t>
            </a:r>
            <a:endParaRPr lang="en-US" sz="1050" dirty="0"/>
          </a:p>
        </p:txBody>
      </p:sp>
      <p:sp>
        <p:nvSpPr>
          <p:cNvPr id="37" name="Shape 35"/>
          <p:cNvSpPr/>
          <p:nvPr/>
        </p:nvSpPr>
        <p:spPr>
          <a:xfrm>
            <a:off x="8146085" y="3931920"/>
            <a:ext cx="3478682" cy="1170432"/>
          </a:xfrm>
          <a:prstGeom prst="rect">
            <a:avLst/>
          </a:prstGeom>
          <a:solidFill>
            <a:srgbClr val="F5F7FA"/>
          </a:solidFill>
          <a:ln w="12700">
            <a:solidFill>
              <a:srgbClr val="F5F7FA"/>
            </a:solidFill>
            <a:prstDash val="solid"/>
          </a:ln>
        </p:spPr>
      </p:sp>
      <p:sp>
        <p:nvSpPr>
          <p:cNvPr id="38" name="Shape 36"/>
          <p:cNvSpPr/>
          <p:nvPr/>
        </p:nvSpPr>
        <p:spPr>
          <a:xfrm>
            <a:off x="8146085" y="3931920"/>
            <a:ext cx="50292" cy="1170432"/>
          </a:xfrm>
          <a:prstGeom prst="rect">
            <a:avLst/>
          </a:prstGeom>
          <a:solidFill>
            <a:srgbClr val="1D4ED8"/>
          </a:solidFill>
          <a:ln w="12700">
            <a:solidFill>
              <a:srgbClr val="333333"/>
            </a:solidFill>
            <a:prstDash val="solid"/>
          </a:ln>
        </p:spPr>
      </p:sp>
      <p:sp>
        <p:nvSpPr>
          <p:cNvPr id="39" name="Text 37"/>
          <p:cNvSpPr/>
          <p:nvPr/>
        </p:nvSpPr>
        <p:spPr>
          <a:xfrm>
            <a:off x="8402117" y="4023360"/>
            <a:ext cx="3058058" cy="256032"/>
          </a:xfrm>
          <a:prstGeom prst="rect">
            <a:avLst/>
          </a:prstGeom>
          <a:noFill/>
          <a:ln/>
        </p:spPr>
        <p:txBody>
          <a:bodyPr wrap="square" rtlCol="0" anchor="ctr"/>
          <a:lstStyle/>
          <a:p>
            <a:pPr indent="0" marL="0">
              <a:buNone/>
            </a:pPr>
            <a:r>
              <a:rPr lang="en-US" sz="1300" b="1" dirty="0">
                <a:solidFill>
                  <a:srgbClr val="14161A"/>
                </a:solidFill>
                <a:latin typeface="Arial" pitchFamily="34" charset="0"/>
                <a:ea typeface="Arial" pitchFamily="34" charset="-122"/>
                <a:cs typeface="Arial" pitchFamily="34" charset="-120"/>
              </a:rPr>
              <a:t>A scored report</a:t>
            </a:r>
            <a:endParaRPr lang="en-US" sz="1300" dirty="0"/>
          </a:p>
        </p:txBody>
      </p:sp>
      <p:sp>
        <p:nvSpPr>
          <p:cNvPr id="40" name="Text 38"/>
          <p:cNvSpPr/>
          <p:nvPr/>
        </p:nvSpPr>
        <p:spPr>
          <a:xfrm>
            <a:off x="8402117" y="4297680"/>
            <a:ext cx="3058058" cy="749808"/>
          </a:xfrm>
          <a:prstGeom prst="rect">
            <a:avLst/>
          </a:prstGeom>
          <a:noFill/>
          <a:ln/>
        </p:spPr>
        <p:txBody>
          <a:bodyPr wrap="square" rtlCol="0" anchor="t"/>
          <a:lstStyle/>
          <a:p>
            <a:pPr indent="0" marL="0">
              <a:lnSpc>
                <a:spcPts val="1450"/>
              </a:lnSpc>
              <a:buNone/>
            </a:pPr>
            <a:r>
              <a:rPr lang="en-US" sz="1050" dirty="0">
                <a:solidFill>
                  <a:srgbClr val="3F4750"/>
                </a:solidFill>
                <a:latin typeface="Arial" pitchFamily="34" charset="0"/>
                <a:ea typeface="Arial" pitchFamily="34" charset="-122"/>
                <a:cs typeface="Arial" pitchFamily="34" charset="-120"/>
              </a:rPr>
              <a:t>Breakdown + per-answer coaching</a:t>
            </a:r>
            <a:endParaRPr lang="en-US" sz="1050" dirty="0"/>
          </a:p>
          <a:p>
            <a:pPr indent="0" marL="0">
              <a:lnSpc>
                <a:spcPts val="1450"/>
              </a:lnSpc>
              <a:buNone/>
            </a:pPr>
            <a:r>
              <a:rPr lang="en-US" sz="1050" dirty="0">
                <a:solidFill>
                  <a:srgbClr val="3F4750"/>
                </a:solidFill>
                <a:latin typeface="Arial" pitchFamily="34" charset="0"/>
                <a:ea typeface="Arial" pitchFamily="34" charset="-122"/>
                <a:cs typeface="Arial" pitchFamily="34" charset="-120"/>
              </a:rPr>
              <a:t>Model answers · competency coverage</a:t>
            </a:r>
            <a:endParaRPr lang="en-US" sz="1050" dirty="0"/>
          </a:p>
          <a:p>
            <a:pPr indent="0" marL="0">
              <a:lnSpc>
                <a:spcPts val="1450"/>
              </a:lnSpc>
              <a:buNone/>
            </a:pPr>
            <a:r>
              <a:rPr lang="en-US" sz="1050" dirty="0">
                <a:solidFill>
                  <a:srgbClr val="3F4750"/>
                </a:solidFill>
                <a:latin typeface="Arial" pitchFamily="34" charset="0"/>
                <a:ea typeface="Arial" pitchFamily="34" charset="-122"/>
                <a:cs typeface="Arial" pitchFamily="34" charset="-120"/>
              </a:rPr>
              <a:t>Calibration: guess before the reveal</a:t>
            </a:r>
            <a:endParaRPr lang="en-US" sz="1050" dirty="0"/>
          </a:p>
        </p:txBody>
      </p:sp>
      <p:sp>
        <p:nvSpPr>
          <p:cNvPr id="41" name="Shape 39"/>
          <p:cNvSpPr/>
          <p:nvPr/>
        </p:nvSpPr>
        <p:spPr>
          <a:xfrm>
            <a:off x="566928" y="5266944"/>
            <a:ext cx="11057839" cy="475488"/>
          </a:xfrm>
          <a:prstGeom prst="rect">
            <a:avLst/>
          </a:prstGeom>
          <a:solidFill>
            <a:srgbClr val="F5F7FA"/>
          </a:solidFill>
          <a:ln w="12700">
            <a:solidFill>
              <a:srgbClr val="F5F7FA"/>
            </a:solidFill>
            <a:prstDash val="solid"/>
          </a:ln>
        </p:spPr>
      </p:sp>
      <p:sp>
        <p:nvSpPr>
          <p:cNvPr id="42" name="Text 40"/>
          <p:cNvSpPr/>
          <p:nvPr/>
        </p:nvSpPr>
        <p:spPr>
          <a:xfrm>
            <a:off x="841248" y="5266944"/>
            <a:ext cx="10600639" cy="475488"/>
          </a:xfrm>
          <a:prstGeom prst="rect">
            <a:avLst/>
          </a:prstGeom>
          <a:noFill/>
          <a:ln/>
        </p:spPr>
        <p:txBody>
          <a:bodyPr wrap="square" rtlCol="0" anchor="ctr"/>
          <a:lstStyle/>
          <a:p>
            <a:pPr indent="0" marL="0">
              <a:buNone/>
            </a:pPr>
            <a:r>
              <a:rPr lang="en-US" sz="1100" dirty="0">
                <a:solidFill>
                  <a:srgbClr val="3F4750"/>
                </a:solidFill>
                <a:latin typeface="Arial" pitchFamily="34" charset="0"/>
                <a:ea typeface="Arial" pitchFamily="34" charset="-122"/>
                <a:cs typeface="Arial" pitchFamily="34" charset="-120"/>
              </a:rPr>
              <a:t>Next.js 16 · React 19 · TypeScript · Supabase (Postgres + pgvector + RLS) · OpenAI · Azure Speech</a:t>
            </a:r>
            <a:endParaRPr lang="en-US" sz="1100" dirty="0"/>
          </a:p>
        </p:txBody>
      </p:sp>
      <p:sp>
        <p:nvSpPr>
          <p:cNvPr id="44" name="Text 41"/>
          <p:cNvSpPr/>
          <p:nvPr/>
        </p:nvSpPr>
        <p:spPr>
          <a:xfrm>
            <a:off x="566928" y="6382512"/>
            <a:ext cx="5486400" cy="274320"/>
          </a:xfrm>
          <a:prstGeom prst="rect">
            <a:avLst/>
          </a:prstGeom>
          <a:noFill/>
          <a:ln/>
        </p:spPr>
        <p:txBody>
          <a:bodyPr wrap="square" rtlCol="0" anchor="ctr"/>
          <a:lstStyle/>
          <a:p>
            <a:pPr indent="0" marL="0">
              <a:buNone/>
            </a:pPr>
            <a:r>
              <a:rPr lang="en-US" sz="1000" dirty="0">
                <a:solidFill>
                  <a:srgbClr val="7A8593"/>
                </a:solidFill>
                <a:latin typeface="Arial" pitchFamily="34" charset="0"/>
                <a:ea typeface="Arial" pitchFamily="34" charset="-122"/>
                <a:cs typeface="Arial" pitchFamily="34" charset="-120"/>
              </a:rPr>
              <a:t>ConvoTrainer  ·  Final Year Project</a:t>
            </a:r>
            <a:endParaRPr lang="en-US" sz="1000" dirty="0"/>
          </a:p>
        </p:txBody>
      </p:sp>
      <p:sp>
        <p:nvSpPr>
          <p:cNvPr id="45" name="Text 42"/>
          <p:cNvSpPr/>
          <p:nvPr/>
        </p:nvSpPr>
        <p:spPr>
          <a:xfrm>
            <a:off x="10710367" y="6382512"/>
            <a:ext cx="914400" cy="274320"/>
          </a:xfrm>
          <a:prstGeom prst="rect">
            <a:avLst/>
          </a:prstGeom>
          <a:noFill/>
          <a:ln/>
        </p:spPr>
        <p:txBody>
          <a:bodyPr wrap="square" rtlCol="0" anchor="ctr"/>
          <a:lstStyle/>
          <a:p>
            <a:pPr algn="r" indent="0" marL="0">
              <a:buNone/>
            </a:pPr>
            <a:r>
              <a:rPr lang="en-US" sz="1000" dirty="0">
                <a:solidFill>
                  <a:srgbClr val="7A8593"/>
                </a:solidFill>
                <a:latin typeface="Arial" pitchFamily="34" charset="0"/>
                <a:ea typeface="Arial" pitchFamily="34" charset="-122"/>
                <a:cs typeface="Arial" pitchFamily="34" charset="-120"/>
              </a:rPr>
              <a:t>1</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20624"/>
            <a:ext cx="128016" cy="128016"/>
          </a:xfrm>
          <a:prstGeom prst="rect">
            <a:avLst/>
          </a:prstGeom>
          <a:solidFill>
            <a:srgbClr val="1D4ED8"/>
          </a:solidFill>
          <a:ln/>
        </p:spPr>
      </p:sp>
      <p:sp>
        <p:nvSpPr>
          <p:cNvPr id="3" name="Text 1"/>
          <p:cNvSpPr/>
          <p:nvPr/>
        </p:nvSpPr>
        <p:spPr>
          <a:xfrm>
            <a:off x="804672" y="365760"/>
            <a:ext cx="10820095" cy="237744"/>
          </a:xfrm>
          <a:prstGeom prst="rect">
            <a:avLst/>
          </a:prstGeom>
          <a:noFill/>
          <a:ln/>
        </p:spPr>
        <p:txBody>
          <a:bodyPr wrap="square" rtlCol="0" anchor="ctr"/>
          <a:lstStyle/>
          <a:p>
            <a:pPr indent="0" marL="0">
              <a:buNone/>
            </a:pPr>
            <a:r>
              <a:rPr lang="en-US" sz="1100" b="1" spc="160" kern="0" dirty="0">
                <a:solidFill>
                  <a:srgbClr val="1D4ED8"/>
                </a:solidFill>
                <a:latin typeface="Arial" pitchFamily="34" charset="0"/>
                <a:ea typeface="Arial" pitchFamily="34" charset="-122"/>
                <a:cs typeface="Arial" pitchFamily="34" charset="-120"/>
              </a:rPr>
              <a:t>ARCHITECTURE · THE CORE</a:t>
            </a:r>
            <a:endParaRPr lang="en-US" sz="1100" dirty="0"/>
          </a:p>
        </p:txBody>
      </p:sp>
      <p:sp>
        <p:nvSpPr>
          <p:cNvPr id="4" name="Text 2"/>
          <p:cNvSpPr/>
          <p:nvPr/>
        </p:nvSpPr>
        <p:spPr>
          <a:xfrm>
            <a:off x="566928" y="694944"/>
            <a:ext cx="11057839" cy="566928"/>
          </a:xfrm>
          <a:prstGeom prst="rect">
            <a:avLst/>
          </a:prstGeom>
          <a:noFill/>
          <a:ln/>
        </p:spPr>
        <p:txBody>
          <a:bodyPr wrap="square" rtlCol="0" anchor="ctr"/>
          <a:lstStyle/>
          <a:p>
            <a:pPr indent="0" marL="0">
              <a:buNone/>
            </a:pPr>
            <a:r>
              <a:rPr lang="en-US" sz="3000" b="1" dirty="0">
                <a:solidFill>
                  <a:srgbClr val="14161A"/>
                </a:solidFill>
                <a:latin typeface="Arial" pitchFamily="34" charset="0"/>
                <a:ea typeface="Arial" pitchFamily="34" charset="-122"/>
                <a:cs typeface="Arial" pitchFamily="34" charset="-120"/>
              </a:rPr>
              <a:t>One turn: score first, then decide what to ask.</a:t>
            </a:r>
            <a:endParaRPr lang="en-US" sz="3000" dirty="0"/>
          </a:p>
        </p:txBody>
      </p:sp>
      <p:sp>
        <p:nvSpPr>
          <p:cNvPr id="5" name="Shape 3"/>
          <p:cNvSpPr/>
          <p:nvPr/>
        </p:nvSpPr>
        <p:spPr>
          <a:xfrm>
            <a:off x="566928" y="1682496"/>
            <a:ext cx="1992112" cy="1371600"/>
          </a:xfrm>
          <a:prstGeom prst="rect">
            <a:avLst/>
          </a:prstGeom>
          <a:solidFill>
            <a:srgbClr val="F5F7FA"/>
          </a:solidFill>
          <a:ln w="12700">
            <a:solidFill>
              <a:srgbClr val="DFE4EA"/>
            </a:solidFill>
            <a:prstDash val="solid"/>
          </a:ln>
        </p:spPr>
      </p:sp>
      <p:sp>
        <p:nvSpPr>
          <p:cNvPr id="6" name="Text 4"/>
          <p:cNvSpPr/>
          <p:nvPr/>
        </p:nvSpPr>
        <p:spPr>
          <a:xfrm>
            <a:off x="694944" y="1865376"/>
            <a:ext cx="1736080" cy="310896"/>
          </a:xfrm>
          <a:prstGeom prst="rect">
            <a:avLst/>
          </a:prstGeom>
          <a:noFill/>
          <a:ln/>
        </p:spPr>
        <p:txBody>
          <a:bodyPr wrap="square" rtlCol="0" anchor="ctr"/>
          <a:lstStyle/>
          <a:p>
            <a:pPr algn="ctr" indent="0" marL="0">
              <a:buNone/>
            </a:pPr>
            <a:r>
              <a:rPr lang="en-US" sz="1350" b="1" dirty="0">
                <a:solidFill>
                  <a:srgbClr val="14161A"/>
                </a:solidFill>
                <a:latin typeface="Arial" pitchFamily="34" charset="0"/>
                <a:ea typeface="Arial" pitchFamily="34" charset="-122"/>
                <a:cs typeface="Arial" pitchFamily="34" charset="-120"/>
              </a:rPr>
              <a:t>Your answer</a:t>
            </a:r>
            <a:endParaRPr lang="en-US" sz="1350" dirty="0"/>
          </a:p>
        </p:txBody>
      </p:sp>
      <p:sp>
        <p:nvSpPr>
          <p:cNvPr id="7" name="Text 5"/>
          <p:cNvSpPr/>
          <p:nvPr/>
        </p:nvSpPr>
        <p:spPr>
          <a:xfrm>
            <a:off x="658368" y="2212848"/>
            <a:ext cx="1809232" cy="713232"/>
          </a:xfrm>
          <a:prstGeom prst="rect">
            <a:avLst/>
          </a:prstGeom>
          <a:noFill/>
          <a:ln/>
        </p:spPr>
        <p:txBody>
          <a:bodyPr wrap="square" rtlCol="0" anchor="t"/>
          <a:lstStyle/>
          <a:p>
            <a:pPr algn="ctr" indent="0" marL="0">
              <a:lnSpc>
                <a:spcPts val="1300"/>
              </a:lnSpc>
              <a:buNone/>
            </a:pPr>
            <a:r>
              <a:rPr lang="en-US" sz="950" dirty="0">
                <a:solidFill>
                  <a:srgbClr val="7A8593"/>
                </a:solidFill>
                <a:latin typeface="Courier New" pitchFamily="34" charset="0"/>
                <a:ea typeface="Courier New" pitchFamily="34" charset="-122"/>
                <a:cs typeface="Courier New" pitchFamily="34" charset="-120"/>
              </a:rPr>
              <a:t>POST /api/chat</a:t>
            </a:r>
            <a:endParaRPr lang="en-US" sz="950" dirty="0"/>
          </a:p>
        </p:txBody>
      </p:sp>
      <p:sp>
        <p:nvSpPr>
          <p:cNvPr id="8" name="Text 6"/>
          <p:cNvSpPr/>
          <p:nvPr/>
        </p:nvSpPr>
        <p:spPr>
          <a:xfrm>
            <a:off x="2559040" y="2221992"/>
            <a:ext cx="274320" cy="292608"/>
          </a:xfrm>
          <a:prstGeom prst="rect">
            <a:avLst/>
          </a:prstGeom>
          <a:noFill/>
          <a:ln/>
        </p:spPr>
        <p:txBody>
          <a:bodyPr wrap="square" rtlCol="0" anchor="ctr"/>
          <a:lstStyle/>
          <a:p>
            <a:pPr algn="ctr" indent="0" marL="0">
              <a:buNone/>
            </a:pPr>
            <a:r>
              <a:rPr lang="en-US" sz="1600" b="1" dirty="0">
                <a:solidFill>
                  <a:srgbClr val="1D4ED8"/>
                </a:solidFill>
                <a:latin typeface="Arial" pitchFamily="34" charset="0"/>
                <a:ea typeface="Arial" pitchFamily="34" charset="-122"/>
                <a:cs typeface="Arial" pitchFamily="34" charset="-120"/>
              </a:rPr>
              <a:t>▸</a:t>
            </a:r>
            <a:endParaRPr lang="en-US" sz="1600" dirty="0"/>
          </a:p>
        </p:txBody>
      </p:sp>
      <p:sp>
        <p:nvSpPr>
          <p:cNvPr id="9" name="Shape 7"/>
          <p:cNvSpPr/>
          <p:nvPr/>
        </p:nvSpPr>
        <p:spPr>
          <a:xfrm>
            <a:off x="2833360" y="1682496"/>
            <a:ext cx="1992112" cy="1371600"/>
          </a:xfrm>
          <a:prstGeom prst="rect">
            <a:avLst/>
          </a:prstGeom>
          <a:solidFill>
            <a:srgbClr val="EAF0FE"/>
          </a:solidFill>
          <a:ln w="15875">
            <a:solidFill>
              <a:srgbClr val="1D4ED8"/>
            </a:solidFill>
            <a:prstDash val="solid"/>
          </a:ln>
        </p:spPr>
      </p:sp>
      <p:sp>
        <p:nvSpPr>
          <p:cNvPr id="10" name="Text 8"/>
          <p:cNvSpPr/>
          <p:nvPr/>
        </p:nvSpPr>
        <p:spPr>
          <a:xfrm>
            <a:off x="2961376" y="1865376"/>
            <a:ext cx="1736080" cy="310896"/>
          </a:xfrm>
          <a:prstGeom prst="rect">
            <a:avLst/>
          </a:prstGeom>
          <a:noFill/>
          <a:ln/>
        </p:spPr>
        <p:txBody>
          <a:bodyPr wrap="square" rtlCol="0" anchor="ctr"/>
          <a:lstStyle/>
          <a:p>
            <a:pPr algn="ctr" indent="0" marL="0">
              <a:buNone/>
            </a:pPr>
            <a:r>
              <a:rPr lang="en-US" sz="1350" b="1" dirty="0">
                <a:solidFill>
                  <a:srgbClr val="14161A"/>
                </a:solidFill>
                <a:latin typeface="Arial" pitchFamily="34" charset="0"/>
                <a:ea typeface="Arial" pitchFamily="34" charset="-122"/>
                <a:cs typeface="Arial" pitchFamily="34" charset="-120"/>
              </a:rPr>
              <a:t>Analyzer</a:t>
            </a:r>
            <a:endParaRPr lang="en-US" sz="1350" dirty="0"/>
          </a:p>
        </p:txBody>
      </p:sp>
      <p:sp>
        <p:nvSpPr>
          <p:cNvPr id="11" name="Text 9"/>
          <p:cNvSpPr/>
          <p:nvPr/>
        </p:nvSpPr>
        <p:spPr>
          <a:xfrm>
            <a:off x="2924800" y="2212848"/>
            <a:ext cx="1809232" cy="713232"/>
          </a:xfrm>
          <a:prstGeom prst="rect">
            <a:avLst/>
          </a:prstGeom>
          <a:noFill/>
          <a:ln/>
        </p:spPr>
        <p:txBody>
          <a:bodyPr wrap="square" rtlCol="0" anchor="t"/>
          <a:lstStyle/>
          <a:p>
            <a:pPr algn="ctr" indent="0" marL="0">
              <a:lnSpc>
                <a:spcPts val="1300"/>
              </a:lnSpc>
              <a:buNone/>
            </a:pPr>
            <a:r>
              <a:rPr lang="en-US" sz="950" dirty="0">
                <a:solidFill>
                  <a:srgbClr val="1D4ED8"/>
                </a:solidFill>
                <a:latin typeface="Courier New" pitchFamily="34" charset="0"/>
                <a:ea typeface="Courier New" pitchFamily="34" charset="-122"/>
                <a:cs typeface="Courier New" pitchFamily="34" charset="-120"/>
              </a:rPr>
              <a:t>gpt-4o-mini · temp 0.1</a:t>
            </a:r>
            <a:endParaRPr lang="en-US" sz="950" dirty="0"/>
          </a:p>
          <a:p>
            <a:pPr algn="ctr" indent="0" marL="0">
              <a:lnSpc>
                <a:spcPts val="1300"/>
              </a:lnSpc>
              <a:buNone/>
            </a:pPr>
            <a:r>
              <a:rPr lang="en-US" sz="950" dirty="0">
                <a:solidFill>
                  <a:srgbClr val="1D4ED8"/>
                </a:solidFill>
                <a:latin typeface="Courier New" pitchFamily="34" charset="0"/>
                <a:ea typeface="Courier New" pitchFamily="34" charset="-122"/>
                <a:cs typeface="Courier New" pitchFamily="34" charset="-120"/>
              </a:rPr>
              <a:t>JSON rubric scores</a:t>
            </a:r>
            <a:endParaRPr lang="en-US" sz="950" dirty="0"/>
          </a:p>
        </p:txBody>
      </p:sp>
      <p:sp>
        <p:nvSpPr>
          <p:cNvPr id="12" name="Text 10"/>
          <p:cNvSpPr/>
          <p:nvPr/>
        </p:nvSpPr>
        <p:spPr>
          <a:xfrm>
            <a:off x="4825472" y="2221992"/>
            <a:ext cx="274320" cy="292608"/>
          </a:xfrm>
          <a:prstGeom prst="rect">
            <a:avLst/>
          </a:prstGeom>
          <a:noFill/>
          <a:ln/>
        </p:spPr>
        <p:txBody>
          <a:bodyPr wrap="square" rtlCol="0" anchor="ctr"/>
          <a:lstStyle/>
          <a:p>
            <a:pPr algn="ctr" indent="0" marL="0">
              <a:buNone/>
            </a:pPr>
            <a:r>
              <a:rPr lang="en-US" sz="1600" b="1" dirty="0">
                <a:solidFill>
                  <a:srgbClr val="1D4ED8"/>
                </a:solidFill>
                <a:latin typeface="Arial" pitchFamily="34" charset="0"/>
                <a:ea typeface="Arial" pitchFamily="34" charset="-122"/>
                <a:cs typeface="Arial" pitchFamily="34" charset="-120"/>
              </a:rPr>
              <a:t>▸</a:t>
            </a:r>
            <a:endParaRPr lang="en-US" sz="1600" dirty="0"/>
          </a:p>
        </p:txBody>
      </p:sp>
      <p:sp>
        <p:nvSpPr>
          <p:cNvPr id="13" name="Shape 11"/>
          <p:cNvSpPr/>
          <p:nvPr/>
        </p:nvSpPr>
        <p:spPr>
          <a:xfrm>
            <a:off x="5099792" y="1682496"/>
            <a:ext cx="1992112" cy="1371600"/>
          </a:xfrm>
          <a:prstGeom prst="rect">
            <a:avLst/>
          </a:prstGeom>
          <a:solidFill>
            <a:srgbClr val="EAF0FE"/>
          </a:solidFill>
          <a:ln w="15875">
            <a:solidFill>
              <a:srgbClr val="1D4ED8"/>
            </a:solidFill>
            <a:prstDash val="solid"/>
          </a:ln>
        </p:spPr>
      </p:sp>
      <p:sp>
        <p:nvSpPr>
          <p:cNvPr id="14" name="Text 12"/>
          <p:cNvSpPr/>
          <p:nvPr/>
        </p:nvSpPr>
        <p:spPr>
          <a:xfrm>
            <a:off x="5227808" y="1865376"/>
            <a:ext cx="1736080" cy="310896"/>
          </a:xfrm>
          <a:prstGeom prst="rect">
            <a:avLst/>
          </a:prstGeom>
          <a:noFill/>
          <a:ln/>
        </p:spPr>
        <p:txBody>
          <a:bodyPr wrap="square" rtlCol="0" anchor="ctr"/>
          <a:lstStyle/>
          <a:p>
            <a:pPr algn="ctr" indent="0" marL="0">
              <a:buNone/>
            </a:pPr>
            <a:r>
              <a:rPr lang="en-US" sz="1350" b="1" dirty="0">
                <a:solidFill>
                  <a:srgbClr val="14161A"/>
                </a:solidFill>
                <a:latin typeface="Arial" pitchFamily="34" charset="0"/>
                <a:ea typeface="Arial" pitchFamily="34" charset="-122"/>
                <a:cs typeface="Arial" pitchFamily="34" charset="-120"/>
              </a:rPr>
              <a:t>Decision engine</a:t>
            </a:r>
            <a:endParaRPr lang="en-US" sz="1350" dirty="0"/>
          </a:p>
        </p:txBody>
      </p:sp>
      <p:sp>
        <p:nvSpPr>
          <p:cNvPr id="15" name="Text 13"/>
          <p:cNvSpPr/>
          <p:nvPr/>
        </p:nvSpPr>
        <p:spPr>
          <a:xfrm>
            <a:off x="5191232" y="2212848"/>
            <a:ext cx="1809232" cy="713232"/>
          </a:xfrm>
          <a:prstGeom prst="rect">
            <a:avLst/>
          </a:prstGeom>
          <a:noFill/>
          <a:ln/>
        </p:spPr>
        <p:txBody>
          <a:bodyPr wrap="square" rtlCol="0" anchor="t"/>
          <a:lstStyle/>
          <a:p>
            <a:pPr algn="ctr" indent="0" marL="0">
              <a:lnSpc>
                <a:spcPts val="1300"/>
              </a:lnSpc>
              <a:buNone/>
            </a:pPr>
            <a:r>
              <a:rPr lang="en-US" sz="950" dirty="0">
                <a:solidFill>
                  <a:srgbClr val="1D4ED8"/>
                </a:solidFill>
                <a:latin typeface="Courier New" pitchFamily="34" charset="0"/>
                <a:ea typeface="Courier New" pitchFamily="34" charset="-122"/>
                <a:cs typeface="Courier New" pitchFamily="34" charset="-120"/>
              </a:rPr>
              <a:t>1 of 7 strategies</a:t>
            </a:r>
            <a:endParaRPr lang="en-US" sz="950" dirty="0"/>
          </a:p>
          <a:p>
            <a:pPr algn="ctr" indent="0" marL="0">
              <a:lnSpc>
                <a:spcPts val="1300"/>
              </a:lnSpc>
              <a:buNone/>
            </a:pPr>
            <a:r>
              <a:rPr lang="en-US" sz="950" dirty="0">
                <a:solidFill>
                  <a:srgbClr val="1D4ED8"/>
                </a:solidFill>
                <a:latin typeface="Courier New" pitchFamily="34" charset="0"/>
                <a:ea typeface="Courier New" pitchFamily="34" charset="-122"/>
                <a:cs typeface="Courier New" pitchFamily="34" charset="-120"/>
              </a:rPr>
              <a:t>+ difficulty N/10</a:t>
            </a:r>
            <a:endParaRPr lang="en-US" sz="950" dirty="0"/>
          </a:p>
        </p:txBody>
      </p:sp>
      <p:sp>
        <p:nvSpPr>
          <p:cNvPr id="16" name="Text 14"/>
          <p:cNvSpPr/>
          <p:nvPr/>
        </p:nvSpPr>
        <p:spPr>
          <a:xfrm>
            <a:off x="7091904" y="2221992"/>
            <a:ext cx="274320" cy="292608"/>
          </a:xfrm>
          <a:prstGeom prst="rect">
            <a:avLst/>
          </a:prstGeom>
          <a:noFill/>
          <a:ln/>
        </p:spPr>
        <p:txBody>
          <a:bodyPr wrap="square" rtlCol="0" anchor="ctr"/>
          <a:lstStyle/>
          <a:p>
            <a:pPr algn="ctr" indent="0" marL="0">
              <a:buNone/>
            </a:pPr>
            <a:r>
              <a:rPr lang="en-US" sz="1600" b="1" dirty="0">
                <a:solidFill>
                  <a:srgbClr val="1D4ED8"/>
                </a:solidFill>
                <a:latin typeface="Arial" pitchFamily="34" charset="0"/>
                <a:ea typeface="Arial" pitchFamily="34" charset="-122"/>
                <a:cs typeface="Arial" pitchFamily="34" charset="-120"/>
              </a:rPr>
              <a:t>▸</a:t>
            </a:r>
            <a:endParaRPr lang="en-US" sz="1600" dirty="0"/>
          </a:p>
        </p:txBody>
      </p:sp>
      <p:sp>
        <p:nvSpPr>
          <p:cNvPr id="17" name="Shape 15"/>
          <p:cNvSpPr/>
          <p:nvPr/>
        </p:nvSpPr>
        <p:spPr>
          <a:xfrm>
            <a:off x="7366224" y="1682496"/>
            <a:ext cx="1992112" cy="1371600"/>
          </a:xfrm>
          <a:prstGeom prst="rect">
            <a:avLst/>
          </a:prstGeom>
          <a:solidFill>
            <a:srgbClr val="EAF0FE"/>
          </a:solidFill>
          <a:ln w="15875">
            <a:solidFill>
              <a:srgbClr val="1D4ED8"/>
            </a:solidFill>
            <a:prstDash val="solid"/>
          </a:ln>
        </p:spPr>
      </p:sp>
      <p:sp>
        <p:nvSpPr>
          <p:cNvPr id="18" name="Text 16"/>
          <p:cNvSpPr/>
          <p:nvPr/>
        </p:nvSpPr>
        <p:spPr>
          <a:xfrm>
            <a:off x="7494240" y="1865376"/>
            <a:ext cx="1736080" cy="310896"/>
          </a:xfrm>
          <a:prstGeom prst="rect">
            <a:avLst/>
          </a:prstGeom>
          <a:noFill/>
          <a:ln/>
        </p:spPr>
        <p:txBody>
          <a:bodyPr wrap="square" rtlCol="0" anchor="ctr"/>
          <a:lstStyle/>
          <a:p>
            <a:pPr algn="ctr" indent="0" marL="0">
              <a:buNone/>
            </a:pPr>
            <a:r>
              <a:rPr lang="en-US" sz="1350" b="1" dirty="0">
                <a:solidFill>
                  <a:srgbClr val="14161A"/>
                </a:solidFill>
                <a:latin typeface="Arial" pitchFamily="34" charset="0"/>
                <a:ea typeface="Arial" pitchFamily="34" charset="-122"/>
                <a:cs typeface="Arial" pitchFamily="34" charset="-120"/>
              </a:rPr>
              <a:t>Steering block</a:t>
            </a:r>
            <a:endParaRPr lang="en-US" sz="1350" dirty="0"/>
          </a:p>
        </p:txBody>
      </p:sp>
      <p:sp>
        <p:nvSpPr>
          <p:cNvPr id="19" name="Text 17"/>
          <p:cNvSpPr/>
          <p:nvPr/>
        </p:nvSpPr>
        <p:spPr>
          <a:xfrm>
            <a:off x="7457664" y="2212848"/>
            <a:ext cx="1809232" cy="713232"/>
          </a:xfrm>
          <a:prstGeom prst="rect">
            <a:avLst/>
          </a:prstGeom>
          <a:noFill/>
          <a:ln/>
        </p:spPr>
        <p:txBody>
          <a:bodyPr wrap="square" rtlCol="0" anchor="t"/>
          <a:lstStyle/>
          <a:p>
            <a:pPr algn="ctr" indent="0" marL="0">
              <a:lnSpc>
                <a:spcPts val="1300"/>
              </a:lnSpc>
              <a:buNone/>
            </a:pPr>
            <a:r>
              <a:rPr lang="en-US" sz="950" dirty="0">
                <a:solidFill>
                  <a:srgbClr val="1D4ED8"/>
                </a:solidFill>
                <a:latin typeface="Courier New" pitchFamily="34" charset="0"/>
                <a:ea typeface="Courier New" pitchFamily="34" charset="-122"/>
                <a:cs typeface="Courier New" pitchFamily="34" charset="-120"/>
              </a:rPr>
              <a:t>private instruction</a:t>
            </a:r>
            <a:endParaRPr lang="en-US" sz="950" dirty="0"/>
          </a:p>
          <a:p>
            <a:pPr algn="ctr" indent="0" marL="0">
              <a:lnSpc>
                <a:spcPts val="1300"/>
              </a:lnSpc>
              <a:buNone/>
            </a:pPr>
            <a:r>
              <a:rPr lang="en-US" sz="950" dirty="0">
                <a:solidFill>
                  <a:srgbClr val="1D4ED8"/>
                </a:solidFill>
                <a:latin typeface="Courier New" pitchFamily="34" charset="0"/>
                <a:ea typeface="Courier New" pitchFamily="34" charset="-122"/>
                <a:cs typeface="Courier New" pitchFamily="34" charset="-120"/>
              </a:rPr>
              <a:t>inside the prompt</a:t>
            </a:r>
            <a:endParaRPr lang="en-US" sz="950" dirty="0"/>
          </a:p>
        </p:txBody>
      </p:sp>
      <p:sp>
        <p:nvSpPr>
          <p:cNvPr id="20" name="Text 18"/>
          <p:cNvSpPr/>
          <p:nvPr/>
        </p:nvSpPr>
        <p:spPr>
          <a:xfrm>
            <a:off x="9358335" y="2221992"/>
            <a:ext cx="274320" cy="292608"/>
          </a:xfrm>
          <a:prstGeom prst="rect">
            <a:avLst/>
          </a:prstGeom>
          <a:noFill/>
          <a:ln/>
        </p:spPr>
        <p:txBody>
          <a:bodyPr wrap="square" rtlCol="0" anchor="ctr"/>
          <a:lstStyle/>
          <a:p>
            <a:pPr algn="ctr" indent="0" marL="0">
              <a:buNone/>
            </a:pPr>
            <a:r>
              <a:rPr lang="en-US" sz="1600" b="1" dirty="0">
                <a:solidFill>
                  <a:srgbClr val="1D4ED8"/>
                </a:solidFill>
                <a:latin typeface="Arial" pitchFamily="34" charset="0"/>
                <a:ea typeface="Arial" pitchFamily="34" charset="-122"/>
                <a:cs typeface="Arial" pitchFamily="34" charset="-120"/>
              </a:rPr>
              <a:t>▸</a:t>
            </a:r>
            <a:endParaRPr lang="en-US" sz="1600" dirty="0"/>
          </a:p>
        </p:txBody>
      </p:sp>
      <p:sp>
        <p:nvSpPr>
          <p:cNvPr id="21" name="Shape 19"/>
          <p:cNvSpPr/>
          <p:nvPr/>
        </p:nvSpPr>
        <p:spPr>
          <a:xfrm>
            <a:off x="9632655" y="1682496"/>
            <a:ext cx="1992112" cy="1371600"/>
          </a:xfrm>
          <a:prstGeom prst="rect">
            <a:avLst/>
          </a:prstGeom>
          <a:solidFill>
            <a:srgbClr val="F5F7FA"/>
          </a:solidFill>
          <a:ln w="12700">
            <a:solidFill>
              <a:srgbClr val="DFE4EA"/>
            </a:solidFill>
            <a:prstDash val="solid"/>
          </a:ln>
        </p:spPr>
      </p:sp>
      <p:sp>
        <p:nvSpPr>
          <p:cNvPr id="22" name="Text 20"/>
          <p:cNvSpPr/>
          <p:nvPr/>
        </p:nvSpPr>
        <p:spPr>
          <a:xfrm>
            <a:off x="9760671" y="1865376"/>
            <a:ext cx="1736080" cy="310896"/>
          </a:xfrm>
          <a:prstGeom prst="rect">
            <a:avLst/>
          </a:prstGeom>
          <a:noFill/>
          <a:ln/>
        </p:spPr>
        <p:txBody>
          <a:bodyPr wrap="square" rtlCol="0" anchor="ctr"/>
          <a:lstStyle/>
          <a:p>
            <a:pPr algn="ctr" indent="0" marL="0">
              <a:buNone/>
            </a:pPr>
            <a:r>
              <a:rPr lang="en-US" sz="1350" b="1" dirty="0">
                <a:solidFill>
                  <a:srgbClr val="14161A"/>
                </a:solidFill>
                <a:latin typeface="Arial" pitchFamily="34" charset="0"/>
                <a:ea typeface="Arial" pitchFamily="34" charset="-122"/>
                <a:cs typeface="Arial" pitchFamily="34" charset="-120"/>
              </a:rPr>
              <a:t>Next question</a:t>
            </a:r>
            <a:endParaRPr lang="en-US" sz="1350" dirty="0"/>
          </a:p>
        </p:txBody>
      </p:sp>
      <p:sp>
        <p:nvSpPr>
          <p:cNvPr id="23" name="Text 21"/>
          <p:cNvSpPr/>
          <p:nvPr/>
        </p:nvSpPr>
        <p:spPr>
          <a:xfrm>
            <a:off x="9724095" y="2212848"/>
            <a:ext cx="1809232" cy="713232"/>
          </a:xfrm>
          <a:prstGeom prst="rect">
            <a:avLst/>
          </a:prstGeom>
          <a:noFill/>
          <a:ln/>
        </p:spPr>
        <p:txBody>
          <a:bodyPr wrap="square" rtlCol="0" anchor="t"/>
          <a:lstStyle/>
          <a:p>
            <a:pPr algn="ctr" indent="0" marL="0">
              <a:lnSpc>
                <a:spcPts val="1300"/>
              </a:lnSpc>
              <a:buNone/>
            </a:pPr>
            <a:r>
              <a:rPr lang="en-US" sz="950" dirty="0">
                <a:solidFill>
                  <a:srgbClr val="7A8593"/>
                </a:solidFill>
                <a:latin typeface="Courier New" pitchFamily="34" charset="0"/>
                <a:ea typeface="Courier New" pitchFamily="34" charset="-122"/>
                <a:cs typeface="Courier New" pitchFamily="34" charset="-120"/>
              </a:rPr>
              <a:t>streamed back</a:t>
            </a:r>
            <a:endParaRPr lang="en-US" sz="950" dirty="0"/>
          </a:p>
        </p:txBody>
      </p:sp>
      <p:sp>
        <p:nvSpPr>
          <p:cNvPr id="24" name="Shape 22"/>
          <p:cNvSpPr/>
          <p:nvPr/>
        </p:nvSpPr>
        <p:spPr>
          <a:xfrm>
            <a:off x="566928" y="3273552"/>
            <a:ext cx="5373472" cy="969264"/>
          </a:xfrm>
          <a:prstGeom prst="rect">
            <a:avLst/>
          </a:prstGeom>
          <a:solidFill>
            <a:srgbClr val="FDF4E7"/>
          </a:solidFill>
          <a:ln w="12700">
            <a:solidFill>
              <a:srgbClr val="FDF4E7"/>
            </a:solidFill>
            <a:prstDash val="solid"/>
          </a:ln>
        </p:spPr>
      </p:sp>
      <p:sp>
        <p:nvSpPr>
          <p:cNvPr id="25" name="Shape 23"/>
          <p:cNvSpPr/>
          <p:nvPr/>
        </p:nvSpPr>
        <p:spPr>
          <a:xfrm>
            <a:off x="566928" y="3273552"/>
            <a:ext cx="50292" cy="969264"/>
          </a:xfrm>
          <a:prstGeom prst="rect">
            <a:avLst/>
          </a:prstGeom>
          <a:solidFill>
            <a:srgbClr val="9A5B08"/>
          </a:solidFill>
          <a:ln w="12700">
            <a:solidFill>
              <a:srgbClr val="333333"/>
            </a:solidFill>
            <a:prstDash val="solid"/>
          </a:ln>
        </p:spPr>
      </p:sp>
      <p:sp>
        <p:nvSpPr>
          <p:cNvPr id="26" name="Text 24"/>
          <p:cNvSpPr/>
          <p:nvPr/>
        </p:nvSpPr>
        <p:spPr>
          <a:xfrm>
            <a:off x="841248" y="3383280"/>
            <a:ext cx="4916272" cy="768096"/>
          </a:xfrm>
          <a:prstGeom prst="rect">
            <a:avLst/>
          </a:prstGeom>
          <a:noFill/>
          <a:ln/>
        </p:spPr>
        <p:txBody>
          <a:bodyPr wrap="square" rtlCol="0" anchor="t"/>
          <a:lstStyle/>
          <a:p>
            <a:pPr indent="0" marL="0">
              <a:lnSpc>
                <a:spcPts val="1600"/>
              </a:lnSpc>
              <a:buNone/>
            </a:pPr>
            <a:r>
              <a:rPr lang="en-US" sz="1150" b="1" dirty="0">
                <a:solidFill>
                  <a:srgbClr val="9A5B08"/>
                </a:solidFill>
                <a:latin typeface="Arial" pitchFamily="34" charset="0"/>
                <a:ea typeface="Arial" pitchFamily="34" charset="-122"/>
                <a:cs typeface="Arial" pitchFamily="34" charset="-120"/>
              </a:rPr>
              <a:t>Bounded, not blocking.  </a:t>
            </a:r>
            <a:pPr indent="0" marL="0">
              <a:lnSpc>
                <a:spcPts val="1600"/>
              </a:lnSpc>
              <a:buNone/>
            </a:pPr>
            <a:r>
              <a:rPr lang="en-US" sz="1150" dirty="0">
                <a:solidFill>
                  <a:srgbClr val="3F4750"/>
                </a:solidFill>
                <a:latin typeface="Arial" pitchFamily="34" charset="0"/>
                <a:ea typeface="Arial" pitchFamily="34" charset="-122"/>
                <a:cs typeface="Arial" pitchFamily="34" charset="-120"/>
              </a:rPr>
              <a:t>Scoring gets 4 s (STEER_DEADLINE_MS). Past it the reply starts unsteered — the verdict is still collected and stored.</a:t>
            </a:r>
            <a:endParaRPr lang="en-US" sz="1150" dirty="0"/>
          </a:p>
        </p:txBody>
      </p:sp>
      <p:sp>
        <p:nvSpPr>
          <p:cNvPr id="27" name="Shape 25"/>
          <p:cNvSpPr/>
          <p:nvPr/>
        </p:nvSpPr>
        <p:spPr>
          <a:xfrm>
            <a:off x="6251296" y="3273552"/>
            <a:ext cx="5373472" cy="969264"/>
          </a:xfrm>
          <a:prstGeom prst="rect">
            <a:avLst/>
          </a:prstGeom>
          <a:solidFill>
            <a:srgbClr val="EAF5EE"/>
          </a:solidFill>
          <a:ln w="12700">
            <a:solidFill>
              <a:srgbClr val="EAF5EE"/>
            </a:solidFill>
            <a:prstDash val="solid"/>
          </a:ln>
        </p:spPr>
      </p:sp>
      <p:sp>
        <p:nvSpPr>
          <p:cNvPr id="28" name="Shape 26"/>
          <p:cNvSpPr/>
          <p:nvPr/>
        </p:nvSpPr>
        <p:spPr>
          <a:xfrm>
            <a:off x="6251296" y="3273552"/>
            <a:ext cx="50292" cy="969264"/>
          </a:xfrm>
          <a:prstGeom prst="rect">
            <a:avLst/>
          </a:prstGeom>
          <a:solidFill>
            <a:srgbClr val="15803D"/>
          </a:solidFill>
          <a:ln w="12700">
            <a:solidFill>
              <a:srgbClr val="333333"/>
            </a:solidFill>
            <a:prstDash val="solid"/>
          </a:ln>
        </p:spPr>
      </p:sp>
      <p:sp>
        <p:nvSpPr>
          <p:cNvPr id="29" name="Text 27"/>
          <p:cNvSpPr/>
          <p:nvPr/>
        </p:nvSpPr>
        <p:spPr>
          <a:xfrm>
            <a:off x="6525616" y="3383280"/>
            <a:ext cx="4916272" cy="768096"/>
          </a:xfrm>
          <a:prstGeom prst="rect">
            <a:avLst/>
          </a:prstGeom>
          <a:noFill/>
          <a:ln/>
        </p:spPr>
        <p:txBody>
          <a:bodyPr wrap="square" rtlCol="0" anchor="t"/>
          <a:lstStyle/>
          <a:p>
            <a:pPr indent="0" marL="0">
              <a:lnSpc>
                <a:spcPts val="1600"/>
              </a:lnSpc>
              <a:buNone/>
            </a:pPr>
            <a:r>
              <a:rPr lang="en-US" sz="1150" b="1" dirty="0">
                <a:solidFill>
                  <a:srgbClr val="15803D"/>
                </a:solidFill>
                <a:latin typeface="Arial" pitchFamily="34" charset="0"/>
                <a:ea typeface="Arial" pitchFamily="34" charset="-122"/>
                <a:cs typeface="Arial" pitchFamily="34" charset="-120"/>
              </a:rPr>
              <a:t>One transaction.  </a:t>
            </a:r>
            <a:pPr indent="0" marL="0">
              <a:lnSpc>
                <a:spcPts val="1600"/>
              </a:lnSpc>
              <a:buNone/>
            </a:pPr>
            <a:r>
              <a:rPr lang="en-US" sz="1150" dirty="0">
                <a:solidFill>
                  <a:srgbClr val="3F4750"/>
                </a:solidFill>
                <a:latin typeface="Arial" pitchFamily="34" charset="0"/>
                <a:ea typeface="Arial" pitchFamily="34" charset="-122"/>
                <a:cs typeface="Arial" pitchFamily="34" charset="-120"/>
              </a:rPr>
              <a:t>append_interview_turn locks the session row and writes both messages, the analysis and the turn count atomically.</a:t>
            </a:r>
            <a:endParaRPr lang="en-US" sz="1150" dirty="0"/>
          </a:p>
        </p:txBody>
      </p:sp>
      <p:sp>
        <p:nvSpPr>
          <p:cNvPr id="30" name="Shape 28"/>
          <p:cNvSpPr/>
          <p:nvPr/>
        </p:nvSpPr>
        <p:spPr>
          <a:xfrm>
            <a:off x="566928" y="4498848"/>
            <a:ext cx="11057839" cy="786384"/>
          </a:xfrm>
          <a:prstGeom prst="rect">
            <a:avLst/>
          </a:prstGeom>
          <a:solidFill>
            <a:srgbClr val="EAF0FE"/>
          </a:solidFill>
          <a:ln w="12700">
            <a:solidFill>
              <a:srgbClr val="EAF0FE"/>
            </a:solidFill>
            <a:prstDash val="solid"/>
          </a:ln>
        </p:spPr>
      </p:sp>
      <p:sp>
        <p:nvSpPr>
          <p:cNvPr id="31" name="Shape 29"/>
          <p:cNvSpPr/>
          <p:nvPr/>
        </p:nvSpPr>
        <p:spPr>
          <a:xfrm>
            <a:off x="566928" y="4498848"/>
            <a:ext cx="50292" cy="786384"/>
          </a:xfrm>
          <a:prstGeom prst="rect">
            <a:avLst/>
          </a:prstGeom>
          <a:solidFill>
            <a:srgbClr val="1D4ED8"/>
          </a:solidFill>
          <a:ln w="12700">
            <a:solidFill>
              <a:srgbClr val="333333"/>
            </a:solidFill>
            <a:prstDash val="solid"/>
          </a:ln>
        </p:spPr>
      </p:sp>
      <p:sp>
        <p:nvSpPr>
          <p:cNvPr id="32" name="Text 30"/>
          <p:cNvSpPr/>
          <p:nvPr/>
        </p:nvSpPr>
        <p:spPr>
          <a:xfrm>
            <a:off x="877824" y="4498848"/>
            <a:ext cx="10509199" cy="786384"/>
          </a:xfrm>
          <a:prstGeom prst="rect">
            <a:avLst/>
          </a:prstGeom>
          <a:noFill/>
          <a:ln/>
        </p:spPr>
        <p:txBody>
          <a:bodyPr wrap="square" rtlCol="0" anchor="ctr"/>
          <a:lstStyle/>
          <a:p>
            <a:pPr indent="0" marL="0">
              <a:buNone/>
            </a:pPr>
            <a:r>
              <a:rPr lang="en-US" sz="1700" b="1" dirty="0">
                <a:solidFill>
                  <a:srgbClr val="14161A"/>
                </a:solidFill>
                <a:latin typeface="Arial" pitchFamily="34" charset="0"/>
                <a:ea typeface="Arial" pitchFamily="34" charset="-122"/>
                <a:cs typeface="Arial" pitchFamily="34" charset="-120"/>
              </a:rPr>
              <a:t>The score is not just reported at the end. It is an input to the next question.</a:t>
            </a:r>
            <a:endParaRPr lang="en-US" sz="1700" dirty="0"/>
          </a:p>
        </p:txBody>
      </p:sp>
      <p:sp>
        <p:nvSpPr>
          <p:cNvPr id="33" name="Text 31"/>
          <p:cNvSpPr/>
          <p:nvPr/>
        </p:nvSpPr>
        <p:spPr>
          <a:xfrm>
            <a:off x="566928" y="5394960"/>
            <a:ext cx="11057839" cy="256032"/>
          </a:xfrm>
          <a:prstGeom prst="rect">
            <a:avLst/>
          </a:prstGeom>
          <a:noFill/>
          <a:ln/>
        </p:spPr>
        <p:txBody>
          <a:bodyPr wrap="square" rtlCol="0" anchor="ctr"/>
          <a:lstStyle/>
          <a:p>
            <a:pPr indent="0" marL="0">
              <a:buNone/>
            </a:pPr>
            <a:r>
              <a:rPr lang="en-US" sz="950" dirty="0">
                <a:solidFill>
                  <a:srgbClr val="7A8593"/>
                </a:solidFill>
                <a:latin typeface="Courier New" pitchFamily="34" charset="0"/>
                <a:ea typeface="Courier New" pitchFamily="34" charset="-122"/>
                <a:cs typeface="Courier New" pitchFamily="34" charset="-120"/>
              </a:rPr>
              <a:t>src/app/api/chat/route.ts  ·  src/lib/response-analyzer.ts  ·  src/lib/decision-engine.ts  ·  migration 0005</a:t>
            </a:r>
            <a:endParaRPr lang="en-US" sz="950" dirty="0"/>
          </a:p>
        </p:txBody>
      </p:sp>
      <p:sp>
        <p:nvSpPr>
          <p:cNvPr id="35" name="Text 32"/>
          <p:cNvSpPr/>
          <p:nvPr/>
        </p:nvSpPr>
        <p:spPr>
          <a:xfrm>
            <a:off x="566928" y="6382512"/>
            <a:ext cx="5486400" cy="274320"/>
          </a:xfrm>
          <a:prstGeom prst="rect">
            <a:avLst/>
          </a:prstGeom>
          <a:noFill/>
          <a:ln/>
        </p:spPr>
        <p:txBody>
          <a:bodyPr wrap="square" rtlCol="0" anchor="ctr"/>
          <a:lstStyle/>
          <a:p>
            <a:pPr indent="0" marL="0">
              <a:buNone/>
            </a:pPr>
            <a:r>
              <a:rPr lang="en-US" sz="1000" dirty="0">
                <a:solidFill>
                  <a:srgbClr val="7A8593"/>
                </a:solidFill>
                <a:latin typeface="Arial" pitchFamily="34" charset="0"/>
                <a:ea typeface="Arial" pitchFamily="34" charset="-122"/>
                <a:cs typeface="Arial" pitchFamily="34" charset="-120"/>
              </a:rPr>
              <a:t>ConvoTrainer  ·  Final Year Project</a:t>
            </a:r>
            <a:endParaRPr lang="en-US" sz="1000" dirty="0"/>
          </a:p>
        </p:txBody>
      </p:sp>
      <p:sp>
        <p:nvSpPr>
          <p:cNvPr id="36" name="Text 33"/>
          <p:cNvSpPr/>
          <p:nvPr/>
        </p:nvSpPr>
        <p:spPr>
          <a:xfrm>
            <a:off x="10710367" y="6382512"/>
            <a:ext cx="914400" cy="274320"/>
          </a:xfrm>
          <a:prstGeom prst="rect">
            <a:avLst/>
          </a:prstGeom>
          <a:noFill/>
          <a:ln/>
        </p:spPr>
        <p:txBody>
          <a:bodyPr wrap="square" rtlCol="0" anchor="ctr"/>
          <a:lstStyle/>
          <a:p>
            <a:pPr algn="r" indent="0" marL="0">
              <a:buNone/>
            </a:pPr>
            <a:r>
              <a:rPr lang="en-US" sz="1000" dirty="0">
                <a:solidFill>
                  <a:srgbClr val="7A8593"/>
                </a:solidFill>
                <a:latin typeface="Arial" pitchFamily="34" charset="0"/>
                <a:ea typeface="Arial" pitchFamily="34" charset="-122"/>
                <a:cs typeface="Arial"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20624"/>
            <a:ext cx="128016" cy="128016"/>
          </a:xfrm>
          <a:prstGeom prst="rect">
            <a:avLst/>
          </a:prstGeom>
          <a:solidFill>
            <a:srgbClr val="1D4ED8"/>
          </a:solidFill>
          <a:ln/>
        </p:spPr>
      </p:sp>
      <p:sp>
        <p:nvSpPr>
          <p:cNvPr id="3" name="Text 1"/>
          <p:cNvSpPr/>
          <p:nvPr/>
        </p:nvSpPr>
        <p:spPr>
          <a:xfrm>
            <a:off x="804672" y="365760"/>
            <a:ext cx="10820095" cy="237744"/>
          </a:xfrm>
          <a:prstGeom prst="rect">
            <a:avLst/>
          </a:prstGeom>
          <a:noFill/>
          <a:ln/>
        </p:spPr>
        <p:txBody>
          <a:bodyPr wrap="square" rtlCol="0" anchor="ctr"/>
          <a:lstStyle/>
          <a:p>
            <a:pPr indent="0" marL="0">
              <a:buNone/>
            </a:pPr>
            <a:r>
              <a:rPr lang="en-US" sz="1100" b="1" spc="160" kern="0" dirty="0">
                <a:solidFill>
                  <a:srgbClr val="1D4ED8"/>
                </a:solidFill>
                <a:latin typeface="Arial" pitchFamily="34" charset="0"/>
                <a:ea typeface="Arial" pitchFamily="34" charset="-122"/>
                <a:cs typeface="Arial" pitchFamily="34" charset="-120"/>
              </a:rPr>
              <a:t>THE CLAIM I CAN PROVE</a:t>
            </a:r>
            <a:endParaRPr lang="en-US" sz="1100" dirty="0"/>
          </a:p>
        </p:txBody>
      </p:sp>
      <p:sp>
        <p:nvSpPr>
          <p:cNvPr id="4" name="Text 2"/>
          <p:cNvSpPr/>
          <p:nvPr/>
        </p:nvSpPr>
        <p:spPr>
          <a:xfrm>
            <a:off x="566928" y="694944"/>
            <a:ext cx="11057839" cy="566928"/>
          </a:xfrm>
          <a:prstGeom prst="rect">
            <a:avLst/>
          </a:prstGeom>
          <a:noFill/>
          <a:ln/>
        </p:spPr>
        <p:txBody>
          <a:bodyPr wrap="square" rtlCol="0" anchor="ctr"/>
          <a:lstStyle/>
          <a:p>
            <a:pPr indent="0" marL="0">
              <a:buNone/>
            </a:pPr>
            <a:r>
              <a:rPr lang="en-US" sz="3000" b="1" dirty="0">
                <a:solidFill>
                  <a:srgbClr val="14161A"/>
                </a:solidFill>
                <a:latin typeface="Arial" pitchFamily="34" charset="0"/>
                <a:ea typeface="Arial" pitchFamily="34" charset="-122"/>
                <a:cs typeface="Arial" pitchFamily="34" charset="-120"/>
              </a:rPr>
              <a:t>The interviewer's persona changes the questioning — arithmetically.</a:t>
            </a:r>
            <a:endParaRPr lang="en-US" sz="3000" dirty="0"/>
          </a:p>
        </p:txBody>
      </p:sp>
      <p:sp>
        <p:nvSpPr>
          <p:cNvPr id="5" name="Text 3"/>
          <p:cNvSpPr/>
          <p:nvPr/>
        </p:nvSpPr>
        <p:spPr>
          <a:xfrm>
            <a:off x="566928" y="1627632"/>
            <a:ext cx="5577840" cy="274320"/>
          </a:xfrm>
          <a:prstGeom prst="rect">
            <a:avLst/>
          </a:prstGeom>
          <a:noFill/>
          <a:ln/>
        </p:spPr>
        <p:txBody>
          <a:bodyPr wrap="square" rtlCol="0" anchor="ctr"/>
          <a:lstStyle/>
          <a:p>
            <a:pPr indent="0" marL="0">
              <a:buNone/>
            </a:pPr>
            <a:r>
              <a:rPr lang="en-US" sz="1300" b="1" dirty="0">
                <a:solidFill>
                  <a:srgbClr val="14161A"/>
                </a:solidFill>
                <a:latin typeface="Arial" pitchFamily="34" charset="0"/>
                <a:ea typeface="Arial" pitchFamily="34" charset="-122"/>
                <a:cs typeface="Arial" pitchFamily="34" charset="-120"/>
              </a:rPr>
              <a:t>A persona reaches the model down two paths.</a:t>
            </a:r>
            <a:endParaRPr lang="en-US" sz="1300" dirty="0"/>
          </a:p>
        </p:txBody>
      </p:sp>
      <p:sp>
        <p:nvSpPr>
          <p:cNvPr id="6" name="Shape 4"/>
          <p:cNvSpPr/>
          <p:nvPr/>
        </p:nvSpPr>
        <p:spPr>
          <a:xfrm>
            <a:off x="566928" y="1975104"/>
            <a:ext cx="5577840" cy="841248"/>
          </a:xfrm>
          <a:prstGeom prst="rect">
            <a:avLst/>
          </a:prstGeom>
          <a:solidFill>
            <a:srgbClr val="F5F7FA"/>
          </a:solidFill>
          <a:ln w="12700">
            <a:solidFill>
              <a:srgbClr val="F5F7FA"/>
            </a:solidFill>
            <a:prstDash val="solid"/>
          </a:ln>
        </p:spPr>
      </p:sp>
      <p:sp>
        <p:nvSpPr>
          <p:cNvPr id="7" name="Shape 5"/>
          <p:cNvSpPr/>
          <p:nvPr/>
        </p:nvSpPr>
        <p:spPr>
          <a:xfrm>
            <a:off x="566928" y="1975104"/>
            <a:ext cx="50292" cy="841248"/>
          </a:xfrm>
          <a:prstGeom prst="rect">
            <a:avLst/>
          </a:prstGeom>
          <a:solidFill>
            <a:srgbClr val="7A8593"/>
          </a:solidFill>
          <a:ln w="12700">
            <a:solidFill>
              <a:srgbClr val="333333"/>
            </a:solidFill>
            <a:prstDash val="solid"/>
          </a:ln>
        </p:spPr>
      </p:sp>
      <p:sp>
        <p:nvSpPr>
          <p:cNvPr id="8" name="Text 6"/>
          <p:cNvSpPr/>
          <p:nvPr/>
        </p:nvSpPr>
        <p:spPr>
          <a:xfrm>
            <a:off x="822960" y="2066544"/>
            <a:ext cx="5157216" cy="658368"/>
          </a:xfrm>
          <a:prstGeom prst="rect">
            <a:avLst/>
          </a:prstGeom>
          <a:noFill/>
          <a:ln/>
        </p:spPr>
        <p:txBody>
          <a:bodyPr wrap="square" rtlCol="0" anchor="t"/>
          <a:lstStyle/>
          <a:p>
            <a:pPr indent="0" marL="0">
              <a:lnSpc>
                <a:spcPts val="1600"/>
              </a:lnSpc>
              <a:buNone/>
            </a:pPr>
            <a:r>
              <a:rPr lang="en-US" sz="1150" b="1" dirty="0">
                <a:solidFill>
                  <a:srgbClr val="14161A"/>
                </a:solidFill>
                <a:latin typeface="Arial" pitchFamily="34" charset="0"/>
                <a:ea typeface="Arial" pitchFamily="34" charset="-122"/>
                <a:cs typeface="Arial" pitchFamily="34" charset="-120"/>
              </a:rPr>
              <a:t>Textual</a:t>
            </a:r>
            <a:pPr indent="0" marL="0">
              <a:lnSpc>
                <a:spcPts val="1600"/>
              </a:lnSpc>
              <a:buNone/>
            </a:pPr>
            <a:r>
              <a:rPr lang="en-US" sz="1150" dirty="0">
                <a:solidFill>
                  <a:srgbClr val="3F4750"/>
                </a:solidFill>
                <a:latin typeface="Arial" pitchFamily="34" charset="0"/>
                <a:ea typeface="Arial" pitchFamily="34" charset="-122"/>
                <a:cs typeface="Arial" pitchFamily="34" charset="-120"/>
              </a:rPr>
              <a:t>  — each dial becomes a sentence in the system prompt. Provable only by measuring the output.</a:t>
            </a:r>
            <a:endParaRPr lang="en-US" sz="1150" dirty="0"/>
          </a:p>
        </p:txBody>
      </p:sp>
      <p:sp>
        <p:nvSpPr>
          <p:cNvPr id="9" name="Shape 7"/>
          <p:cNvSpPr/>
          <p:nvPr/>
        </p:nvSpPr>
        <p:spPr>
          <a:xfrm>
            <a:off x="566928" y="2889504"/>
            <a:ext cx="5577840" cy="1627632"/>
          </a:xfrm>
          <a:prstGeom prst="rect">
            <a:avLst/>
          </a:prstGeom>
          <a:solidFill>
            <a:srgbClr val="EAF0FE"/>
          </a:solidFill>
          <a:ln w="12700">
            <a:solidFill>
              <a:srgbClr val="EAF0FE"/>
            </a:solidFill>
            <a:prstDash val="solid"/>
          </a:ln>
        </p:spPr>
      </p:sp>
      <p:sp>
        <p:nvSpPr>
          <p:cNvPr id="10" name="Shape 8"/>
          <p:cNvSpPr/>
          <p:nvPr/>
        </p:nvSpPr>
        <p:spPr>
          <a:xfrm>
            <a:off x="566928" y="2889504"/>
            <a:ext cx="50292" cy="1627632"/>
          </a:xfrm>
          <a:prstGeom prst="rect">
            <a:avLst/>
          </a:prstGeom>
          <a:solidFill>
            <a:srgbClr val="1D4ED8"/>
          </a:solidFill>
          <a:ln w="12700">
            <a:solidFill>
              <a:srgbClr val="333333"/>
            </a:solidFill>
            <a:prstDash val="solid"/>
          </a:ln>
        </p:spPr>
      </p:sp>
      <p:sp>
        <p:nvSpPr>
          <p:cNvPr id="11" name="Text 9"/>
          <p:cNvSpPr/>
          <p:nvPr/>
        </p:nvSpPr>
        <p:spPr>
          <a:xfrm>
            <a:off x="822960" y="2962656"/>
            <a:ext cx="5157216" cy="457200"/>
          </a:xfrm>
          <a:prstGeom prst="rect">
            <a:avLst/>
          </a:prstGeom>
          <a:noFill/>
          <a:ln/>
        </p:spPr>
        <p:txBody>
          <a:bodyPr wrap="square" rtlCol="0" anchor="t"/>
          <a:lstStyle/>
          <a:p>
            <a:pPr indent="0" marL="0">
              <a:lnSpc>
                <a:spcPts val="1600"/>
              </a:lnSpc>
              <a:buNone/>
            </a:pPr>
            <a:r>
              <a:rPr lang="en-US" sz="1150" b="1" dirty="0">
                <a:solidFill>
                  <a:srgbClr val="1D4ED8"/>
                </a:solidFill>
                <a:latin typeface="Arial" pitchFamily="34" charset="0"/>
                <a:ea typeface="Arial" pitchFamily="34" charset="-122"/>
                <a:cs typeface="Arial" pitchFamily="34" charset="-120"/>
              </a:rPr>
              <a:t>Numeric</a:t>
            </a:r>
            <a:pPr indent="0" marL="0">
              <a:lnSpc>
                <a:spcPts val="1600"/>
              </a:lnSpc>
              <a:buNone/>
            </a:pPr>
            <a:r>
              <a:rPr lang="en-US" sz="1150" dirty="0">
                <a:solidFill>
                  <a:srgbClr val="3F4750"/>
                </a:solidFill>
                <a:latin typeface="Arial" pitchFamily="34" charset="0"/>
                <a:ea typeface="Arial" pitchFamily="34" charset="-122"/>
                <a:cs typeface="Arial" pitchFamily="34" charset="-120"/>
              </a:rPr>
              <a:t>  — the dials feed a formula whose result is injected as an explicit instruction:</a:t>
            </a:r>
            <a:endParaRPr lang="en-US" sz="1150" dirty="0"/>
          </a:p>
        </p:txBody>
      </p:sp>
      <p:sp>
        <p:nvSpPr>
          <p:cNvPr id="12" name="Text 10"/>
          <p:cNvSpPr/>
          <p:nvPr/>
        </p:nvSpPr>
        <p:spPr>
          <a:xfrm>
            <a:off x="822960" y="3438144"/>
            <a:ext cx="5157216" cy="457200"/>
          </a:xfrm>
          <a:prstGeom prst="rect">
            <a:avLst/>
          </a:prstGeom>
          <a:noFill/>
          <a:ln/>
        </p:spPr>
        <p:txBody>
          <a:bodyPr wrap="square" rtlCol="0" anchor="t"/>
          <a:lstStyle/>
          <a:p>
            <a:pPr indent="0" marL="0">
              <a:lnSpc>
                <a:spcPts val="1400"/>
              </a:lnSpc>
              <a:buNone/>
            </a:pPr>
            <a:r>
              <a:rPr lang="en-US" sz="1050" b="1" dirty="0">
                <a:solidFill>
                  <a:srgbClr val="14161A"/>
                </a:solidFill>
                <a:latin typeface="Courier New" pitchFamily="34" charset="0"/>
                <a:ea typeface="Courier New" pitchFamily="34" charset="-122"/>
                <a:cs typeface="Courier New" pitchFamily="34" charset="-120"/>
              </a:rPr>
              <a:t>difficulty = clamp 1..10 of</a:t>
            </a:r>
            <a:endParaRPr lang="en-US" sz="1050" dirty="0"/>
          </a:p>
          <a:p>
            <a:pPr indent="0" marL="0">
              <a:lnSpc>
                <a:spcPts val="1400"/>
              </a:lnSpc>
              <a:buNone/>
            </a:pPr>
            <a:r>
              <a:rPr lang="en-US" sz="1050" b="1" dirty="0">
                <a:solidFill>
                  <a:srgbClr val="14161A"/>
                </a:solidFill>
                <a:latin typeface="Courier New" pitchFamily="34" charset="0"/>
                <a:ea typeface="Courier New" pitchFamily="34" charset="-122"/>
                <a:cs typeface="Courier New" pitchFamily="34" charset="-120"/>
              </a:rPr>
              <a:t>  round( base + repetitionBoost + (strictness − warmth) / 4 )</a:t>
            </a:r>
            <a:endParaRPr lang="en-US" sz="1050" dirty="0"/>
          </a:p>
        </p:txBody>
      </p:sp>
      <p:sp>
        <p:nvSpPr>
          <p:cNvPr id="13" name="Text 11"/>
          <p:cNvSpPr/>
          <p:nvPr/>
        </p:nvSpPr>
        <p:spPr>
          <a:xfrm>
            <a:off x="822960" y="3895344"/>
            <a:ext cx="5157216" cy="237744"/>
          </a:xfrm>
          <a:prstGeom prst="rect">
            <a:avLst/>
          </a:prstGeom>
          <a:noFill/>
          <a:ln/>
        </p:spPr>
        <p:txBody>
          <a:bodyPr wrap="square" rtlCol="0" anchor="ctr"/>
          <a:lstStyle/>
          <a:p>
            <a:pPr indent="0" marL="0">
              <a:buNone/>
            </a:pPr>
            <a:r>
              <a:rPr lang="en-US" sz="1100" dirty="0">
                <a:solidFill>
                  <a:srgbClr val="1D4ED8"/>
                </a:solidFill>
                <a:latin typeface="Courier New" pitchFamily="34" charset="0"/>
                <a:ea typeface="Courier New" pitchFamily="34" charset="-122"/>
                <a:cs typeface="Courier New" pitchFamily="34" charset="-120"/>
              </a:rPr>
              <a:t>→  “Aim for difficulty N/10”</a:t>
            </a:r>
            <a:endParaRPr lang="en-US" sz="1100" dirty="0"/>
          </a:p>
        </p:txBody>
      </p:sp>
      <p:sp>
        <p:nvSpPr>
          <p:cNvPr id="14" name="Text 12"/>
          <p:cNvSpPr/>
          <p:nvPr/>
        </p:nvSpPr>
        <p:spPr>
          <a:xfrm>
            <a:off x="822960" y="4114800"/>
            <a:ext cx="5157216" cy="237744"/>
          </a:xfrm>
          <a:prstGeom prst="rect">
            <a:avLst/>
          </a:prstGeom>
          <a:noFill/>
          <a:ln/>
        </p:spPr>
        <p:txBody>
          <a:bodyPr wrap="square" rtlCol="0" anchor="ctr"/>
          <a:lstStyle/>
          <a:p>
            <a:pPr indent="0" marL="0">
              <a:buNone/>
            </a:pPr>
            <a:r>
              <a:rPr lang="en-US" sz="1100" i="1" dirty="0">
                <a:solidFill>
                  <a:srgbClr val="3F4750"/>
                </a:solidFill>
                <a:latin typeface="Arial" pitchFamily="34" charset="0"/>
                <a:ea typeface="Arial" pitchFamily="34" charset="-122"/>
                <a:cs typeface="Arial" pitchFamily="34" charset="-120"/>
              </a:rPr>
              <a:t>No model call. Reproduces exactly, offline, every run.</a:t>
            </a:r>
            <a:endParaRPr lang="en-US" sz="1100" dirty="0"/>
          </a:p>
        </p:txBody>
      </p:sp>
      <p:sp>
        <p:nvSpPr>
          <p:cNvPr id="15" name="Text 13"/>
          <p:cNvSpPr/>
          <p:nvPr/>
        </p:nvSpPr>
        <p:spPr>
          <a:xfrm>
            <a:off x="6510528" y="1627632"/>
            <a:ext cx="5114239" cy="274320"/>
          </a:xfrm>
          <a:prstGeom prst="rect">
            <a:avLst/>
          </a:prstGeom>
          <a:noFill/>
          <a:ln/>
        </p:spPr>
        <p:txBody>
          <a:bodyPr wrap="square" rtlCol="0" anchor="ctr"/>
          <a:lstStyle/>
          <a:p>
            <a:pPr indent="0" marL="0">
              <a:buNone/>
            </a:pPr>
            <a:r>
              <a:rPr lang="en-US" sz="1200" b="1" dirty="0">
                <a:solidFill>
                  <a:srgbClr val="14161A"/>
                </a:solidFill>
                <a:latin typeface="Courier New" pitchFamily="34" charset="0"/>
                <a:ea typeface="Courier New" pitchFamily="34" charset="-122"/>
                <a:cs typeface="Courier New" pitchFamily="34" charset="-120"/>
              </a:rPr>
              <a:t>npm run eval:persona</a:t>
            </a:r>
            <a:endParaRPr lang="en-US" sz="1200" dirty="0"/>
          </a:p>
        </p:txBody>
      </p:sp>
      <p:sp>
        <p:nvSpPr>
          <p:cNvPr id="16" name="Shape 14"/>
          <p:cNvSpPr/>
          <p:nvPr/>
        </p:nvSpPr>
        <p:spPr>
          <a:xfrm>
            <a:off x="6510528" y="1975104"/>
            <a:ext cx="5114239" cy="2468880"/>
          </a:xfrm>
          <a:prstGeom prst="rect">
            <a:avLst/>
          </a:prstGeom>
          <a:solidFill>
            <a:srgbClr val="111418"/>
          </a:solidFill>
          <a:ln w="12700">
            <a:solidFill>
              <a:srgbClr val="333333"/>
            </a:solidFill>
            <a:prstDash val="solid"/>
          </a:ln>
        </p:spPr>
      </p:sp>
      <p:sp>
        <p:nvSpPr>
          <p:cNvPr id="17" name="Text 15"/>
          <p:cNvSpPr/>
          <p:nvPr/>
        </p:nvSpPr>
        <p:spPr>
          <a:xfrm>
            <a:off x="6675120" y="2084832"/>
            <a:ext cx="4785055" cy="2249424"/>
          </a:xfrm>
          <a:prstGeom prst="rect">
            <a:avLst/>
          </a:prstGeom>
          <a:noFill/>
          <a:ln/>
        </p:spPr>
        <p:txBody>
          <a:bodyPr wrap="square" rtlCol="0" anchor="t"/>
          <a:lstStyle/>
          <a:p>
            <a:pPr indent="0" marL="0">
              <a:lnSpc>
                <a:spcPts val="1474"/>
              </a:lnSpc>
              <a:buNone/>
            </a:pPr>
            <a:r>
              <a:rPr lang="en-US" sz="1100" dirty="0">
                <a:solidFill>
                  <a:srgbClr val="E6EAF0"/>
                </a:solidFill>
                <a:latin typeface="Courier New" pitchFamily="34" charset="0"/>
                <a:ea typeface="Courier New" pitchFamily="34" charset="-122"/>
                <a:cs typeface="Courier New" pitchFamily="34" charset="-120"/>
              </a:rPr>
              <a:t>Held constant: same question, same answer,</a:t>
            </a:r>
            <a:endParaRPr lang="en-US" sz="1100" dirty="0"/>
          </a:p>
          <a:p>
            <a:pPr indent="0" marL="0">
              <a:lnSpc>
                <a:spcPts val="1474"/>
              </a:lnSpc>
              <a:buNone/>
            </a:pPr>
            <a:r>
              <a:rPr lang="en-US" sz="1100" dirty="0">
                <a:solidFill>
                  <a:srgbClr val="E6EAF0"/>
                </a:solidFill>
                <a:latin typeface="Courier New" pitchFamily="34" charset="0"/>
                <a:ea typeface="Courier New" pitchFamily="34" charset="-122"/>
                <a:cs typeface="Courier New" pitchFamily="34" charset="-120"/>
              </a:rPr>
              <a:t>same round type. Only the persona differs.</a:t>
            </a:r>
            <a:endParaRPr lang="en-US" sz="1100" dirty="0"/>
          </a:p>
          <a:p>
            <a:pPr indent="0" marL="0">
              <a:lnSpc>
                <a:spcPts val="1474"/>
              </a:lnSpc>
              <a:buNone/>
            </a:pPr>
            <a:endParaRPr lang="en-US" sz="1100" dirty="0"/>
          </a:p>
          <a:p>
            <a:pPr indent="0" marL="0">
              <a:lnSpc>
                <a:spcPts val="1474"/>
              </a:lnSpc>
              <a:buNone/>
            </a:pPr>
            <a:r>
              <a:rPr lang="en-US" sz="1100" dirty="0">
                <a:solidFill>
                  <a:srgbClr val="E6EAF0"/>
                </a:solidFill>
                <a:latin typeface="Courier New" pitchFamily="34" charset="0"/>
                <a:ea typeface="Courier New" pitchFamily="34" charset="-122"/>
                <a:cs typeface="Courier New" pitchFamily="34" charset="-120"/>
              </a:rPr>
              <a:t>--- follow-up difficulty on the SAME answer ---</a:t>
            </a:r>
            <a:endParaRPr lang="en-US" sz="1100" dirty="0"/>
          </a:p>
          <a:p>
            <a:pPr indent="0" marL="0">
              <a:lnSpc>
                <a:spcPts val="1474"/>
              </a:lnSpc>
              <a:buNone/>
            </a:pPr>
            <a:r>
              <a:rPr lang="en-US" sz="1100" dirty="0">
                <a:solidFill>
                  <a:srgbClr val="E6EAF0"/>
                </a:solidFill>
                <a:latin typeface="Courier New" pitchFamily="34" charset="0"/>
                <a:ea typeface="Courier New" pitchFamily="34" charset="-122"/>
                <a:cs typeface="Courier New" pitchFamily="34" charset="-120"/>
              </a:rPr>
              <a:t>  Yuki Tanaka            7/10</a:t>
            </a:r>
            <a:endParaRPr lang="en-US" sz="1100" dirty="0"/>
          </a:p>
          <a:p>
            <a:pPr indent="0" marL="0">
              <a:lnSpc>
                <a:spcPts val="1474"/>
              </a:lnSpc>
              <a:buNone/>
            </a:pPr>
            <a:r>
              <a:rPr lang="en-US" sz="1100" dirty="0">
                <a:solidFill>
                  <a:srgbClr val="E6EAF0"/>
                </a:solidFill>
                <a:latin typeface="Courier New" pitchFamily="34" charset="0"/>
                <a:ea typeface="Courier New" pitchFamily="34" charset="-122"/>
                <a:cs typeface="Courier New" pitchFamily="34" charset="-120"/>
              </a:rPr>
              <a:t>    strictness 9 · warmth 4 · pushback 9</a:t>
            </a:r>
            <a:endParaRPr lang="en-US" sz="1100" dirty="0"/>
          </a:p>
          <a:p>
            <a:pPr indent="0" marL="0">
              <a:lnSpc>
                <a:spcPts val="1474"/>
              </a:lnSpc>
              <a:buNone/>
            </a:pPr>
            <a:r>
              <a:rPr lang="en-US" sz="1100" dirty="0">
                <a:solidFill>
                  <a:srgbClr val="E6EAF0"/>
                </a:solidFill>
                <a:latin typeface="Courier New" pitchFamily="34" charset="0"/>
                <a:ea typeface="Courier New" pitchFamily="34" charset="-122"/>
                <a:cs typeface="Courier New" pitchFamily="34" charset="-120"/>
              </a:rPr>
              <a:t>  Isabella Rodriguez     5/10</a:t>
            </a:r>
            <a:endParaRPr lang="en-US" sz="1100" dirty="0"/>
          </a:p>
          <a:p>
            <a:pPr indent="0" marL="0">
              <a:lnSpc>
                <a:spcPts val="1474"/>
              </a:lnSpc>
              <a:buNone/>
            </a:pPr>
            <a:r>
              <a:rPr lang="en-US" sz="1100" dirty="0">
                <a:solidFill>
                  <a:srgbClr val="E6EAF0"/>
                </a:solidFill>
                <a:latin typeface="Courier New" pitchFamily="34" charset="0"/>
                <a:ea typeface="Courier New" pitchFamily="34" charset="-122"/>
                <a:cs typeface="Courier New" pitchFamily="34" charset="-120"/>
              </a:rPr>
              <a:t>    strictness 6 · warmth 9 · pushback 4</a:t>
            </a:r>
            <a:endParaRPr lang="en-US" sz="1100" dirty="0"/>
          </a:p>
          <a:p>
            <a:pPr indent="0" marL="0">
              <a:lnSpc>
                <a:spcPts val="1474"/>
              </a:lnSpc>
              <a:buNone/>
            </a:pPr>
            <a:r>
              <a:rPr lang="en-US" sz="1100" dirty="0">
                <a:solidFill>
                  <a:srgbClr val="E6EAF0"/>
                </a:solidFill>
                <a:latin typeface="Courier New" pitchFamily="34" charset="0"/>
                <a:ea typeface="Courier New" pitchFamily="34" charset="-122"/>
                <a:cs typeface="Courier New" pitchFamily="34" charset="-120"/>
              </a:rPr>
              <a:t>  difference             2 points</a:t>
            </a:r>
            <a:endParaRPr lang="en-US" sz="1100" dirty="0"/>
          </a:p>
        </p:txBody>
      </p:sp>
      <p:sp>
        <p:nvSpPr>
          <p:cNvPr id="18" name="Shape 16"/>
          <p:cNvSpPr/>
          <p:nvPr/>
        </p:nvSpPr>
        <p:spPr>
          <a:xfrm>
            <a:off x="566928" y="4590288"/>
            <a:ext cx="11057839" cy="713232"/>
          </a:xfrm>
          <a:prstGeom prst="rect">
            <a:avLst/>
          </a:prstGeom>
          <a:solidFill>
            <a:srgbClr val="EAF0FE"/>
          </a:solidFill>
          <a:ln w="12700">
            <a:solidFill>
              <a:srgbClr val="EAF0FE"/>
            </a:solidFill>
            <a:prstDash val="solid"/>
          </a:ln>
        </p:spPr>
      </p:sp>
      <p:sp>
        <p:nvSpPr>
          <p:cNvPr id="19" name="Shape 17"/>
          <p:cNvSpPr/>
          <p:nvPr/>
        </p:nvSpPr>
        <p:spPr>
          <a:xfrm>
            <a:off x="566928" y="4590288"/>
            <a:ext cx="50292" cy="713232"/>
          </a:xfrm>
          <a:prstGeom prst="rect">
            <a:avLst/>
          </a:prstGeom>
          <a:solidFill>
            <a:srgbClr val="1D4ED8"/>
          </a:solidFill>
          <a:ln w="12700">
            <a:solidFill>
              <a:srgbClr val="333333"/>
            </a:solidFill>
            <a:prstDash val="solid"/>
          </a:ln>
        </p:spPr>
      </p:sp>
      <p:sp>
        <p:nvSpPr>
          <p:cNvPr id="20" name="Text 18"/>
          <p:cNvSpPr/>
          <p:nvPr/>
        </p:nvSpPr>
        <p:spPr>
          <a:xfrm>
            <a:off x="877824" y="4590288"/>
            <a:ext cx="10509199" cy="713232"/>
          </a:xfrm>
          <a:prstGeom prst="rect">
            <a:avLst/>
          </a:prstGeom>
          <a:noFill/>
          <a:ln/>
        </p:spPr>
        <p:txBody>
          <a:bodyPr wrap="square" rtlCol="0" anchor="ctr"/>
          <a:lstStyle/>
          <a:p>
            <a:pPr indent="0" marL="0">
              <a:buNone/>
            </a:pPr>
            <a:r>
              <a:rPr lang="en-US" sz="1550" b="1" dirty="0">
                <a:solidFill>
                  <a:srgbClr val="14161A"/>
                </a:solidFill>
                <a:latin typeface="Arial" pitchFamily="34" charset="0"/>
                <a:ea typeface="Arial" pitchFamily="34" charset="-122"/>
                <a:cs typeface="Arial" pitchFamily="34" charset="-120"/>
              </a:rPr>
              <a:t>Not a sample from a stochastic model — a computation. You can do the arithmetic by hand and get the same number.</a:t>
            </a:r>
            <a:endParaRPr lang="en-US" sz="1550" dirty="0"/>
          </a:p>
        </p:txBody>
      </p:sp>
      <p:sp>
        <p:nvSpPr>
          <p:cNvPr id="21" name="Text 19"/>
          <p:cNvSpPr/>
          <p:nvPr/>
        </p:nvSpPr>
        <p:spPr>
          <a:xfrm>
            <a:off x="566928" y="5431536"/>
            <a:ext cx="11057839" cy="566928"/>
          </a:xfrm>
          <a:prstGeom prst="rect">
            <a:avLst/>
          </a:prstGeom>
          <a:noFill/>
          <a:ln/>
        </p:spPr>
        <p:txBody>
          <a:bodyPr wrap="square" rtlCol="0" anchor="t"/>
          <a:lstStyle/>
          <a:p>
            <a:pPr indent="0" marL="0">
              <a:lnSpc>
                <a:spcPts val="1450"/>
              </a:lnSpc>
              <a:buNone/>
            </a:pPr>
            <a:r>
              <a:rPr lang="en-US" sz="1050" b="1" dirty="0">
                <a:solidFill>
                  <a:srgbClr val="9A5B08"/>
                </a:solidFill>
                <a:latin typeface="Arial" pitchFamily="34" charset="0"/>
                <a:ea typeface="Arial" pitchFamily="34" charset="-122"/>
                <a:cs typeface="Arial" pitchFamily="34" charset="-120"/>
              </a:rPr>
              <a:t>Stated limits:  </a:t>
            </a:r>
            <a:pPr indent="0" marL="0">
              <a:lnSpc>
                <a:spcPts val="1450"/>
              </a:lnSpc>
              <a:buNone/>
            </a:pPr>
            <a:r>
              <a:rPr lang="en-US" sz="1050" dirty="0">
                <a:solidFill>
                  <a:srgbClr val="3F4750"/>
                </a:solidFill>
                <a:latin typeface="Arial" pitchFamily="34" charset="0"/>
                <a:ea typeface="Arial" pitchFamily="34" charset="-122"/>
                <a:cs typeface="Arial" pitchFamily="34" charset="-120"/>
              </a:rPr>
              <a:t>the dials are coarse — strictness 1→10 moves difficulty only 5→7, and 5/6/7 emit byte-identical prompts. Scoring is persona-blind by design: a strict interviewer and a warm one grade the same answer identically.</a:t>
            </a:r>
            <a:endParaRPr lang="en-US" sz="1050" dirty="0"/>
          </a:p>
        </p:txBody>
      </p:sp>
      <p:sp>
        <p:nvSpPr>
          <p:cNvPr id="23" name="Text 20"/>
          <p:cNvSpPr/>
          <p:nvPr/>
        </p:nvSpPr>
        <p:spPr>
          <a:xfrm>
            <a:off x="566928" y="6382512"/>
            <a:ext cx="5486400" cy="274320"/>
          </a:xfrm>
          <a:prstGeom prst="rect">
            <a:avLst/>
          </a:prstGeom>
          <a:noFill/>
          <a:ln/>
        </p:spPr>
        <p:txBody>
          <a:bodyPr wrap="square" rtlCol="0" anchor="ctr"/>
          <a:lstStyle/>
          <a:p>
            <a:pPr indent="0" marL="0">
              <a:buNone/>
            </a:pPr>
            <a:r>
              <a:rPr lang="en-US" sz="1000" dirty="0">
                <a:solidFill>
                  <a:srgbClr val="7A8593"/>
                </a:solidFill>
                <a:latin typeface="Arial" pitchFamily="34" charset="0"/>
                <a:ea typeface="Arial" pitchFamily="34" charset="-122"/>
                <a:cs typeface="Arial" pitchFamily="34" charset="-120"/>
              </a:rPr>
              <a:t>ConvoTrainer  ·  Final Year Project</a:t>
            </a:r>
            <a:endParaRPr lang="en-US" sz="1000" dirty="0"/>
          </a:p>
        </p:txBody>
      </p:sp>
      <p:sp>
        <p:nvSpPr>
          <p:cNvPr id="24" name="Text 21"/>
          <p:cNvSpPr/>
          <p:nvPr/>
        </p:nvSpPr>
        <p:spPr>
          <a:xfrm>
            <a:off x="10710367" y="6382512"/>
            <a:ext cx="914400" cy="274320"/>
          </a:xfrm>
          <a:prstGeom prst="rect">
            <a:avLst/>
          </a:prstGeom>
          <a:noFill/>
          <a:ln/>
        </p:spPr>
        <p:txBody>
          <a:bodyPr wrap="square" rtlCol="0" anchor="ctr"/>
          <a:lstStyle/>
          <a:p>
            <a:pPr algn="r" indent="0" marL="0">
              <a:buNone/>
            </a:pPr>
            <a:r>
              <a:rPr lang="en-US" sz="1000" dirty="0">
                <a:solidFill>
                  <a:srgbClr val="7A8593"/>
                </a:solidFill>
                <a:latin typeface="Arial" pitchFamily="34" charset="0"/>
                <a:ea typeface="Arial" pitchFamily="34" charset="-122"/>
                <a:cs typeface="Arial"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20624"/>
            <a:ext cx="128016" cy="128016"/>
          </a:xfrm>
          <a:prstGeom prst="rect">
            <a:avLst/>
          </a:prstGeom>
          <a:solidFill>
            <a:srgbClr val="1D4ED8"/>
          </a:solidFill>
          <a:ln/>
        </p:spPr>
      </p:sp>
      <p:sp>
        <p:nvSpPr>
          <p:cNvPr id="3" name="Text 1"/>
          <p:cNvSpPr/>
          <p:nvPr/>
        </p:nvSpPr>
        <p:spPr>
          <a:xfrm>
            <a:off x="804672" y="365760"/>
            <a:ext cx="10820095" cy="237744"/>
          </a:xfrm>
          <a:prstGeom prst="rect">
            <a:avLst/>
          </a:prstGeom>
          <a:noFill/>
          <a:ln/>
        </p:spPr>
        <p:txBody>
          <a:bodyPr wrap="square" rtlCol="0" anchor="ctr"/>
          <a:lstStyle/>
          <a:p>
            <a:pPr indent="0" marL="0">
              <a:buNone/>
            </a:pPr>
            <a:r>
              <a:rPr lang="en-US" sz="1100" b="1" spc="160" kern="0" dirty="0">
                <a:solidFill>
                  <a:srgbClr val="1D4ED8"/>
                </a:solidFill>
                <a:latin typeface="Arial" pitchFamily="34" charset="0"/>
                <a:ea typeface="Arial" pitchFamily="34" charset="-122"/>
                <a:cs typeface="Arial" pitchFamily="34" charset="-120"/>
              </a:rPr>
              <a:t>ENGINEERING RIGOUR</a:t>
            </a:r>
            <a:endParaRPr lang="en-US" sz="1100" dirty="0"/>
          </a:p>
        </p:txBody>
      </p:sp>
      <p:sp>
        <p:nvSpPr>
          <p:cNvPr id="4" name="Text 2"/>
          <p:cNvSpPr/>
          <p:nvPr/>
        </p:nvSpPr>
        <p:spPr>
          <a:xfrm>
            <a:off x="566928" y="694944"/>
            <a:ext cx="11057839" cy="566928"/>
          </a:xfrm>
          <a:prstGeom prst="rect">
            <a:avLst/>
          </a:prstGeom>
          <a:noFill/>
          <a:ln/>
        </p:spPr>
        <p:txBody>
          <a:bodyPr wrap="square" rtlCol="0" anchor="ctr"/>
          <a:lstStyle/>
          <a:p>
            <a:pPr indent="0" marL="0">
              <a:buNone/>
            </a:pPr>
            <a:r>
              <a:rPr lang="en-US" sz="3000" b="1" dirty="0">
                <a:solidFill>
                  <a:srgbClr val="14161A"/>
                </a:solidFill>
                <a:latin typeface="Arial" pitchFamily="34" charset="0"/>
                <a:ea typeface="Arial" pitchFamily="34" charset="-122"/>
                <a:cs typeface="Arial" pitchFamily="34" charset="-120"/>
              </a:rPr>
              <a:t>Every model call is instrumented, so cost is a query — not a claim.</a:t>
            </a:r>
            <a:endParaRPr lang="en-US" sz="3000" dirty="0"/>
          </a:p>
        </p:txBody>
      </p:sp>
      <p:sp>
        <p:nvSpPr>
          <p:cNvPr id="5" name="Shape 3"/>
          <p:cNvSpPr/>
          <p:nvPr/>
        </p:nvSpPr>
        <p:spPr>
          <a:xfrm>
            <a:off x="566928" y="1645920"/>
            <a:ext cx="2021373" cy="603504"/>
          </a:xfrm>
          <a:prstGeom prst="rect">
            <a:avLst/>
          </a:prstGeom>
          <a:solidFill>
            <a:srgbClr val="F5F7FA"/>
          </a:solidFill>
          <a:ln w="12700">
            <a:solidFill>
              <a:srgbClr val="DFE4EA"/>
            </a:solidFill>
            <a:prstDash val="solid"/>
          </a:ln>
        </p:spPr>
      </p:sp>
      <p:sp>
        <p:nvSpPr>
          <p:cNvPr id="6" name="Text 4"/>
          <p:cNvSpPr/>
          <p:nvPr/>
        </p:nvSpPr>
        <p:spPr>
          <a:xfrm>
            <a:off x="640080" y="1645920"/>
            <a:ext cx="1875069" cy="603504"/>
          </a:xfrm>
          <a:prstGeom prst="rect">
            <a:avLst/>
          </a:prstGeom>
          <a:noFill/>
          <a:ln/>
        </p:spPr>
        <p:txBody>
          <a:bodyPr wrap="square" rtlCol="0" anchor="ctr"/>
          <a:lstStyle/>
          <a:p>
            <a:pPr algn="ctr" indent="0" marL="0">
              <a:lnSpc>
                <a:spcPts val="1200"/>
              </a:lnSpc>
              <a:buNone/>
            </a:pPr>
            <a:r>
              <a:rPr lang="en-US" sz="950" dirty="0">
                <a:solidFill>
                  <a:srgbClr val="3F4750"/>
                </a:solidFill>
                <a:latin typeface="Courier New" pitchFamily="34" charset="0"/>
                <a:ea typeface="Courier New" pitchFamily="34" charset="-122"/>
                <a:cs typeface="Courier New" pitchFamily="34" charset="-120"/>
              </a:rPr>
              <a:t>Every OpenAI call</a:t>
            </a:r>
            <a:endParaRPr lang="en-US" sz="950" dirty="0"/>
          </a:p>
        </p:txBody>
      </p:sp>
      <p:sp>
        <p:nvSpPr>
          <p:cNvPr id="7" name="Text 5"/>
          <p:cNvSpPr/>
          <p:nvPr/>
        </p:nvSpPr>
        <p:spPr>
          <a:xfrm>
            <a:off x="2588301" y="1792224"/>
            <a:ext cx="237744" cy="310896"/>
          </a:xfrm>
          <a:prstGeom prst="rect">
            <a:avLst/>
          </a:prstGeom>
          <a:noFill/>
          <a:ln/>
        </p:spPr>
        <p:txBody>
          <a:bodyPr wrap="square" rtlCol="0" anchor="ctr"/>
          <a:lstStyle/>
          <a:p>
            <a:pPr algn="ctr" indent="0" marL="0">
              <a:buNone/>
            </a:pPr>
            <a:r>
              <a:rPr lang="en-US" sz="1400" dirty="0">
                <a:solidFill>
                  <a:srgbClr val="7A8593"/>
                </a:solidFill>
                <a:latin typeface="Arial" pitchFamily="34" charset="0"/>
                <a:ea typeface="Arial" pitchFamily="34" charset="-122"/>
                <a:cs typeface="Arial" pitchFamily="34" charset="-120"/>
              </a:rPr>
              <a:t>▸</a:t>
            </a:r>
            <a:endParaRPr lang="en-US" sz="1400" dirty="0"/>
          </a:p>
        </p:txBody>
      </p:sp>
      <p:sp>
        <p:nvSpPr>
          <p:cNvPr id="8" name="Shape 6"/>
          <p:cNvSpPr/>
          <p:nvPr/>
        </p:nvSpPr>
        <p:spPr>
          <a:xfrm>
            <a:off x="2826045" y="1645920"/>
            <a:ext cx="2021373" cy="603504"/>
          </a:xfrm>
          <a:prstGeom prst="rect">
            <a:avLst/>
          </a:prstGeom>
          <a:solidFill>
            <a:srgbClr val="F5F7FA"/>
          </a:solidFill>
          <a:ln w="12700">
            <a:solidFill>
              <a:srgbClr val="DFE4EA"/>
            </a:solidFill>
            <a:prstDash val="solid"/>
          </a:ln>
        </p:spPr>
      </p:sp>
      <p:sp>
        <p:nvSpPr>
          <p:cNvPr id="9" name="Text 7"/>
          <p:cNvSpPr/>
          <p:nvPr/>
        </p:nvSpPr>
        <p:spPr>
          <a:xfrm>
            <a:off x="2899197" y="1645920"/>
            <a:ext cx="1875069" cy="603504"/>
          </a:xfrm>
          <a:prstGeom prst="rect">
            <a:avLst/>
          </a:prstGeom>
          <a:noFill/>
          <a:ln/>
        </p:spPr>
        <p:txBody>
          <a:bodyPr wrap="square" rtlCol="0" anchor="ctr"/>
          <a:lstStyle/>
          <a:p>
            <a:pPr algn="ctr" indent="0" marL="0">
              <a:lnSpc>
                <a:spcPts val="1200"/>
              </a:lnSpc>
              <a:buNone/>
            </a:pPr>
            <a:r>
              <a:rPr lang="en-US" sz="950" dirty="0">
                <a:solidFill>
                  <a:srgbClr val="3F4750"/>
                </a:solidFill>
                <a:latin typeface="Courier New" pitchFamily="34" charset="0"/>
                <a:ea typeface="Courier New" pitchFamily="34" charset="-122"/>
                <a:cs typeface="Courier New" pitchFamily="34" charset="-120"/>
              </a:rPr>
              <a:t>UsageCollector.record()</a:t>
            </a:r>
            <a:endParaRPr lang="en-US" sz="950" dirty="0"/>
          </a:p>
        </p:txBody>
      </p:sp>
      <p:sp>
        <p:nvSpPr>
          <p:cNvPr id="10" name="Text 8"/>
          <p:cNvSpPr/>
          <p:nvPr/>
        </p:nvSpPr>
        <p:spPr>
          <a:xfrm>
            <a:off x="4847417" y="1792224"/>
            <a:ext cx="237744" cy="310896"/>
          </a:xfrm>
          <a:prstGeom prst="rect">
            <a:avLst/>
          </a:prstGeom>
          <a:noFill/>
          <a:ln/>
        </p:spPr>
        <p:txBody>
          <a:bodyPr wrap="square" rtlCol="0" anchor="ctr"/>
          <a:lstStyle/>
          <a:p>
            <a:pPr algn="ctr" indent="0" marL="0">
              <a:buNone/>
            </a:pPr>
            <a:r>
              <a:rPr lang="en-US" sz="1400" dirty="0">
                <a:solidFill>
                  <a:srgbClr val="7A8593"/>
                </a:solidFill>
                <a:latin typeface="Arial" pitchFamily="34" charset="0"/>
                <a:ea typeface="Arial" pitchFamily="34" charset="-122"/>
                <a:cs typeface="Arial" pitchFamily="34" charset="-120"/>
              </a:rPr>
              <a:t>▸</a:t>
            </a:r>
            <a:endParaRPr lang="en-US" sz="1400" dirty="0"/>
          </a:p>
        </p:txBody>
      </p:sp>
      <p:sp>
        <p:nvSpPr>
          <p:cNvPr id="11" name="Shape 9"/>
          <p:cNvSpPr/>
          <p:nvPr/>
        </p:nvSpPr>
        <p:spPr>
          <a:xfrm>
            <a:off x="5085161" y="1645920"/>
            <a:ext cx="2021373" cy="603504"/>
          </a:xfrm>
          <a:prstGeom prst="rect">
            <a:avLst/>
          </a:prstGeom>
          <a:solidFill>
            <a:srgbClr val="F5F7FA"/>
          </a:solidFill>
          <a:ln w="12700">
            <a:solidFill>
              <a:srgbClr val="DFE4EA"/>
            </a:solidFill>
            <a:prstDash val="solid"/>
          </a:ln>
        </p:spPr>
      </p:sp>
      <p:sp>
        <p:nvSpPr>
          <p:cNvPr id="12" name="Text 10"/>
          <p:cNvSpPr/>
          <p:nvPr/>
        </p:nvSpPr>
        <p:spPr>
          <a:xfrm>
            <a:off x="5158313" y="1645920"/>
            <a:ext cx="1875069" cy="603504"/>
          </a:xfrm>
          <a:prstGeom prst="rect">
            <a:avLst/>
          </a:prstGeom>
          <a:noFill/>
          <a:ln/>
        </p:spPr>
        <p:txBody>
          <a:bodyPr wrap="square" rtlCol="0" anchor="ctr"/>
          <a:lstStyle/>
          <a:p>
            <a:pPr algn="ctr" indent="0" marL="0">
              <a:lnSpc>
                <a:spcPts val="1200"/>
              </a:lnSpc>
              <a:buNone/>
            </a:pPr>
            <a:r>
              <a:rPr lang="en-US" sz="950" dirty="0">
                <a:solidFill>
                  <a:srgbClr val="3F4750"/>
                </a:solidFill>
                <a:latin typeface="Courier New" pitchFamily="34" charset="0"/>
                <a:ea typeface="Courier New" pitchFamily="34" charset="-122"/>
                <a:cs typeface="Courier New" pitchFamily="34" charset="-120"/>
              </a:rPr>
              <a:t>one row in llm_usage</a:t>
            </a:r>
            <a:endParaRPr lang="en-US" sz="950" dirty="0"/>
          </a:p>
        </p:txBody>
      </p:sp>
      <p:sp>
        <p:nvSpPr>
          <p:cNvPr id="13" name="Text 11"/>
          <p:cNvSpPr/>
          <p:nvPr/>
        </p:nvSpPr>
        <p:spPr>
          <a:xfrm>
            <a:off x="7106534" y="1792224"/>
            <a:ext cx="237744" cy="310896"/>
          </a:xfrm>
          <a:prstGeom prst="rect">
            <a:avLst/>
          </a:prstGeom>
          <a:noFill/>
          <a:ln/>
        </p:spPr>
        <p:txBody>
          <a:bodyPr wrap="square" rtlCol="0" anchor="ctr"/>
          <a:lstStyle/>
          <a:p>
            <a:pPr algn="ctr" indent="0" marL="0">
              <a:buNone/>
            </a:pPr>
            <a:r>
              <a:rPr lang="en-US" sz="1400" dirty="0">
                <a:solidFill>
                  <a:srgbClr val="7A8593"/>
                </a:solidFill>
                <a:latin typeface="Arial" pitchFamily="34" charset="0"/>
                <a:ea typeface="Arial" pitchFamily="34" charset="-122"/>
                <a:cs typeface="Arial" pitchFamily="34" charset="-120"/>
              </a:rPr>
              <a:t>▸</a:t>
            </a:r>
            <a:endParaRPr lang="en-US" sz="1400" dirty="0"/>
          </a:p>
        </p:txBody>
      </p:sp>
      <p:sp>
        <p:nvSpPr>
          <p:cNvPr id="14" name="Shape 12"/>
          <p:cNvSpPr/>
          <p:nvPr/>
        </p:nvSpPr>
        <p:spPr>
          <a:xfrm>
            <a:off x="7344278" y="1645920"/>
            <a:ext cx="2021373" cy="603504"/>
          </a:xfrm>
          <a:prstGeom prst="rect">
            <a:avLst/>
          </a:prstGeom>
          <a:solidFill>
            <a:srgbClr val="F5F7FA"/>
          </a:solidFill>
          <a:ln w="12700">
            <a:solidFill>
              <a:srgbClr val="DFE4EA"/>
            </a:solidFill>
            <a:prstDash val="solid"/>
          </a:ln>
        </p:spPr>
      </p:sp>
      <p:sp>
        <p:nvSpPr>
          <p:cNvPr id="15" name="Text 13"/>
          <p:cNvSpPr/>
          <p:nvPr/>
        </p:nvSpPr>
        <p:spPr>
          <a:xfrm>
            <a:off x="7417430" y="1645920"/>
            <a:ext cx="1875069" cy="603504"/>
          </a:xfrm>
          <a:prstGeom prst="rect">
            <a:avLst/>
          </a:prstGeom>
          <a:noFill/>
          <a:ln/>
        </p:spPr>
        <p:txBody>
          <a:bodyPr wrap="square" rtlCol="0" anchor="ctr"/>
          <a:lstStyle/>
          <a:p>
            <a:pPr algn="ctr" indent="0" marL="0">
              <a:lnSpc>
                <a:spcPts val="1200"/>
              </a:lnSpc>
              <a:buNone/>
            </a:pPr>
            <a:r>
              <a:rPr lang="en-US" sz="950" dirty="0">
                <a:solidFill>
                  <a:srgbClr val="3F4750"/>
                </a:solidFill>
                <a:latin typeface="Courier New" pitchFamily="34" charset="0"/>
                <a:ea typeface="Courier New" pitchFamily="34" charset="-122"/>
                <a:cs typeface="Courier New" pitchFamily="34" charset="-120"/>
              </a:rPr>
              <a:t>npm run cost-report</a:t>
            </a:r>
            <a:endParaRPr lang="en-US" sz="950" dirty="0"/>
          </a:p>
        </p:txBody>
      </p:sp>
      <p:sp>
        <p:nvSpPr>
          <p:cNvPr id="16" name="Text 14"/>
          <p:cNvSpPr/>
          <p:nvPr/>
        </p:nvSpPr>
        <p:spPr>
          <a:xfrm>
            <a:off x="9365651" y="1792224"/>
            <a:ext cx="237744" cy="310896"/>
          </a:xfrm>
          <a:prstGeom prst="rect">
            <a:avLst/>
          </a:prstGeom>
          <a:noFill/>
          <a:ln/>
        </p:spPr>
        <p:txBody>
          <a:bodyPr wrap="square" rtlCol="0" anchor="ctr"/>
          <a:lstStyle/>
          <a:p>
            <a:pPr algn="ctr" indent="0" marL="0">
              <a:buNone/>
            </a:pPr>
            <a:r>
              <a:rPr lang="en-US" sz="1400" dirty="0">
                <a:solidFill>
                  <a:srgbClr val="7A8593"/>
                </a:solidFill>
                <a:latin typeface="Arial" pitchFamily="34" charset="0"/>
                <a:ea typeface="Arial" pitchFamily="34" charset="-122"/>
                <a:cs typeface="Arial" pitchFamily="34" charset="-120"/>
              </a:rPr>
              <a:t>▸</a:t>
            </a:r>
            <a:endParaRPr lang="en-US" sz="1400" dirty="0"/>
          </a:p>
        </p:txBody>
      </p:sp>
      <p:sp>
        <p:nvSpPr>
          <p:cNvPr id="17" name="Shape 15"/>
          <p:cNvSpPr/>
          <p:nvPr/>
        </p:nvSpPr>
        <p:spPr>
          <a:xfrm>
            <a:off x="9603395" y="1645920"/>
            <a:ext cx="2021373" cy="603504"/>
          </a:xfrm>
          <a:prstGeom prst="rect">
            <a:avLst/>
          </a:prstGeom>
          <a:solidFill>
            <a:srgbClr val="EAF0FE"/>
          </a:solidFill>
          <a:ln w="12700">
            <a:solidFill>
              <a:srgbClr val="1D4ED8"/>
            </a:solidFill>
            <a:prstDash val="solid"/>
          </a:ln>
        </p:spPr>
      </p:sp>
      <p:sp>
        <p:nvSpPr>
          <p:cNvPr id="18" name="Text 16"/>
          <p:cNvSpPr/>
          <p:nvPr/>
        </p:nvSpPr>
        <p:spPr>
          <a:xfrm>
            <a:off x="9676547" y="1645920"/>
            <a:ext cx="1875069" cy="603504"/>
          </a:xfrm>
          <a:prstGeom prst="rect">
            <a:avLst/>
          </a:prstGeom>
          <a:noFill/>
          <a:ln/>
        </p:spPr>
        <p:txBody>
          <a:bodyPr wrap="square" rtlCol="0" anchor="ctr"/>
          <a:lstStyle/>
          <a:p>
            <a:pPr algn="ctr" indent="0" marL="0">
              <a:lnSpc>
                <a:spcPts val="1200"/>
              </a:lnSpc>
              <a:buNone/>
            </a:pPr>
            <a:r>
              <a:rPr lang="en-US" sz="950" dirty="0">
                <a:solidFill>
                  <a:srgbClr val="1D4ED8"/>
                </a:solidFill>
                <a:latin typeface="Courier New" pitchFamily="34" charset="0"/>
                <a:ea typeface="Courier New" pitchFamily="34" charset="-122"/>
                <a:cs typeface="Courier New" pitchFamily="34" charset="-120"/>
              </a:rPr>
              <a:t>tokens · cache hits · $</a:t>
            </a:r>
            <a:endParaRPr lang="en-US" sz="950" dirty="0"/>
          </a:p>
        </p:txBody>
      </p:sp>
      <p:sp>
        <p:nvSpPr>
          <p:cNvPr id="19" name="Shape 17"/>
          <p:cNvSpPr/>
          <p:nvPr/>
        </p:nvSpPr>
        <p:spPr>
          <a:xfrm>
            <a:off x="566928" y="2487168"/>
            <a:ext cx="11057839" cy="1755648"/>
          </a:xfrm>
          <a:prstGeom prst="rect">
            <a:avLst/>
          </a:prstGeom>
          <a:solidFill>
            <a:srgbClr val="FDF4E7"/>
          </a:solidFill>
          <a:ln w="12700">
            <a:solidFill>
              <a:srgbClr val="FDF4E7"/>
            </a:solidFill>
            <a:prstDash val="solid"/>
          </a:ln>
        </p:spPr>
      </p:sp>
      <p:sp>
        <p:nvSpPr>
          <p:cNvPr id="20" name="Shape 18"/>
          <p:cNvSpPr/>
          <p:nvPr/>
        </p:nvSpPr>
        <p:spPr>
          <a:xfrm>
            <a:off x="566928" y="2487168"/>
            <a:ext cx="50292" cy="1755648"/>
          </a:xfrm>
          <a:prstGeom prst="rect">
            <a:avLst/>
          </a:prstGeom>
          <a:solidFill>
            <a:srgbClr val="9A5B08"/>
          </a:solidFill>
          <a:ln w="12700">
            <a:solidFill>
              <a:srgbClr val="333333"/>
            </a:solidFill>
            <a:prstDash val="solid"/>
          </a:ln>
        </p:spPr>
      </p:sp>
      <p:sp>
        <p:nvSpPr>
          <p:cNvPr id="21" name="Text 19"/>
          <p:cNvSpPr/>
          <p:nvPr/>
        </p:nvSpPr>
        <p:spPr>
          <a:xfrm>
            <a:off x="877824" y="2633472"/>
            <a:ext cx="10417759" cy="292608"/>
          </a:xfrm>
          <a:prstGeom prst="rect">
            <a:avLst/>
          </a:prstGeom>
          <a:noFill/>
          <a:ln/>
        </p:spPr>
        <p:txBody>
          <a:bodyPr wrap="square" rtlCol="0" anchor="ctr"/>
          <a:lstStyle/>
          <a:p>
            <a:pPr indent="0" marL="0">
              <a:buNone/>
            </a:pPr>
            <a:r>
              <a:rPr lang="en-US" sz="1500" b="1" dirty="0">
                <a:solidFill>
                  <a:srgbClr val="9A5B08"/>
                </a:solidFill>
                <a:latin typeface="Arial" pitchFamily="34" charset="0"/>
                <a:ea typeface="Arial" pitchFamily="34" charset="-122"/>
                <a:cs typeface="Arial" pitchFamily="34" charset="-120"/>
              </a:rPr>
              <a:t>The most useful result is a negative one</a:t>
            </a:r>
            <a:endParaRPr lang="en-US" sz="1500" dirty="0"/>
          </a:p>
        </p:txBody>
      </p:sp>
      <p:sp>
        <p:nvSpPr>
          <p:cNvPr id="22" name="Text 20"/>
          <p:cNvSpPr/>
          <p:nvPr/>
        </p:nvSpPr>
        <p:spPr>
          <a:xfrm>
            <a:off x="877824" y="2962656"/>
            <a:ext cx="10417759" cy="786384"/>
          </a:xfrm>
          <a:prstGeom prst="rect">
            <a:avLst/>
          </a:prstGeom>
          <a:noFill/>
          <a:ln/>
        </p:spPr>
        <p:txBody>
          <a:bodyPr wrap="square" rtlCol="0" anchor="t"/>
          <a:lstStyle/>
          <a:p>
            <a:pPr indent="0" marL="0">
              <a:lnSpc>
                <a:spcPts val="1800"/>
              </a:lnSpc>
              <a:buNone/>
            </a:pPr>
            <a:r>
              <a:rPr lang="en-US" sz="1250" dirty="0">
                <a:solidFill>
                  <a:srgbClr val="3F4750"/>
                </a:solidFill>
                <a:latin typeface="Arial" pitchFamily="34" charset="0"/>
                <a:ea typeface="Arial" pitchFamily="34" charset="-122"/>
                <a:cs typeface="Arial" pitchFamily="34" charset="-120"/>
              </a:rPr>
              <a:t>OpenAI caches a prompt prefix only when it reaches 1,024 tokens. I ordered the prompt into a stable layer and a volatile layer so caching </a:t>
            </a:r>
            <a:pPr indent="0" marL="0">
              <a:lnSpc>
                <a:spcPts val="1800"/>
              </a:lnSpc>
              <a:buNone/>
            </a:pPr>
            <a:r>
              <a:rPr lang="en-US" sz="1250" b="1" i="1" dirty="0">
                <a:solidFill>
                  <a:srgbClr val="14161A"/>
                </a:solidFill>
                <a:latin typeface="Arial" pitchFamily="34" charset="0"/>
                <a:ea typeface="Arial" pitchFamily="34" charset="-122"/>
                <a:cs typeface="Arial" pitchFamily="34" charset="-120"/>
              </a:rPr>
              <a:t>can</a:t>
            </a:r>
            <a:pPr indent="0" marL="0">
              <a:lnSpc>
                <a:spcPts val="1800"/>
              </a:lnSpc>
              <a:buNone/>
            </a:pPr>
            <a:r>
              <a:rPr lang="en-US" sz="1250" dirty="0">
                <a:solidFill>
                  <a:srgbClr val="3F4750"/>
                </a:solidFill>
                <a:latin typeface="Arial" pitchFamily="34" charset="0"/>
                <a:ea typeface="Arial" pitchFamily="34" charset="-122"/>
                <a:cs typeface="Arial" pitchFamily="34" charset="-120"/>
              </a:rPr>
              <a:t> engage. On a bare session the stable prefix is about 590 tokens — under the floor — so it does not fire at all. The tool reports that in words rather than printing a zero for me to spin.</a:t>
            </a:r>
            <a:endParaRPr lang="en-US" sz="1250" dirty="0"/>
          </a:p>
        </p:txBody>
      </p:sp>
      <p:sp>
        <p:nvSpPr>
          <p:cNvPr id="23" name="Text 21"/>
          <p:cNvSpPr/>
          <p:nvPr/>
        </p:nvSpPr>
        <p:spPr>
          <a:xfrm>
            <a:off x="877824" y="3749040"/>
            <a:ext cx="10417759" cy="402336"/>
          </a:xfrm>
          <a:prstGeom prst="rect">
            <a:avLst/>
          </a:prstGeom>
          <a:noFill/>
          <a:ln/>
        </p:spPr>
        <p:txBody>
          <a:bodyPr wrap="square" rtlCol="0" anchor="t"/>
          <a:lstStyle/>
          <a:p>
            <a:pPr indent="0" marL="0">
              <a:lnSpc>
                <a:spcPts val="1500"/>
              </a:lnSpc>
              <a:buNone/>
            </a:pPr>
            <a:r>
              <a:rPr lang="en-US" sz="1100" i="1" dirty="0">
                <a:solidFill>
                  <a:srgbClr val="7A8593"/>
                </a:solidFill>
                <a:latin typeface="Arial" pitchFamily="34" charset="0"/>
                <a:ea typeface="Arial" pitchFamily="34" charset="-122"/>
                <a:cs typeface="Arial" pitchFamily="34" charset="-120"/>
              </a:rPr>
              <a:t>Attach a job description and the prompt clears the floor — which is exactly when caching is worth having. Padding the prompt to reach it would cost more than the discount returns.</a:t>
            </a:r>
            <a:endParaRPr lang="en-US" sz="1100" dirty="0"/>
          </a:p>
        </p:txBody>
      </p:sp>
      <p:sp>
        <p:nvSpPr>
          <p:cNvPr id="24" name="Shape 22"/>
          <p:cNvSpPr/>
          <p:nvPr/>
        </p:nvSpPr>
        <p:spPr>
          <a:xfrm>
            <a:off x="566928" y="4407408"/>
            <a:ext cx="5373472" cy="914400"/>
          </a:xfrm>
          <a:prstGeom prst="rect">
            <a:avLst/>
          </a:prstGeom>
          <a:solidFill>
            <a:srgbClr val="F5F7FA"/>
          </a:solidFill>
          <a:ln w="12700">
            <a:solidFill>
              <a:srgbClr val="F5F7FA"/>
            </a:solidFill>
            <a:prstDash val="solid"/>
          </a:ln>
        </p:spPr>
      </p:sp>
      <p:sp>
        <p:nvSpPr>
          <p:cNvPr id="25" name="Text 23"/>
          <p:cNvSpPr/>
          <p:nvPr/>
        </p:nvSpPr>
        <p:spPr>
          <a:xfrm>
            <a:off x="822960" y="4517136"/>
            <a:ext cx="4916272" cy="731520"/>
          </a:xfrm>
          <a:prstGeom prst="rect">
            <a:avLst/>
          </a:prstGeom>
          <a:noFill/>
          <a:ln/>
        </p:spPr>
        <p:txBody>
          <a:bodyPr wrap="square" rtlCol="0" anchor="t"/>
          <a:lstStyle/>
          <a:p>
            <a:pPr indent="0" marL="0">
              <a:lnSpc>
                <a:spcPts val="1500"/>
              </a:lnSpc>
              <a:buNone/>
            </a:pPr>
            <a:r>
              <a:rPr lang="en-US" sz="1100" b="1" dirty="0">
                <a:solidFill>
                  <a:srgbClr val="14161A"/>
                </a:solidFill>
                <a:latin typeface="Arial" pitchFamily="34" charset="0"/>
                <a:ea typeface="Arial" pitchFamily="34" charset="-122"/>
                <a:cs typeface="Arial" pitchFamily="34" charset="-120"/>
              </a:rPr>
              <a:t>Also cut, and measured:</a:t>
            </a:r>
            <a:endParaRPr lang="en-US" sz="1100" dirty="0"/>
          </a:p>
          <a:p>
            <a:pPr indent="0" marL="0">
              <a:lnSpc>
                <a:spcPts val="1500"/>
              </a:lnSpc>
              <a:buNone/>
            </a:pPr>
            <a:r>
              <a:rPr lang="en-US" sz="1100" dirty="0">
                <a:solidFill>
                  <a:srgbClr val="3F4750"/>
                </a:solidFill>
                <a:latin typeface="Arial" pitchFamily="34" charset="0"/>
                <a:ea typeface="Arial" pitchFamily="34" charset="-122"/>
                <a:cs typeface="Arial" pitchFamily="34" charset="-120"/>
              </a:rPr>
              <a:t>trivial answers skip analysis · six countable fields moved out of the model into plain code · coach answers cached in Postgres</a:t>
            </a:r>
            <a:endParaRPr lang="en-US" sz="1100" dirty="0"/>
          </a:p>
        </p:txBody>
      </p:sp>
      <p:sp>
        <p:nvSpPr>
          <p:cNvPr id="26" name="Shape 24"/>
          <p:cNvSpPr/>
          <p:nvPr/>
        </p:nvSpPr>
        <p:spPr>
          <a:xfrm>
            <a:off x="6251296" y="4407408"/>
            <a:ext cx="5373472" cy="914400"/>
          </a:xfrm>
          <a:prstGeom prst="rect">
            <a:avLst/>
          </a:prstGeom>
          <a:solidFill>
            <a:srgbClr val="EAF0FE"/>
          </a:solidFill>
          <a:ln w="12700">
            <a:solidFill>
              <a:srgbClr val="EAF0FE"/>
            </a:solidFill>
            <a:prstDash val="solid"/>
          </a:ln>
        </p:spPr>
      </p:sp>
      <p:sp>
        <p:nvSpPr>
          <p:cNvPr id="27" name="Shape 25"/>
          <p:cNvSpPr/>
          <p:nvPr/>
        </p:nvSpPr>
        <p:spPr>
          <a:xfrm>
            <a:off x="6251296" y="4407408"/>
            <a:ext cx="50292" cy="914400"/>
          </a:xfrm>
          <a:prstGeom prst="rect">
            <a:avLst/>
          </a:prstGeom>
          <a:solidFill>
            <a:srgbClr val="1D4ED8"/>
          </a:solidFill>
          <a:ln w="12700">
            <a:solidFill>
              <a:srgbClr val="333333"/>
            </a:solidFill>
            <a:prstDash val="solid"/>
          </a:ln>
        </p:spPr>
      </p:sp>
      <p:sp>
        <p:nvSpPr>
          <p:cNvPr id="28" name="Text 26"/>
          <p:cNvSpPr/>
          <p:nvPr/>
        </p:nvSpPr>
        <p:spPr>
          <a:xfrm>
            <a:off x="6507328" y="4517136"/>
            <a:ext cx="4916272" cy="731520"/>
          </a:xfrm>
          <a:prstGeom prst="rect">
            <a:avLst/>
          </a:prstGeom>
          <a:noFill/>
          <a:ln/>
        </p:spPr>
        <p:txBody>
          <a:bodyPr wrap="square" rtlCol="0" anchor="t"/>
          <a:lstStyle/>
          <a:p>
            <a:pPr indent="0" marL="0">
              <a:lnSpc>
                <a:spcPts val="1600"/>
              </a:lnSpc>
              <a:buNone/>
            </a:pPr>
            <a:r>
              <a:rPr lang="en-US" sz="1150" b="1" dirty="0">
                <a:solidFill>
                  <a:srgbClr val="1D4ED8"/>
                </a:solidFill>
                <a:latin typeface="Arial" pitchFamily="34" charset="0"/>
                <a:ea typeface="Arial" pitchFamily="34" charset="-122"/>
                <a:cs typeface="Arial" pitchFamily="34" charset="-120"/>
              </a:rPr>
              <a:t>The claim is not “this is cheap.”</a:t>
            </a:r>
            <a:endParaRPr lang="en-US" sz="1150" dirty="0"/>
          </a:p>
          <a:p>
            <a:pPr indent="0" marL="0">
              <a:lnSpc>
                <a:spcPts val="1600"/>
              </a:lnSpc>
              <a:buNone/>
            </a:pPr>
            <a:r>
              <a:rPr lang="en-US" sz="1150" dirty="0">
                <a:solidFill>
                  <a:srgbClr val="14161A"/>
                </a:solidFill>
                <a:latin typeface="Arial" pitchFamily="34" charset="0"/>
                <a:ea typeface="Arial" pitchFamily="34" charset="-122"/>
                <a:cs typeface="Arial" pitchFamily="34" charset="-120"/>
              </a:rPr>
              <a:t>It is that every call is instrumented, priced and checkable — including the optimisation that provably does not fire.</a:t>
            </a:r>
            <a:endParaRPr lang="en-US" sz="1150" dirty="0"/>
          </a:p>
        </p:txBody>
      </p:sp>
      <p:sp>
        <p:nvSpPr>
          <p:cNvPr id="30" name="Text 27"/>
          <p:cNvSpPr/>
          <p:nvPr/>
        </p:nvSpPr>
        <p:spPr>
          <a:xfrm>
            <a:off x="566928" y="6382512"/>
            <a:ext cx="5486400" cy="274320"/>
          </a:xfrm>
          <a:prstGeom prst="rect">
            <a:avLst/>
          </a:prstGeom>
          <a:noFill/>
          <a:ln/>
        </p:spPr>
        <p:txBody>
          <a:bodyPr wrap="square" rtlCol="0" anchor="ctr"/>
          <a:lstStyle/>
          <a:p>
            <a:pPr indent="0" marL="0">
              <a:buNone/>
            </a:pPr>
            <a:r>
              <a:rPr lang="en-US" sz="1000" dirty="0">
                <a:solidFill>
                  <a:srgbClr val="7A8593"/>
                </a:solidFill>
                <a:latin typeface="Arial" pitchFamily="34" charset="0"/>
                <a:ea typeface="Arial" pitchFamily="34" charset="-122"/>
                <a:cs typeface="Arial" pitchFamily="34" charset="-120"/>
              </a:rPr>
              <a:t>ConvoTrainer  ·  Final Year Project</a:t>
            </a:r>
            <a:endParaRPr lang="en-US" sz="1000" dirty="0"/>
          </a:p>
        </p:txBody>
      </p:sp>
      <p:sp>
        <p:nvSpPr>
          <p:cNvPr id="31" name="Text 28"/>
          <p:cNvSpPr/>
          <p:nvPr/>
        </p:nvSpPr>
        <p:spPr>
          <a:xfrm>
            <a:off x="10710367" y="6382512"/>
            <a:ext cx="914400" cy="274320"/>
          </a:xfrm>
          <a:prstGeom prst="rect">
            <a:avLst/>
          </a:prstGeom>
          <a:noFill/>
          <a:ln/>
        </p:spPr>
        <p:txBody>
          <a:bodyPr wrap="square" rtlCol="0" anchor="ctr"/>
          <a:lstStyle/>
          <a:p>
            <a:pPr algn="r" indent="0" marL="0">
              <a:buNone/>
            </a:pPr>
            <a:r>
              <a:rPr lang="en-US" sz="1000" dirty="0">
                <a:solidFill>
                  <a:srgbClr val="7A8593"/>
                </a:solidFill>
                <a:latin typeface="Arial" pitchFamily="34" charset="0"/>
                <a:ea typeface="Arial" pitchFamily="34" charset="-122"/>
                <a:cs typeface="Arial"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20624"/>
            <a:ext cx="128016" cy="128016"/>
          </a:xfrm>
          <a:prstGeom prst="rect">
            <a:avLst/>
          </a:prstGeom>
          <a:solidFill>
            <a:srgbClr val="1D4ED8"/>
          </a:solidFill>
          <a:ln/>
        </p:spPr>
      </p:sp>
      <p:sp>
        <p:nvSpPr>
          <p:cNvPr id="3" name="Text 1"/>
          <p:cNvSpPr/>
          <p:nvPr/>
        </p:nvSpPr>
        <p:spPr>
          <a:xfrm>
            <a:off x="804672" y="365760"/>
            <a:ext cx="10820095" cy="237744"/>
          </a:xfrm>
          <a:prstGeom prst="rect">
            <a:avLst/>
          </a:prstGeom>
          <a:noFill/>
          <a:ln/>
        </p:spPr>
        <p:txBody>
          <a:bodyPr wrap="square" rtlCol="0" anchor="ctr"/>
          <a:lstStyle/>
          <a:p>
            <a:pPr indent="0" marL="0">
              <a:buNone/>
            </a:pPr>
            <a:r>
              <a:rPr lang="en-US" sz="1100" b="1" spc="160" kern="0" dirty="0">
                <a:solidFill>
                  <a:srgbClr val="1D4ED8"/>
                </a:solidFill>
                <a:latin typeface="Arial" pitchFamily="34" charset="0"/>
                <a:ea typeface="Arial" pitchFamily="34" charset="-122"/>
                <a:cs typeface="Arial" pitchFamily="34" charset="-120"/>
              </a:rPr>
              <a:t>WHERE IT STANDS</a:t>
            </a:r>
            <a:endParaRPr lang="en-US" sz="1100" dirty="0"/>
          </a:p>
        </p:txBody>
      </p:sp>
      <p:sp>
        <p:nvSpPr>
          <p:cNvPr id="4" name="Text 2"/>
          <p:cNvSpPr/>
          <p:nvPr/>
        </p:nvSpPr>
        <p:spPr>
          <a:xfrm>
            <a:off x="566928" y="694944"/>
            <a:ext cx="11057839" cy="566928"/>
          </a:xfrm>
          <a:prstGeom prst="rect">
            <a:avLst/>
          </a:prstGeom>
          <a:noFill/>
          <a:ln/>
        </p:spPr>
        <p:txBody>
          <a:bodyPr wrap="square" rtlCol="0" anchor="ctr"/>
          <a:lstStyle/>
          <a:p>
            <a:pPr indent="0" marL="0">
              <a:buNone/>
            </a:pPr>
            <a:r>
              <a:rPr lang="en-US" sz="3000" b="1" dirty="0">
                <a:solidFill>
                  <a:srgbClr val="14161A"/>
                </a:solidFill>
                <a:latin typeface="Arial" pitchFamily="34" charset="0"/>
                <a:ea typeface="Arial" pitchFamily="34" charset="-122"/>
                <a:cs typeface="Arial" pitchFamily="34" charset="-120"/>
              </a:rPr>
              <a:t>Built, measured, and not yet — then the demo.</a:t>
            </a:r>
            <a:endParaRPr lang="en-US" sz="3000" dirty="0"/>
          </a:p>
        </p:txBody>
      </p:sp>
      <p:sp>
        <p:nvSpPr>
          <p:cNvPr id="5" name="Shape 3"/>
          <p:cNvSpPr/>
          <p:nvPr/>
        </p:nvSpPr>
        <p:spPr>
          <a:xfrm>
            <a:off x="566928" y="1591056"/>
            <a:ext cx="3478682" cy="2377440"/>
          </a:xfrm>
          <a:prstGeom prst="rect">
            <a:avLst/>
          </a:prstGeom>
          <a:solidFill>
            <a:srgbClr val="EAF5EE"/>
          </a:solidFill>
          <a:ln w="12700">
            <a:solidFill>
              <a:srgbClr val="EAF5EE"/>
            </a:solidFill>
            <a:prstDash val="solid"/>
          </a:ln>
        </p:spPr>
      </p:sp>
      <p:sp>
        <p:nvSpPr>
          <p:cNvPr id="6" name="Shape 4"/>
          <p:cNvSpPr/>
          <p:nvPr/>
        </p:nvSpPr>
        <p:spPr>
          <a:xfrm>
            <a:off x="566928" y="1591056"/>
            <a:ext cx="50292" cy="2377440"/>
          </a:xfrm>
          <a:prstGeom prst="rect">
            <a:avLst/>
          </a:prstGeom>
          <a:solidFill>
            <a:srgbClr val="15803D"/>
          </a:solidFill>
          <a:ln w="12700">
            <a:solidFill>
              <a:srgbClr val="333333"/>
            </a:solidFill>
            <a:prstDash val="solid"/>
          </a:ln>
        </p:spPr>
      </p:sp>
      <p:sp>
        <p:nvSpPr>
          <p:cNvPr id="7" name="Text 5"/>
          <p:cNvSpPr/>
          <p:nvPr/>
        </p:nvSpPr>
        <p:spPr>
          <a:xfrm>
            <a:off x="822960" y="1700784"/>
            <a:ext cx="3058058" cy="274320"/>
          </a:xfrm>
          <a:prstGeom prst="rect">
            <a:avLst/>
          </a:prstGeom>
          <a:noFill/>
          <a:ln/>
        </p:spPr>
        <p:txBody>
          <a:bodyPr wrap="square" rtlCol="0" anchor="ctr"/>
          <a:lstStyle/>
          <a:p>
            <a:pPr indent="0" marL="0">
              <a:buNone/>
            </a:pPr>
            <a:r>
              <a:rPr lang="en-US" sz="1300" b="1" dirty="0">
                <a:solidFill>
                  <a:srgbClr val="15803D"/>
                </a:solidFill>
                <a:latin typeface="Arial" pitchFamily="34" charset="0"/>
                <a:ea typeface="Arial" pitchFamily="34" charset="-122"/>
                <a:cs typeface="Arial" pitchFamily="34" charset="-120"/>
              </a:rPr>
              <a:t>✔  Built and verified</a:t>
            </a:r>
            <a:endParaRPr lang="en-US" sz="1300" dirty="0"/>
          </a:p>
        </p:txBody>
      </p:sp>
      <p:sp>
        <p:nvSpPr>
          <p:cNvPr id="8" name="Text 6"/>
          <p:cNvSpPr/>
          <p:nvPr/>
        </p:nvSpPr>
        <p:spPr>
          <a:xfrm>
            <a:off x="822960" y="2029968"/>
            <a:ext cx="3058058" cy="1865376"/>
          </a:xfrm>
          <a:prstGeom prst="rect">
            <a:avLst/>
          </a:prstGeom>
          <a:noFill/>
          <a:ln/>
        </p:spPr>
        <p:txBody>
          <a:bodyPr wrap="square" rtlCol="0" anchor="t"/>
          <a:lstStyle/>
          <a:p>
            <a:pPr indent="0" marL="0">
              <a:lnSpc>
                <a:spcPts val="1450"/>
              </a:lnSpc>
              <a:buNone/>
            </a:pPr>
            <a:r>
              <a:rPr lang="en-US" sz="1050" dirty="0">
                <a:solidFill>
                  <a:srgbClr val="3F4750"/>
                </a:solidFill>
                <a:latin typeface="Arial" pitchFamily="34" charset="0"/>
                <a:ea typeface="Arial" pitchFamily="34" charset="-122"/>
                <a:cs typeface="Arial" pitchFamily="34" charset="-120"/>
              </a:rPr>
              <a:t>299 tests across 31 files, all passing</a:t>
            </a:r>
            <a:endParaRPr lang="en-US" sz="1050" dirty="0"/>
          </a:p>
          <a:p>
            <a:pPr indent="0" marL="0">
              <a:lnSpc>
                <a:spcPts val="1450"/>
              </a:lnSpc>
              <a:buNone/>
            </a:pPr>
            <a:endParaRPr lang="en-US" sz="1050" dirty="0"/>
          </a:p>
          <a:p>
            <a:pPr indent="0" marL="0">
              <a:lnSpc>
                <a:spcPts val="1450"/>
              </a:lnSpc>
              <a:buNone/>
            </a:pPr>
            <a:r>
              <a:rPr lang="en-US" sz="1050" dirty="0">
                <a:solidFill>
                  <a:srgbClr val="3F4750"/>
                </a:solidFill>
                <a:latin typeface="Arial" pitchFamily="34" charset="0"/>
                <a:ea typeface="Arial" pitchFamily="34" charset="-122"/>
                <a:cs typeface="Arial" pitchFamily="34" charset="-120"/>
              </a:rPr>
              <a:t>CI: typecheck + lint + test on every push</a:t>
            </a:r>
            <a:endParaRPr lang="en-US" sz="1050" dirty="0"/>
          </a:p>
          <a:p>
            <a:pPr indent="0" marL="0">
              <a:lnSpc>
                <a:spcPts val="1450"/>
              </a:lnSpc>
              <a:buNone/>
            </a:pPr>
            <a:endParaRPr lang="en-US" sz="1050" dirty="0"/>
          </a:p>
          <a:p>
            <a:pPr indent="0" marL="0">
              <a:lnSpc>
                <a:spcPts val="1450"/>
              </a:lnSpc>
              <a:buNone/>
            </a:pPr>
            <a:r>
              <a:rPr lang="en-US" sz="1050" dirty="0">
                <a:solidFill>
                  <a:srgbClr val="3F4750"/>
                </a:solidFill>
                <a:latin typeface="Arial" pitchFamily="34" charset="0"/>
                <a:ea typeface="Arial" pitchFamily="34" charset="-122"/>
                <a:cs typeface="Arial" pitchFamily="34" charset="-120"/>
              </a:rPr>
              <a:t>10 migrations; RLS on every table</a:t>
            </a:r>
            <a:endParaRPr lang="en-US" sz="1050" dirty="0"/>
          </a:p>
          <a:p>
            <a:pPr indent="0" marL="0">
              <a:lnSpc>
                <a:spcPts val="1450"/>
              </a:lnSpc>
              <a:buNone/>
            </a:pPr>
            <a:endParaRPr lang="en-US" sz="1050" dirty="0"/>
          </a:p>
          <a:p>
            <a:pPr indent="0" marL="0">
              <a:lnSpc>
                <a:spcPts val="1450"/>
              </a:lnSpc>
              <a:buNone/>
            </a:pPr>
            <a:r>
              <a:rPr lang="en-US" sz="1050" dirty="0">
                <a:solidFill>
                  <a:srgbClr val="3F4750"/>
                </a:solidFill>
                <a:latin typeface="Arial" pitchFamily="34" charset="0"/>
                <a:ea typeface="Arial" pitchFamily="34" charset="-122"/>
                <a:cs typeface="Arial" pitchFamily="34" charset="-120"/>
              </a:rPr>
              <a:t>Six round types, text and voice</a:t>
            </a:r>
            <a:endParaRPr lang="en-US" sz="1050" dirty="0"/>
          </a:p>
          <a:p>
            <a:pPr indent="0" marL="0">
              <a:lnSpc>
                <a:spcPts val="1450"/>
              </a:lnSpc>
              <a:buNone/>
            </a:pPr>
            <a:endParaRPr lang="en-US" sz="1050" dirty="0"/>
          </a:p>
          <a:p>
            <a:pPr indent="0" marL="0">
              <a:lnSpc>
                <a:spcPts val="1450"/>
              </a:lnSpc>
              <a:buNone/>
            </a:pPr>
            <a:r>
              <a:rPr lang="en-US" sz="1050" dirty="0">
                <a:solidFill>
                  <a:srgbClr val="3F4750"/>
                </a:solidFill>
                <a:latin typeface="Arial" pitchFamily="34" charset="0"/>
                <a:ea typeface="Arial" pitchFamily="34" charset="-122"/>
                <a:cs typeface="Arial" pitchFamily="34" charset="-120"/>
              </a:rPr>
              <a:t>JD + CV grounding via pgvector, inside Postgres</a:t>
            </a:r>
            <a:endParaRPr lang="en-US" sz="1050" dirty="0"/>
          </a:p>
        </p:txBody>
      </p:sp>
      <p:sp>
        <p:nvSpPr>
          <p:cNvPr id="9" name="Shape 7"/>
          <p:cNvSpPr/>
          <p:nvPr/>
        </p:nvSpPr>
        <p:spPr>
          <a:xfrm>
            <a:off x="4356506" y="1591056"/>
            <a:ext cx="3478682" cy="2377440"/>
          </a:xfrm>
          <a:prstGeom prst="rect">
            <a:avLst/>
          </a:prstGeom>
          <a:solidFill>
            <a:srgbClr val="FDF4E7"/>
          </a:solidFill>
          <a:ln w="12700">
            <a:solidFill>
              <a:srgbClr val="FDF4E7"/>
            </a:solidFill>
            <a:prstDash val="solid"/>
          </a:ln>
        </p:spPr>
      </p:sp>
      <p:sp>
        <p:nvSpPr>
          <p:cNvPr id="10" name="Shape 8"/>
          <p:cNvSpPr/>
          <p:nvPr/>
        </p:nvSpPr>
        <p:spPr>
          <a:xfrm>
            <a:off x="4356506" y="1591056"/>
            <a:ext cx="50292" cy="2377440"/>
          </a:xfrm>
          <a:prstGeom prst="rect">
            <a:avLst/>
          </a:prstGeom>
          <a:solidFill>
            <a:srgbClr val="9A5B08"/>
          </a:solidFill>
          <a:ln w="12700">
            <a:solidFill>
              <a:srgbClr val="333333"/>
            </a:solidFill>
            <a:prstDash val="solid"/>
          </a:ln>
        </p:spPr>
      </p:sp>
      <p:sp>
        <p:nvSpPr>
          <p:cNvPr id="11" name="Text 9"/>
          <p:cNvSpPr/>
          <p:nvPr/>
        </p:nvSpPr>
        <p:spPr>
          <a:xfrm>
            <a:off x="4612538" y="1700784"/>
            <a:ext cx="3058058" cy="274320"/>
          </a:xfrm>
          <a:prstGeom prst="rect">
            <a:avLst/>
          </a:prstGeom>
          <a:noFill/>
          <a:ln/>
        </p:spPr>
        <p:txBody>
          <a:bodyPr wrap="square" rtlCol="0" anchor="ctr"/>
          <a:lstStyle/>
          <a:p>
            <a:pPr indent="0" marL="0">
              <a:buNone/>
            </a:pPr>
            <a:r>
              <a:rPr lang="en-US" sz="1300" b="1" dirty="0">
                <a:solidFill>
                  <a:srgbClr val="9A5B08"/>
                </a:solidFill>
                <a:latin typeface="Arial" pitchFamily="34" charset="0"/>
                <a:ea typeface="Arial" pitchFamily="34" charset="-122"/>
                <a:cs typeface="Arial" pitchFamily="34" charset="-120"/>
              </a:rPr>
              <a:t>◑  Built, not yet measured</a:t>
            </a:r>
            <a:endParaRPr lang="en-US" sz="1300" dirty="0"/>
          </a:p>
        </p:txBody>
      </p:sp>
      <p:sp>
        <p:nvSpPr>
          <p:cNvPr id="12" name="Text 10"/>
          <p:cNvSpPr/>
          <p:nvPr/>
        </p:nvSpPr>
        <p:spPr>
          <a:xfrm>
            <a:off x="4612538" y="2029968"/>
            <a:ext cx="3058058" cy="1865376"/>
          </a:xfrm>
          <a:prstGeom prst="rect">
            <a:avLst/>
          </a:prstGeom>
          <a:noFill/>
          <a:ln/>
        </p:spPr>
        <p:txBody>
          <a:bodyPr wrap="square" rtlCol="0" anchor="t"/>
          <a:lstStyle/>
          <a:p>
            <a:pPr indent="0" marL="0">
              <a:lnSpc>
                <a:spcPts val="1450"/>
              </a:lnSpc>
              <a:buNone/>
            </a:pPr>
            <a:r>
              <a:rPr lang="en-US" sz="1050" dirty="0">
                <a:solidFill>
                  <a:srgbClr val="3F4750"/>
                </a:solidFill>
                <a:latin typeface="Arial" pitchFamily="34" charset="0"/>
                <a:ea typeface="Arial" pitchFamily="34" charset="-122"/>
                <a:cs typeface="Arial" pitchFamily="34" charset="-120"/>
              </a:rPr>
              <a:t>Scoring-accuracy eval — harness and 18 fixtures written, results not yet collected</a:t>
            </a:r>
            <a:endParaRPr lang="en-US" sz="1050" dirty="0"/>
          </a:p>
          <a:p>
            <a:pPr indent="0" marL="0">
              <a:lnSpc>
                <a:spcPts val="1450"/>
              </a:lnSpc>
              <a:buNone/>
            </a:pPr>
            <a:endParaRPr lang="en-US" sz="1050" dirty="0"/>
          </a:p>
          <a:p>
            <a:pPr indent="0" marL="0">
              <a:lnSpc>
                <a:spcPts val="1450"/>
              </a:lnSpc>
              <a:buNone/>
            </a:pPr>
            <a:r>
              <a:rPr lang="en-US" sz="1050" dirty="0">
                <a:solidFill>
                  <a:srgbClr val="3F4750"/>
                </a:solidFill>
                <a:latin typeface="Arial" pitchFamily="34" charset="0"/>
                <a:ea typeface="Arial" pitchFamily="34" charset="-122"/>
                <a:cs typeface="Arial" pitchFamily="34" charset="-120"/>
              </a:rPr>
              <a:t>UAT — plan, handout and exit criteria written, no participants run yet</a:t>
            </a:r>
            <a:endParaRPr lang="en-US" sz="1050" dirty="0"/>
          </a:p>
          <a:p>
            <a:pPr indent="0" marL="0">
              <a:lnSpc>
                <a:spcPts val="1450"/>
              </a:lnSpc>
              <a:buNone/>
            </a:pPr>
            <a:endParaRPr lang="en-US" sz="1050" dirty="0"/>
          </a:p>
          <a:p>
            <a:pPr indent="0" marL="0">
              <a:lnSpc>
                <a:spcPts val="1450"/>
              </a:lnSpc>
              <a:buNone/>
            </a:pPr>
            <a:r>
              <a:rPr lang="en-US" sz="1050" dirty="0">
                <a:solidFill>
                  <a:srgbClr val="3F4750"/>
                </a:solidFill>
                <a:latin typeface="Arial" pitchFamily="34" charset="0"/>
                <a:ea typeface="Arial" pitchFamily="34" charset="-122"/>
                <a:cs typeface="Arial" pitchFamily="34" charset="-120"/>
              </a:rPr>
              <a:t>The blind-judge arm of the persona eval has not been run live</a:t>
            </a:r>
            <a:endParaRPr lang="en-US" sz="1050" dirty="0"/>
          </a:p>
        </p:txBody>
      </p:sp>
      <p:sp>
        <p:nvSpPr>
          <p:cNvPr id="13" name="Shape 11"/>
          <p:cNvSpPr/>
          <p:nvPr/>
        </p:nvSpPr>
        <p:spPr>
          <a:xfrm>
            <a:off x="8146085" y="1591056"/>
            <a:ext cx="3478682" cy="2377440"/>
          </a:xfrm>
          <a:prstGeom prst="rect">
            <a:avLst/>
          </a:prstGeom>
          <a:solidFill>
            <a:srgbClr val="F5F7FA"/>
          </a:solidFill>
          <a:ln w="12700">
            <a:solidFill>
              <a:srgbClr val="F5F7FA"/>
            </a:solidFill>
            <a:prstDash val="solid"/>
          </a:ln>
        </p:spPr>
      </p:sp>
      <p:sp>
        <p:nvSpPr>
          <p:cNvPr id="14" name="Shape 12"/>
          <p:cNvSpPr/>
          <p:nvPr/>
        </p:nvSpPr>
        <p:spPr>
          <a:xfrm>
            <a:off x="8146085" y="1591056"/>
            <a:ext cx="50292" cy="2377440"/>
          </a:xfrm>
          <a:prstGeom prst="rect">
            <a:avLst/>
          </a:prstGeom>
          <a:solidFill>
            <a:srgbClr val="7A8593"/>
          </a:solidFill>
          <a:ln w="12700">
            <a:solidFill>
              <a:srgbClr val="333333"/>
            </a:solidFill>
            <a:prstDash val="solid"/>
          </a:ln>
        </p:spPr>
      </p:sp>
      <p:sp>
        <p:nvSpPr>
          <p:cNvPr id="15" name="Text 13"/>
          <p:cNvSpPr/>
          <p:nvPr/>
        </p:nvSpPr>
        <p:spPr>
          <a:xfrm>
            <a:off x="8402117" y="1700784"/>
            <a:ext cx="3058058" cy="274320"/>
          </a:xfrm>
          <a:prstGeom prst="rect">
            <a:avLst/>
          </a:prstGeom>
          <a:noFill/>
          <a:ln/>
        </p:spPr>
        <p:txBody>
          <a:bodyPr wrap="square" rtlCol="0" anchor="ctr"/>
          <a:lstStyle/>
          <a:p>
            <a:pPr indent="0" marL="0">
              <a:buNone/>
            </a:pPr>
            <a:r>
              <a:rPr lang="en-US" sz="1300" b="1" dirty="0">
                <a:solidFill>
                  <a:srgbClr val="7A8593"/>
                </a:solidFill>
                <a:latin typeface="Arial" pitchFamily="34" charset="0"/>
                <a:ea typeface="Arial" pitchFamily="34" charset="-122"/>
                <a:cs typeface="Arial" pitchFamily="34" charset="-120"/>
              </a:rPr>
              <a:t>✖  Out of scope, on purpose</a:t>
            </a:r>
            <a:endParaRPr lang="en-US" sz="1300" dirty="0"/>
          </a:p>
        </p:txBody>
      </p:sp>
      <p:sp>
        <p:nvSpPr>
          <p:cNvPr id="16" name="Text 14"/>
          <p:cNvSpPr/>
          <p:nvPr/>
        </p:nvSpPr>
        <p:spPr>
          <a:xfrm>
            <a:off x="8402117" y="2029968"/>
            <a:ext cx="3058058" cy="1865376"/>
          </a:xfrm>
          <a:prstGeom prst="rect">
            <a:avLst/>
          </a:prstGeom>
          <a:noFill/>
          <a:ln/>
        </p:spPr>
        <p:txBody>
          <a:bodyPr wrap="square" rtlCol="0" anchor="t"/>
          <a:lstStyle/>
          <a:p>
            <a:pPr indent="0" marL="0">
              <a:lnSpc>
                <a:spcPts val="1450"/>
              </a:lnSpc>
              <a:buNone/>
            </a:pPr>
            <a:r>
              <a:rPr lang="en-US" sz="1050" dirty="0">
                <a:solidFill>
                  <a:srgbClr val="3F4750"/>
                </a:solidFill>
                <a:latin typeface="Arial" pitchFamily="34" charset="0"/>
                <a:ea typeface="Arial" pitchFamily="34" charset="-122"/>
                <a:cs typeface="Arial" pitchFamily="34" charset="-120"/>
              </a:rPr>
              <a:t>Code is reviewed, never executed</a:t>
            </a:r>
            <a:endParaRPr lang="en-US" sz="1050" dirty="0"/>
          </a:p>
          <a:p>
            <a:pPr indent="0" marL="0">
              <a:lnSpc>
                <a:spcPts val="1450"/>
              </a:lnSpc>
              <a:buNone/>
            </a:pPr>
            <a:endParaRPr lang="en-US" sz="1050" dirty="0"/>
          </a:p>
          <a:p>
            <a:pPr indent="0" marL="0">
              <a:lnSpc>
                <a:spcPts val="1450"/>
              </a:lnSpc>
              <a:buNone/>
            </a:pPr>
            <a:r>
              <a:rPr lang="en-US" sz="1050" dirty="0">
                <a:solidFill>
                  <a:srgbClr val="3F4750"/>
                </a:solidFill>
                <a:latin typeface="Arial" pitchFamily="34" charset="0"/>
                <a:ea typeface="Arial" pitchFamily="34" charset="-122"/>
                <a:cs typeface="Arial" pitchFamily="34" charset="-120"/>
              </a:rPr>
              <a:t>English only</a:t>
            </a:r>
            <a:endParaRPr lang="en-US" sz="1050" dirty="0"/>
          </a:p>
          <a:p>
            <a:pPr indent="0" marL="0">
              <a:lnSpc>
                <a:spcPts val="1450"/>
              </a:lnSpc>
              <a:buNone/>
            </a:pPr>
            <a:endParaRPr lang="en-US" sz="1050" dirty="0"/>
          </a:p>
          <a:p>
            <a:pPr indent="0" marL="0">
              <a:lnSpc>
                <a:spcPts val="1450"/>
              </a:lnSpc>
              <a:buNone/>
            </a:pPr>
            <a:r>
              <a:rPr lang="en-US" sz="1050" dirty="0">
                <a:solidFill>
                  <a:srgbClr val="3F4750"/>
                </a:solidFill>
                <a:latin typeface="Arial" pitchFamily="34" charset="0"/>
                <a:ea typeface="Arial" pitchFamily="34" charset="-122"/>
                <a:cs typeface="Arial" pitchFamily="34" charset="-120"/>
              </a:rPr>
              <a:t>No CSP yet — pending an audit of the speech websocket origins</a:t>
            </a:r>
            <a:endParaRPr lang="en-US" sz="1050" dirty="0"/>
          </a:p>
          <a:p>
            <a:pPr indent="0" marL="0">
              <a:lnSpc>
                <a:spcPts val="1450"/>
              </a:lnSpc>
              <a:buNone/>
            </a:pPr>
            <a:endParaRPr lang="en-US" sz="1050" dirty="0"/>
          </a:p>
          <a:p>
            <a:pPr indent="0" marL="0">
              <a:lnSpc>
                <a:spcPts val="1450"/>
              </a:lnSpc>
              <a:buNone/>
            </a:pPr>
            <a:r>
              <a:rPr lang="en-US" sz="1050" dirty="0">
                <a:solidFill>
                  <a:srgbClr val="3F4750"/>
                </a:solidFill>
                <a:latin typeface="Arial" pitchFamily="34" charset="0"/>
                <a:ea typeface="Arial" pitchFamily="34" charset="-122"/>
                <a:cs typeface="Arial" pitchFamily="34" charset="-120"/>
              </a:rPr>
              <a:t>Rate limiter is in-process</a:t>
            </a:r>
            <a:endParaRPr lang="en-US" sz="1050" dirty="0"/>
          </a:p>
        </p:txBody>
      </p:sp>
      <p:sp>
        <p:nvSpPr>
          <p:cNvPr id="17" name="Shape 15"/>
          <p:cNvSpPr/>
          <p:nvPr/>
        </p:nvSpPr>
        <p:spPr>
          <a:xfrm>
            <a:off x="566928" y="4078224"/>
            <a:ext cx="11057839" cy="548640"/>
          </a:xfrm>
          <a:prstGeom prst="rect">
            <a:avLst/>
          </a:prstGeom>
          <a:solidFill>
            <a:srgbClr val="EAF0FE"/>
          </a:solidFill>
          <a:ln w="12700">
            <a:solidFill>
              <a:srgbClr val="EAF0FE"/>
            </a:solidFill>
            <a:prstDash val="solid"/>
          </a:ln>
        </p:spPr>
      </p:sp>
      <p:sp>
        <p:nvSpPr>
          <p:cNvPr id="18" name="Shape 16"/>
          <p:cNvSpPr/>
          <p:nvPr/>
        </p:nvSpPr>
        <p:spPr>
          <a:xfrm>
            <a:off x="566928" y="4078224"/>
            <a:ext cx="50292" cy="548640"/>
          </a:xfrm>
          <a:prstGeom prst="rect">
            <a:avLst/>
          </a:prstGeom>
          <a:solidFill>
            <a:srgbClr val="1D4ED8"/>
          </a:solidFill>
          <a:ln w="12700">
            <a:solidFill>
              <a:srgbClr val="333333"/>
            </a:solidFill>
            <a:prstDash val="solid"/>
          </a:ln>
        </p:spPr>
      </p:sp>
      <p:sp>
        <p:nvSpPr>
          <p:cNvPr id="19" name="Text 17"/>
          <p:cNvSpPr/>
          <p:nvPr/>
        </p:nvSpPr>
        <p:spPr>
          <a:xfrm>
            <a:off x="877824" y="4078224"/>
            <a:ext cx="10509199" cy="548640"/>
          </a:xfrm>
          <a:prstGeom prst="rect">
            <a:avLst/>
          </a:prstGeom>
          <a:noFill/>
          <a:ln/>
        </p:spPr>
        <p:txBody>
          <a:bodyPr wrap="square" rtlCol="0" anchor="ctr"/>
          <a:lstStyle/>
          <a:p>
            <a:pPr indent="0" marL="0">
              <a:buNone/>
            </a:pPr>
            <a:r>
              <a:rPr lang="en-US" sz="1250" b="1" dirty="0">
                <a:solidFill>
                  <a:srgbClr val="1D4ED8"/>
                </a:solidFill>
                <a:latin typeface="Arial" pitchFamily="34" charset="0"/>
                <a:ea typeface="Arial" pitchFamily="34" charset="-122"/>
                <a:cs typeface="Arial" pitchFamily="34" charset="-120"/>
              </a:rPr>
              <a:t>The rule I held to:  </a:t>
            </a:r>
            <a:pPr indent="0" marL="0">
              <a:buNone/>
            </a:pPr>
            <a:r>
              <a:rPr lang="en-US" sz="1250" dirty="0">
                <a:solidFill>
                  <a:srgbClr val="14161A"/>
                </a:solidFill>
                <a:latin typeface="Arial" pitchFamily="34" charset="0"/>
                <a:ea typeface="Arial" pitchFamily="34" charset="-122"/>
                <a:cs typeface="Arial" pitchFamily="34" charset="-120"/>
              </a:rPr>
              <a:t>never claim a number I have not run. That is why the middle column is on this slide rather than left off it.</a:t>
            </a:r>
            <a:endParaRPr lang="en-US" sz="1250" dirty="0"/>
          </a:p>
        </p:txBody>
      </p:sp>
      <p:sp>
        <p:nvSpPr>
          <p:cNvPr id="20" name="Text 18"/>
          <p:cNvSpPr/>
          <p:nvPr/>
        </p:nvSpPr>
        <p:spPr>
          <a:xfrm>
            <a:off x="566928" y="4718304"/>
            <a:ext cx="11057839" cy="256032"/>
          </a:xfrm>
          <a:prstGeom prst="rect">
            <a:avLst/>
          </a:prstGeom>
          <a:noFill/>
          <a:ln/>
        </p:spPr>
        <p:txBody>
          <a:bodyPr wrap="square" rtlCol="0" anchor="ctr"/>
          <a:lstStyle/>
          <a:p>
            <a:pPr indent="0" marL="0">
              <a:buNone/>
            </a:pPr>
            <a:r>
              <a:rPr lang="en-US" sz="1200" b="1" dirty="0">
                <a:solidFill>
                  <a:srgbClr val="14161A"/>
                </a:solidFill>
                <a:latin typeface="Arial" pitchFamily="34" charset="0"/>
                <a:ea typeface="Arial" pitchFamily="34" charset="-122"/>
                <a:cs typeface="Arial" pitchFamily="34" charset="-120"/>
              </a:rPr>
              <a:t>Now the demo — three things, in increasing order of what can go wrong.</a:t>
            </a:r>
            <a:endParaRPr lang="en-US" sz="1200" dirty="0"/>
          </a:p>
        </p:txBody>
      </p:sp>
      <p:sp>
        <p:nvSpPr>
          <p:cNvPr id="21" name="Shape 19"/>
          <p:cNvSpPr/>
          <p:nvPr/>
        </p:nvSpPr>
        <p:spPr>
          <a:xfrm>
            <a:off x="566928" y="5029200"/>
            <a:ext cx="3478682" cy="859536"/>
          </a:xfrm>
          <a:prstGeom prst="rect">
            <a:avLst/>
          </a:prstGeom>
          <a:solidFill>
            <a:srgbClr val="EAF5EE"/>
          </a:solidFill>
          <a:ln w="12700">
            <a:solidFill>
              <a:srgbClr val="EAF5EE"/>
            </a:solidFill>
            <a:prstDash val="solid"/>
          </a:ln>
        </p:spPr>
      </p:sp>
      <p:sp>
        <p:nvSpPr>
          <p:cNvPr id="22" name="Shape 20"/>
          <p:cNvSpPr/>
          <p:nvPr/>
        </p:nvSpPr>
        <p:spPr>
          <a:xfrm>
            <a:off x="566928" y="5029200"/>
            <a:ext cx="50292" cy="859536"/>
          </a:xfrm>
          <a:prstGeom prst="rect">
            <a:avLst/>
          </a:prstGeom>
          <a:solidFill>
            <a:srgbClr val="15803D"/>
          </a:solidFill>
          <a:ln w="12700">
            <a:solidFill>
              <a:srgbClr val="333333"/>
            </a:solidFill>
            <a:prstDash val="solid"/>
          </a:ln>
        </p:spPr>
      </p:sp>
      <p:sp>
        <p:nvSpPr>
          <p:cNvPr id="23" name="Text 21"/>
          <p:cNvSpPr/>
          <p:nvPr/>
        </p:nvSpPr>
        <p:spPr>
          <a:xfrm>
            <a:off x="822960" y="5120640"/>
            <a:ext cx="3058058" cy="237744"/>
          </a:xfrm>
          <a:prstGeom prst="rect">
            <a:avLst/>
          </a:prstGeom>
          <a:noFill/>
          <a:ln/>
        </p:spPr>
        <p:txBody>
          <a:bodyPr wrap="square" rtlCol="0" anchor="ctr"/>
          <a:lstStyle/>
          <a:p>
            <a:pPr indent="0" marL="0">
              <a:buNone/>
            </a:pPr>
            <a:r>
              <a:rPr lang="en-US" sz="1200" b="1" dirty="0">
                <a:solidFill>
                  <a:srgbClr val="14161A"/>
                </a:solidFill>
                <a:latin typeface="Arial" pitchFamily="34" charset="0"/>
                <a:ea typeface="Arial" pitchFamily="34" charset="-122"/>
                <a:cs typeface="Arial" pitchFamily="34" charset="-120"/>
              </a:rPr>
              <a:t>01  ·  Personas actually differ</a:t>
            </a:r>
            <a:endParaRPr lang="en-US" sz="1200" dirty="0"/>
          </a:p>
        </p:txBody>
      </p:sp>
      <p:sp>
        <p:nvSpPr>
          <p:cNvPr id="24" name="Text 22"/>
          <p:cNvSpPr/>
          <p:nvPr/>
        </p:nvSpPr>
        <p:spPr>
          <a:xfrm>
            <a:off x="822960" y="5376672"/>
            <a:ext cx="3058058" cy="219456"/>
          </a:xfrm>
          <a:prstGeom prst="rect">
            <a:avLst/>
          </a:prstGeom>
          <a:noFill/>
          <a:ln/>
        </p:spPr>
        <p:txBody>
          <a:bodyPr wrap="square" rtlCol="0" anchor="ctr"/>
          <a:lstStyle/>
          <a:p>
            <a:pPr indent="0" marL="0">
              <a:buNone/>
            </a:pPr>
            <a:r>
              <a:rPr lang="en-US" sz="1000" dirty="0">
                <a:solidFill>
                  <a:srgbClr val="1D4ED8"/>
                </a:solidFill>
                <a:latin typeface="Courier New" pitchFamily="34" charset="0"/>
                <a:ea typeface="Courier New" pitchFamily="34" charset="-122"/>
                <a:cs typeface="Courier New" pitchFamily="34" charset="-120"/>
              </a:rPr>
              <a:t>npm run eval:persona</a:t>
            </a:r>
            <a:endParaRPr lang="en-US" sz="1000" dirty="0"/>
          </a:p>
        </p:txBody>
      </p:sp>
      <p:sp>
        <p:nvSpPr>
          <p:cNvPr id="25" name="Text 23"/>
          <p:cNvSpPr/>
          <p:nvPr/>
        </p:nvSpPr>
        <p:spPr>
          <a:xfrm>
            <a:off x="822960" y="5596128"/>
            <a:ext cx="3058058" cy="219456"/>
          </a:xfrm>
          <a:prstGeom prst="rect">
            <a:avLst/>
          </a:prstGeom>
          <a:noFill/>
          <a:ln/>
        </p:spPr>
        <p:txBody>
          <a:bodyPr wrap="square" rtlCol="0" anchor="ctr"/>
          <a:lstStyle/>
          <a:p>
            <a:pPr indent="0" marL="0">
              <a:buNone/>
            </a:pPr>
            <a:r>
              <a:rPr lang="en-US" sz="950" i="1" dirty="0">
                <a:solidFill>
                  <a:srgbClr val="15803D"/>
                </a:solidFill>
                <a:latin typeface="Arial" pitchFamily="34" charset="0"/>
                <a:ea typeface="Arial" pitchFamily="34" charset="-122"/>
                <a:cs typeface="Arial" pitchFamily="34" charset="-120"/>
              </a:rPr>
              <a:t>Deterministic — cannot fail</a:t>
            </a:r>
            <a:endParaRPr lang="en-US" sz="950" dirty="0"/>
          </a:p>
        </p:txBody>
      </p:sp>
      <p:sp>
        <p:nvSpPr>
          <p:cNvPr id="26" name="Shape 24"/>
          <p:cNvSpPr/>
          <p:nvPr/>
        </p:nvSpPr>
        <p:spPr>
          <a:xfrm>
            <a:off x="4356506" y="5029200"/>
            <a:ext cx="3478682" cy="859536"/>
          </a:xfrm>
          <a:prstGeom prst="rect">
            <a:avLst/>
          </a:prstGeom>
          <a:solidFill>
            <a:srgbClr val="FDF4E7"/>
          </a:solidFill>
          <a:ln w="12700">
            <a:solidFill>
              <a:srgbClr val="FDF4E7"/>
            </a:solidFill>
            <a:prstDash val="solid"/>
          </a:ln>
        </p:spPr>
      </p:sp>
      <p:sp>
        <p:nvSpPr>
          <p:cNvPr id="27" name="Shape 25"/>
          <p:cNvSpPr/>
          <p:nvPr/>
        </p:nvSpPr>
        <p:spPr>
          <a:xfrm>
            <a:off x="4356506" y="5029200"/>
            <a:ext cx="50292" cy="859536"/>
          </a:xfrm>
          <a:prstGeom prst="rect">
            <a:avLst/>
          </a:prstGeom>
          <a:solidFill>
            <a:srgbClr val="9A5B08"/>
          </a:solidFill>
          <a:ln w="12700">
            <a:solidFill>
              <a:srgbClr val="333333"/>
            </a:solidFill>
            <a:prstDash val="solid"/>
          </a:ln>
        </p:spPr>
      </p:sp>
      <p:sp>
        <p:nvSpPr>
          <p:cNvPr id="28" name="Text 26"/>
          <p:cNvSpPr/>
          <p:nvPr/>
        </p:nvSpPr>
        <p:spPr>
          <a:xfrm>
            <a:off x="4612538" y="5120640"/>
            <a:ext cx="3058058" cy="237744"/>
          </a:xfrm>
          <a:prstGeom prst="rect">
            <a:avLst/>
          </a:prstGeom>
          <a:noFill/>
          <a:ln/>
        </p:spPr>
        <p:txBody>
          <a:bodyPr wrap="square" rtlCol="0" anchor="ctr"/>
          <a:lstStyle/>
          <a:p>
            <a:pPr indent="0" marL="0">
              <a:buNone/>
            </a:pPr>
            <a:r>
              <a:rPr lang="en-US" sz="1200" b="1" dirty="0">
                <a:solidFill>
                  <a:srgbClr val="14161A"/>
                </a:solidFill>
                <a:latin typeface="Arial" pitchFamily="34" charset="0"/>
                <a:ea typeface="Arial" pitchFamily="34" charset="-122"/>
                <a:cs typeface="Arial" pitchFamily="34" charset="-120"/>
              </a:rPr>
              <a:t>02  ·  What it has cost</a:t>
            </a:r>
            <a:endParaRPr lang="en-US" sz="1200" dirty="0"/>
          </a:p>
        </p:txBody>
      </p:sp>
      <p:sp>
        <p:nvSpPr>
          <p:cNvPr id="29" name="Text 27"/>
          <p:cNvSpPr/>
          <p:nvPr/>
        </p:nvSpPr>
        <p:spPr>
          <a:xfrm>
            <a:off x="4612538" y="5376672"/>
            <a:ext cx="3058058" cy="219456"/>
          </a:xfrm>
          <a:prstGeom prst="rect">
            <a:avLst/>
          </a:prstGeom>
          <a:noFill/>
          <a:ln/>
        </p:spPr>
        <p:txBody>
          <a:bodyPr wrap="square" rtlCol="0" anchor="ctr"/>
          <a:lstStyle/>
          <a:p>
            <a:pPr indent="0" marL="0">
              <a:buNone/>
            </a:pPr>
            <a:r>
              <a:rPr lang="en-US" sz="1000" dirty="0">
                <a:solidFill>
                  <a:srgbClr val="1D4ED8"/>
                </a:solidFill>
                <a:latin typeface="Courier New" pitchFamily="34" charset="0"/>
                <a:ea typeface="Courier New" pitchFamily="34" charset="-122"/>
                <a:cs typeface="Courier New" pitchFamily="34" charset="-120"/>
              </a:rPr>
              <a:t>npm run cost-report</a:t>
            </a:r>
            <a:endParaRPr lang="en-US" sz="1000" dirty="0"/>
          </a:p>
        </p:txBody>
      </p:sp>
      <p:sp>
        <p:nvSpPr>
          <p:cNvPr id="30" name="Text 28"/>
          <p:cNvSpPr/>
          <p:nvPr/>
        </p:nvSpPr>
        <p:spPr>
          <a:xfrm>
            <a:off x="4612538" y="5596128"/>
            <a:ext cx="3058058" cy="219456"/>
          </a:xfrm>
          <a:prstGeom prst="rect">
            <a:avLst/>
          </a:prstGeom>
          <a:noFill/>
          <a:ln/>
        </p:spPr>
        <p:txBody>
          <a:bodyPr wrap="square" rtlCol="0" anchor="ctr"/>
          <a:lstStyle/>
          <a:p>
            <a:pPr indent="0" marL="0">
              <a:buNone/>
            </a:pPr>
            <a:r>
              <a:rPr lang="en-US" sz="950" i="1" dirty="0">
                <a:solidFill>
                  <a:srgbClr val="9A5B08"/>
                </a:solidFill>
                <a:latin typeface="Arial" pitchFamily="34" charset="0"/>
                <a:ea typeface="Arial" pitchFamily="34" charset="-122"/>
                <a:cs typeface="Arial" pitchFamily="34" charset="-120"/>
              </a:rPr>
              <a:t>Reads llm_usage</a:t>
            </a:r>
            <a:endParaRPr lang="en-US" sz="950" dirty="0"/>
          </a:p>
        </p:txBody>
      </p:sp>
      <p:sp>
        <p:nvSpPr>
          <p:cNvPr id="31" name="Shape 29"/>
          <p:cNvSpPr/>
          <p:nvPr/>
        </p:nvSpPr>
        <p:spPr>
          <a:xfrm>
            <a:off x="8146085" y="5029200"/>
            <a:ext cx="3478682" cy="859536"/>
          </a:xfrm>
          <a:prstGeom prst="rect">
            <a:avLst/>
          </a:prstGeom>
          <a:solidFill>
            <a:srgbClr val="FDF4E7"/>
          </a:solidFill>
          <a:ln w="12700">
            <a:solidFill>
              <a:srgbClr val="FDF4E7"/>
            </a:solidFill>
            <a:prstDash val="solid"/>
          </a:ln>
        </p:spPr>
      </p:sp>
      <p:sp>
        <p:nvSpPr>
          <p:cNvPr id="32" name="Shape 30"/>
          <p:cNvSpPr/>
          <p:nvPr/>
        </p:nvSpPr>
        <p:spPr>
          <a:xfrm>
            <a:off x="8146085" y="5029200"/>
            <a:ext cx="50292" cy="859536"/>
          </a:xfrm>
          <a:prstGeom prst="rect">
            <a:avLst/>
          </a:prstGeom>
          <a:solidFill>
            <a:srgbClr val="9A5B08"/>
          </a:solidFill>
          <a:ln w="12700">
            <a:solidFill>
              <a:srgbClr val="333333"/>
            </a:solidFill>
            <a:prstDash val="solid"/>
          </a:ln>
        </p:spPr>
      </p:sp>
      <p:sp>
        <p:nvSpPr>
          <p:cNvPr id="33" name="Text 31"/>
          <p:cNvSpPr/>
          <p:nvPr/>
        </p:nvSpPr>
        <p:spPr>
          <a:xfrm>
            <a:off x="8402117" y="5120640"/>
            <a:ext cx="3058058" cy="237744"/>
          </a:xfrm>
          <a:prstGeom prst="rect">
            <a:avLst/>
          </a:prstGeom>
          <a:noFill/>
          <a:ln/>
        </p:spPr>
        <p:txBody>
          <a:bodyPr wrap="square" rtlCol="0" anchor="ctr"/>
          <a:lstStyle/>
          <a:p>
            <a:pPr indent="0" marL="0">
              <a:buNone/>
            </a:pPr>
            <a:r>
              <a:rPr lang="en-US" sz="1200" b="1" dirty="0">
                <a:solidFill>
                  <a:srgbClr val="14161A"/>
                </a:solidFill>
                <a:latin typeface="Arial" pitchFamily="34" charset="0"/>
                <a:ea typeface="Arial" pitchFamily="34" charset="-122"/>
                <a:cs typeface="Arial" pitchFamily="34" charset="-120"/>
              </a:rPr>
              <a:t>03  ·  A live interview</a:t>
            </a:r>
            <a:endParaRPr lang="en-US" sz="1200" dirty="0"/>
          </a:p>
        </p:txBody>
      </p:sp>
      <p:sp>
        <p:nvSpPr>
          <p:cNvPr id="34" name="Text 32"/>
          <p:cNvSpPr/>
          <p:nvPr/>
        </p:nvSpPr>
        <p:spPr>
          <a:xfrm>
            <a:off x="8402117" y="5376672"/>
            <a:ext cx="3058058" cy="219456"/>
          </a:xfrm>
          <a:prstGeom prst="rect">
            <a:avLst/>
          </a:prstGeom>
          <a:noFill/>
          <a:ln/>
        </p:spPr>
        <p:txBody>
          <a:bodyPr wrap="square" rtlCol="0" anchor="ctr"/>
          <a:lstStyle/>
          <a:p>
            <a:pPr indent="0" marL="0">
              <a:buNone/>
            </a:pPr>
            <a:r>
              <a:rPr lang="en-US" sz="1000" dirty="0">
                <a:solidFill>
                  <a:srgbClr val="1D4ED8"/>
                </a:solidFill>
                <a:latin typeface="Courier New" pitchFamily="34" charset="0"/>
                <a:ea typeface="Courier New" pitchFamily="34" charset="-122"/>
                <a:cs typeface="Courier New" pitchFamily="34" charset="-120"/>
              </a:rPr>
              <a:t>npm run dev</a:t>
            </a:r>
            <a:endParaRPr lang="en-US" sz="1000" dirty="0"/>
          </a:p>
        </p:txBody>
      </p:sp>
      <p:sp>
        <p:nvSpPr>
          <p:cNvPr id="35" name="Text 33"/>
          <p:cNvSpPr/>
          <p:nvPr/>
        </p:nvSpPr>
        <p:spPr>
          <a:xfrm>
            <a:off x="8402117" y="5596128"/>
            <a:ext cx="3058058" cy="219456"/>
          </a:xfrm>
          <a:prstGeom prst="rect">
            <a:avLst/>
          </a:prstGeom>
          <a:noFill/>
          <a:ln/>
        </p:spPr>
        <p:txBody>
          <a:bodyPr wrap="square" rtlCol="0" anchor="ctr"/>
          <a:lstStyle/>
          <a:p>
            <a:pPr indent="0" marL="0">
              <a:buNone/>
            </a:pPr>
            <a:r>
              <a:rPr lang="en-US" sz="950" i="1" dirty="0">
                <a:solidFill>
                  <a:srgbClr val="9A5B08"/>
                </a:solidFill>
                <a:latin typeface="Arial" pitchFamily="34" charset="0"/>
                <a:ea typeface="Arial" pitchFamily="34" charset="-122"/>
                <a:cs typeface="Arial" pitchFamily="34" charset="-120"/>
              </a:rPr>
              <a:t>Strict persona, short round</a:t>
            </a:r>
            <a:endParaRPr lang="en-US" sz="950" dirty="0"/>
          </a:p>
        </p:txBody>
      </p:sp>
      <p:sp>
        <p:nvSpPr>
          <p:cNvPr id="37" name="Text 34"/>
          <p:cNvSpPr/>
          <p:nvPr/>
        </p:nvSpPr>
        <p:spPr>
          <a:xfrm>
            <a:off x="566928" y="6382512"/>
            <a:ext cx="5486400" cy="274320"/>
          </a:xfrm>
          <a:prstGeom prst="rect">
            <a:avLst/>
          </a:prstGeom>
          <a:noFill/>
          <a:ln/>
        </p:spPr>
        <p:txBody>
          <a:bodyPr wrap="square" rtlCol="0" anchor="ctr"/>
          <a:lstStyle/>
          <a:p>
            <a:pPr indent="0" marL="0">
              <a:buNone/>
            </a:pPr>
            <a:r>
              <a:rPr lang="en-US" sz="1000" dirty="0">
                <a:solidFill>
                  <a:srgbClr val="7A8593"/>
                </a:solidFill>
                <a:latin typeface="Arial" pitchFamily="34" charset="0"/>
                <a:ea typeface="Arial" pitchFamily="34" charset="-122"/>
                <a:cs typeface="Arial" pitchFamily="34" charset="-120"/>
              </a:rPr>
              <a:t>ConvoTrainer  ·  Final Year Project</a:t>
            </a:r>
            <a:endParaRPr lang="en-US" sz="1000" dirty="0"/>
          </a:p>
        </p:txBody>
      </p:sp>
      <p:sp>
        <p:nvSpPr>
          <p:cNvPr id="38" name="Text 35"/>
          <p:cNvSpPr/>
          <p:nvPr/>
        </p:nvSpPr>
        <p:spPr>
          <a:xfrm>
            <a:off x="10710367" y="6382512"/>
            <a:ext cx="914400" cy="274320"/>
          </a:xfrm>
          <a:prstGeom prst="rect">
            <a:avLst/>
          </a:prstGeom>
          <a:noFill/>
          <a:ln/>
        </p:spPr>
        <p:txBody>
          <a:bodyPr wrap="square" rtlCol="0" anchor="ctr"/>
          <a:lstStyle/>
          <a:p>
            <a:pPr algn="r" indent="0" marL="0">
              <a:buNone/>
            </a:pPr>
            <a:r>
              <a:rPr lang="en-US" sz="1000" dirty="0">
                <a:solidFill>
                  <a:srgbClr val="7A8593"/>
                </a:solidFill>
                <a:latin typeface="Arial" pitchFamily="34" charset="0"/>
                <a:ea typeface="Arial" pitchFamily="34" charset="-122"/>
                <a:cs typeface="Arial"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61A"/>
        </a:solidFill>
      </p:bgPr>
    </p:bg>
    <p:spTree>
      <p:nvGrpSpPr>
        <p:cNvPr id="1" name=""/>
        <p:cNvGrpSpPr/>
        <p:nvPr/>
      </p:nvGrpSpPr>
      <p:grpSpPr>
        <a:xfrm>
          <a:off x="0" y="0"/>
          <a:ext cx="0" cy="0"/>
          <a:chOff x="0" y="0"/>
          <a:chExt cx="0" cy="0"/>
        </a:xfrm>
      </p:grpSpPr>
      <p:sp>
        <p:nvSpPr>
          <p:cNvPr id="2" name="Text 0"/>
          <p:cNvSpPr/>
          <p:nvPr/>
        </p:nvSpPr>
        <p:spPr>
          <a:xfrm>
            <a:off x="566928" y="2651760"/>
            <a:ext cx="11057839" cy="731520"/>
          </a:xfrm>
          <a:prstGeom prst="rect">
            <a:avLst/>
          </a:prstGeom>
          <a:noFill/>
          <a:ln/>
        </p:spPr>
        <p:txBody>
          <a:bodyPr wrap="square" rtlCol="0" anchor="ctr"/>
          <a:lstStyle/>
          <a:p>
            <a:pPr indent="0" marL="0">
              <a:buNone/>
            </a:pPr>
            <a:r>
              <a:rPr lang="en-US" sz="4000" b="1" dirty="0">
                <a:solidFill>
                  <a:srgbClr val="FFFFFF"/>
                </a:solidFill>
                <a:latin typeface="Arial" pitchFamily="34" charset="0"/>
                <a:ea typeface="Arial" pitchFamily="34" charset="-122"/>
                <a:cs typeface="Arial" pitchFamily="34" charset="-120"/>
              </a:rPr>
              <a:t>Thank you</a:t>
            </a:r>
            <a:endParaRPr lang="en-US" sz="4000" dirty="0"/>
          </a:p>
        </p:txBody>
      </p:sp>
      <p:sp>
        <p:nvSpPr>
          <p:cNvPr id="3" name="Text 1"/>
          <p:cNvSpPr/>
          <p:nvPr/>
        </p:nvSpPr>
        <p:spPr>
          <a:xfrm>
            <a:off x="566928" y="3438144"/>
            <a:ext cx="11057839" cy="365760"/>
          </a:xfrm>
          <a:prstGeom prst="rect">
            <a:avLst/>
          </a:prstGeom>
          <a:noFill/>
          <a:ln/>
        </p:spPr>
        <p:txBody>
          <a:bodyPr wrap="square" rtlCol="0" anchor="ctr"/>
          <a:lstStyle/>
          <a:p>
            <a:pPr indent="0" marL="0">
              <a:buNone/>
            </a:pPr>
            <a:r>
              <a:rPr lang="en-US" sz="1500" dirty="0">
                <a:solidFill>
                  <a:srgbClr val="9AA5B4"/>
                </a:solidFill>
                <a:latin typeface="Arial" pitchFamily="34" charset="0"/>
                <a:ea typeface="Arial" pitchFamily="34" charset="-122"/>
                <a:cs typeface="Arial" pitchFamily="34" charset="-120"/>
              </a:rPr>
              <a:t>Questions. Supporting material follows — not presented.</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20624"/>
            <a:ext cx="128016" cy="128016"/>
          </a:xfrm>
          <a:prstGeom prst="rect">
            <a:avLst/>
          </a:prstGeom>
          <a:solidFill>
            <a:srgbClr val="1D4ED8"/>
          </a:solidFill>
          <a:ln/>
        </p:spPr>
      </p:sp>
      <p:sp>
        <p:nvSpPr>
          <p:cNvPr id="3" name="Text 1"/>
          <p:cNvSpPr/>
          <p:nvPr/>
        </p:nvSpPr>
        <p:spPr>
          <a:xfrm>
            <a:off x="804672" y="365760"/>
            <a:ext cx="10820095" cy="237744"/>
          </a:xfrm>
          <a:prstGeom prst="rect">
            <a:avLst/>
          </a:prstGeom>
          <a:noFill/>
          <a:ln/>
        </p:spPr>
        <p:txBody>
          <a:bodyPr wrap="square" rtlCol="0" anchor="ctr"/>
          <a:lstStyle/>
          <a:p>
            <a:pPr indent="0" marL="0">
              <a:buNone/>
            </a:pPr>
            <a:r>
              <a:rPr lang="en-US" sz="1100" b="1" spc="160" kern="0" dirty="0">
                <a:solidFill>
                  <a:srgbClr val="1D4ED8"/>
                </a:solidFill>
                <a:latin typeface="Arial" pitchFamily="34" charset="0"/>
                <a:ea typeface="Arial" pitchFamily="34" charset="-122"/>
                <a:cs typeface="Arial" pitchFamily="34" charset="-120"/>
              </a:rPr>
              <a:t>APPENDIX A</a:t>
            </a:r>
            <a:endParaRPr lang="en-US" sz="1100" dirty="0"/>
          </a:p>
        </p:txBody>
      </p:sp>
      <p:sp>
        <p:nvSpPr>
          <p:cNvPr id="4" name="Text 2"/>
          <p:cNvSpPr/>
          <p:nvPr/>
        </p:nvSpPr>
        <p:spPr>
          <a:xfrm>
            <a:off x="566928" y="694944"/>
            <a:ext cx="11057839" cy="566928"/>
          </a:xfrm>
          <a:prstGeom prst="rect">
            <a:avLst/>
          </a:prstGeom>
          <a:noFill/>
          <a:ln/>
        </p:spPr>
        <p:txBody>
          <a:bodyPr wrap="square" rtlCol="0" anchor="ctr"/>
          <a:lstStyle/>
          <a:p>
            <a:pPr indent="0" marL="0">
              <a:buNone/>
            </a:pPr>
            <a:r>
              <a:rPr lang="en-US" sz="3000" b="1" dirty="0">
                <a:solidFill>
                  <a:srgbClr val="14161A"/>
                </a:solidFill>
                <a:latin typeface="Arial" pitchFamily="34" charset="0"/>
                <a:ea typeface="Arial" pitchFamily="34" charset="-122"/>
                <a:cs typeface="Arial" pitchFamily="34" charset="-120"/>
              </a:rPr>
              <a:t>Full architecture</a:t>
            </a:r>
            <a:endParaRPr lang="en-US" sz="3000" dirty="0"/>
          </a:p>
        </p:txBody>
      </p:sp>
      <p:sp>
        <p:nvSpPr>
          <p:cNvPr id="5" name="Shape 3"/>
          <p:cNvSpPr/>
          <p:nvPr/>
        </p:nvSpPr>
        <p:spPr>
          <a:xfrm>
            <a:off x="566928" y="1627632"/>
            <a:ext cx="5373472" cy="3657600"/>
          </a:xfrm>
          <a:prstGeom prst="rect">
            <a:avLst/>
          </a:prstGeom>
          <a:solidFill>
            <a:srgbClr val="F5F7FA"/>
          </a:solidFill>
          <a:ln w="12700">
            <a:solidFill>
              <a:srgbClr val="F5F7FA"/>
            </a:solidFill>
            <a:prstDash val="solid"/>
          </a:ln>
        </p:spPr>
      </p:sp>
      <p:sp>
        <p:nvSpPr>
          <p:cNvPr id="6" name="Shape 4"/>
          <p:cNvSpPr/>
          <p:nvPr/>
        </p:nvSpPr>
        <p:spPr>
          <a:xfrm>
            <a:off x="566928" y="1627632"/>
            <a:ext cx="50292" cy="3657600"/>
          </a:xfrm>
          <a:prstGeom prst="rect">
            <a:avLst/>
          </a:prstGeom>
          <a:solidFill>
            <a:srgbClr val="1D4ED8"/>
          </a:solidFill>
          <a:ln w="12700">
            <a:solidFill>
              <a:srgbClr val="333333"/>
            </a:solidFill>
            <a:prstDash val="solid"/>
          </a:ln>
        </p:spPr>
      </p:sp>
      <p:sp>
        <p:nvSpPr>
          <p:cNvPr id="7" name="Text 5"/>
          <p:cNvSpPr/>
          <p:nvPr/>
        </p:nvSpPr>
        <p:spPr>
          <a:xfrm>
            <a:off x="841248" y="1755648"/>
            <a:ext cx="4916272" cy="310896"/>
          </a:xfrm>
          <a:prstGeom prst="rect">
            <a:avLst/>
          </a:prstGeom>
          <a:noFill/>
          <a:ln/>
        </p:spPr>
        <p:txBody>
          <a:bodyPr wrap="square" rtlCol="0" anchor="ctr"/>
          <a:lstStyle/>
          <a:p>
            <a:pPr indent="0" marL="0">
              <a:buNone/>
            </a:pPr>
            <a:r>
              <a:rPr lang="en-US" sz="1400" b="1" dirty="0">
                <a:solidFill>
                  <a:srgbClr val="14161A"/>
                </a:solidFill>
                <a:latin typeface="Arial" pitchFamily="34" charset="0"/>
                <a:ea typeface="Arial" pitchFamily="34" charset="-122"/>
                <a:cs typeface="Arial" pitchFamily="34" charset="-120"/>
              </a:rPr>
              <a:t>Layers</a:t>
            </a:r>
            <a:endParaRPr lang="en-US" sz="1400" dirty="0"/>
          </a:p>
        </p:txBody>
      </p:sp>
      <p:sp>
        <p:nvSpPr>
          <p:cNvPr id="8" name="Text 6"/>
          <p:cNvSpPr/>
          <p:nvPr/>
        </p:nvSpPr>
        <p:spPr>
          <a:xfrm>
            <a:off x="841248" y="2139696"/>
            <a:ext cx="4916272" cy="3054096"/>
          </a:xfrm>
          <a:prstGeom prst="rect">
            <a:avLst/>
          </a:prstGeom>
          <a:noFill/>
          <a:ln/>
        </p:spPr>
        <p:txBody>
          <a:bodyPr wrap="square" rtlCol="0" anchor="t"/>
          <a:lstStyle/>
          <a:p>
            <a:pPr indent="0" marL="0">
              <a:lnSpc>
                <a:spcPts val="1600"/>
              </a:lnSpc>
              <a:buNone/>
            </a:pPr>
            <a:r>
              <a:rPr lang="en-US" sz="1150" b="1" dirty="0">
                <a:solidFill>
                  <a:srgbClr val="14161A"/>
                </a:solidFill>
                <a:latin typeface="Arial" pitchFamily="34" charset="0"/>
                <a:ea typeface="Arial" pitchFamily="34" charset="-122"/>
                <a:cs typeface="Arial" pitchFamily="34" charset="-120"/>
              </a:rPr>
              <a:t>Proxy</a:t>
            </a:r>
            <a:pPr indent="0" marL="0">
              <a:lnSpc>
                <a:spcPts val="1600"/>
              </a:lnSpc>
              <a:buNone/>
            </a:pPr>
            <a:r>
              <a:rPr lang="en-US" sz="1150" dirty="0">
                <a:solidFill>
                  <a:srgbClr val="3F4750"/>
                </a:solidFill>
                <a:latin typeface="Arial" pitchFamily="34" charset="0"/>
                <a:ea typeface="Arial" pitchFamily="34" charset="-122"/>
                <a:cs typeface="Arial" pitchFamily="34" charset="-120"/>
              </a:rPr>
              <a:t>  refreshes the Supabase session cookie on every request</a:t>
            </a:r>
            <a:endParaRPr lang="en-US" sz="1150" dirty="0"/>
          </a:p>
          <a:p>
            <a:pPr indent="0" marL="0">
              <a:lnSpc>
                <a:spcPts val="1600"/>
              </a:lnSpc>
              <a:buNone/>
            </a:pPr>
            <a:endParaRPr lang="en-US" sz="1150" dirty="0"/>
          </a:p>
          <a:p>
            <a:pPr indent="0" marL="0">
              <a:lnSpc>
                <a:spcPts val="1600"/>
              </a:lnSpc>
              <a:buNone/>
            </a:pPr>
            <a:r>
              <a:rPr lang="en-US" sz="1150" b="1" dirty="0">
                <a:solidFill>
                  <a:srgbClr val="14161A"/>
                </a:solidFill>
                <a:latin typeface="Arial" pitchFamily="34" charset="0"/>
                <a:ea typeface="Arial" pitchFamily="34" charset="-122"/>
                <a:cs typeface="Arial" pitchFamily="34" charset="-120"/>
              </a:rPr>
              <a:t>Pages</a:t>
            </a:r>
            <a:pPr indent="0" marL="0">
              <a:lnSpc>
                <a:spcPts val="1600"/>
              </a:lnSpc>
              <a:buNone/>
            </a:pPr>
            <a:r>
              <a:rPr lang="en-US" sz="1150" dirty="0">
                <a:solidFill>
                  <a:srgbClr val="3F4750"/>
                </a:solidFill>
                <a:latin typeface="Arial" pitchFamily="34" charset="0"/>
                <a:ea typeface="Arial" pitchFamily="34" charset="-122"/>
                <a:cs typeface="Arial" pitchFamily="34" charset="-120"/>
              </a:rPr>
              <a:t>  marketing, auth, dashboard, and the two interview surfaces</a:t>
            </a:r>
            <a:endParaRPr lang="en-US" sz="1150" dirty="0"/>
          </a:p>
          <a:p>
            <a:pPr indent="0" marL="0">
              <a:lnSpc>
                <a:spcPts val="1600"/>
              </a:lnSpc>
              <a:buNone/>
            </a:pPr>
            <a:endParaRPr lang="en-US" sz="1150" dirty="0"/>
          </a:p>
          <a:p>
            <a:pPr indent="0" marL="0">
              <a:lnSpc>
                <a:spcPts val="1600"/>
              </a:lnSpc>
              <a:buNone/>
            </a:pPr>
            <a:r>
              <a:rPr lang="en-US" sz="1150" b="1" dirty="0">
                <a:solidFill>
                  <a:srgbClr val="14161A"/>
                </a:solidFill>
                <a:latin typeface="Arial" pitchFamily="34" charset="0"/>
                <a:ea typeface="Arial" pitchFamily="34" charset="-122"/>
                <a:cs typeface="Arial" pitchFamily="34" charset="-120"/>
              </a:rPr>
              <a:t>API</a:t>
            </a:r>
            <a:pPr indent="0" marL="0">
              <a:lnSpc>
                <a:spcPts val="1600"/>
              </a:lnSpc>
              <a:buNone/>
            </a:pPr>
            <a:r>
              <a:rPr lang="en-US" sz="1150" dirty="0">
                <a:solidFill>
                  <a:srgbClr val="3F4750"/>
                </a:solidFill>
                <a:latin typeface="Arial" pitchFamily="34" charset="0"/>
                <a:ea typeface="Arial" pitchFamily="34" charset="-122"/>
                <a:cs typeface="Arial" pitchFamily="34" charset="-120"/>
              </a:rPr>
              <a:t>  18 route files — auth-gated, rate-limited, RLS-backed</a:t>
            </a:r>
            <a:endParaRPr lang="en-US" sz="1150" dirty="0"/>
          </a:p>
          <a:p>
            <a:pPr indent="0" marL="0">
              <a:lnSpc>
                <a:spcPts val="1600"/>
              </a:lnSpc>
              <a:buNone/>
            </a:pPr>
            <a:endParaRPr lang="en-US" sz="1150" dirty="0"/>
          </a:p>
          <a:p>
            <a:pPr indent="0" marL="0">
              <a:lnSpc>
                <a:spcPts val="1600"/>
              </a:lnSpc>
              <a:buNone/>
            </a:pPr>
            <a:r>
              <a:rPr lang="en-US" sz="1150" b="1" dirty="0">
                <a:solidFill>
                  <a:srgbClr val="14161A"/>
                </a:solidFill>
                <a:latin typeface="Arial" pitchFamily="34" charset="0"/>
                <a:ea typeface="Arial" pitchFamily="34" charset="-122"/>
                <a:cs typeface="Arial" pitchFamily="34" charset="-120"/>
              </a:rPr>
              <a:t>Domain</a:t>
            </a:r>
            <a:pPr indent="0" marL="0">
              <a:lnSpc>
                <a:spcPts val="1600"/>
              </a:lnSpc>
              <a:buNone/>
            </a:pPr>
            <a:r>
              <a:rPr lang="en-US" sz="1150" dirty="0">
                <a:solidFill>
                  <a:srgbClr val="3F4750"/>
                </a:solidFill>
                <a:latin typeface="Arial" pitchFamily="34" charset="0"/>
                <a:ea typeface="Arial" pitchFamily="34" charset="-122"/>
                <a:cs typeface="Arial" pitchFamily="34" charset="-120"/>
              </a:rPr>
              <a:t>  pure, unit-tested logic: analyzer, decision engine, rounds, competencies, summary</a:t>
            </a:r>
            <a:endParaRPr lang="en-US" sz="1150" dirty="0"/>
          </a:p>
          <a:p>
            <a:pPr indent="0" marL="0">
              <a:lnSpc>
                <a:spcPts val="1600"/>
              </a:lnSpc>
              <a:buNone/>
            </a:pPr>
            <a:endParaRPr lang="en-US" sz="1150" dirty="0"/>
          </a:p>
          <a:p>
            <a:pPr indent="0" marL="0">
              <a:lnSpc>
                <a:spcPts val="1600"/>
              </a:lnSpc>
              <a:buNone/>
            </a:pPr>
            <a:r>
              <a:rPr lang="en-US" sz="1150" b="1" dirty="0">
                <a:solidFill>
                  <a:srgbClr val="14161A"/>
                </a:solidFill>
                <a:latin typeface="Arial" pitchFamily="34" charset="0"/>
                <a:ea typeface="Arial" pitchFamily="34" charset="-122"/>
                <a:cs typeface="Arial" pitchFamily="34" charset="-120"/>
              </a:rPr>
              <a:t>Data</a:t>
            </a:r>
            <a:pPr indent="0" marL="0">
              <a:lnSpc>
                <a:spcPts val="1600"/>
              </a:lnSpc>
              <a:buNone/>
            </a:pPr>
            <a:r>
              <a:rPr lang="en-US" sz="1150" dirty="0">
                <a:solidFill>
                  <a:srgbClr val="3F4750"/>
                </a:solidFill>
                <a:latin typeface="Arial" pitchFamily="34" charset="0"/>
                <a:ea typeface="Arial" pitchFamily="34" charset="-122"/>
                <a:cs typeface="Arial" pitchFamily="34" charset="-120"/>
              </a:rPr>
              <a:t>  src/lib/db — the only place SQL shapes live</a:t>
            </a:r>
            <a:endParaRPr lang="en-US" sz="1150" dirty="0"/>
          </a:p>
          <a:p>
            <a:pPr indent="0" marL="0">
              <a:lnSpc>
                <a:spcPts val="1600"/>
              </a:lnSpc>
              <a:buNone/>
            </a:pPr>
            <a:endParaRPr lang="en-US" sz="1150" dirty="0"/>
          </a:p>
          <a:p>
            <a:pPr indent="0" marL="0">
              <a:lnSpc>
                <a:spcPts val="1600"/>
              </a:lnSpc>
              <a:buNone/>
            </a:pPr>
            <a:r>
              <a:rPr lang="en-US" sz="1150" b="1" dirty="0">
                <a:solidFill>
                  <a:srgbClr val="14161A"/>
                </a:solidFill>
                <a:latin typeface="Arial" pitchFamily="34" charset="0"/>
                <a:ea typeface="Arial" pitchFamily="34" charset="-122"/>
                <a:cs typeface="Arial" pitchFamily="34" charset="-120"/>
              </a:rPr>
              <a:t>Operator</a:t>
            </a:r>
            <a:pPr indent="0" marL="0">
              <a:lnSpc>
                <a:spcPts val="1600"/>
              </a:lnSpc>
              <a:buNone/>
            </a:pPr>
            <a:r>
              <a:rPr lang="en-US" sz="1150" dirty="0">
                <a:solidFill>
                  <a:srgbClr val="3F4750"/>
                </a:solidFill>
                <a:latin typeface="Arial" pitchFamily="34" charset="0"/>
                <a:ea typeface="Arial" pitchFamily="34" charset="-122"/>
                <a:cs typeface="Arial" pitchFamily="34" charset="-120"/>
              </a:rPr>
              <a:t>  src/eval — CLI only, never bundled</a:t>
            </a:r>
            <a:endParaRPr lang="en-US" sz="1150" dirty="0"/>
          </a:p>
        </p:txBody>
      </p:sp>
      <p:sp>
        <p:nvSpPr>
          <p:cNvPr id="9" name="Shape 7"/>
          <p:cNvSpPr/>
          <p:nvPr/>
        </p:nvSpPr>
        <p:spPr>
          <a:xfrm>
            <a:off x="6251296" y="1627632"/>
            <a:ext cx="5373472" cy="3657600"/>
          </a:xfrm>
          <a:prstGeom prst="rect">
            <a:avLst/>
          </a:prstGeom>
          <a:solidFill>
            <a:srgbClr val="F5F7FA"/>
          </a:solidFill>
          <a:ln w="12700">
            <a:solidFill>
              <a:srgbClr val="F5F7FA"/>
            </a:solidFill>
            <a:prstDash val="solid"/>
          </a:ln>
        </p:spPr>
      </p:sp>
      <p:sp>
        <p:nvSpPr>
          <p:cNvPr id="10" name="Shape 8"/>
          <p:cNvSpPr/>
          <p:nvPr/>
        </p:nvSpPr>
        <p:spPr>
          <a:xfrm>
            <a:off x="6251296" y="1627632"/>
            <a:ext cx="50292" cy="3657600"/>
          </a:xfrm>
          <a:prstGeom prst="rect">
            <a:avLst/>
          </a:prstGeom>
          <a:solidFill>
            <a:srgbClr val="1D4ED8"/>
          </a:solidFill>
          <a:ln w="12700">
            <a:solidFill>
              <a:srgbClr val="333333"/>
            </a:solidFill>
            <a:prstDash val="solid"/>
          </a:ln>
        </p:spPr>
      </p:sp>
      <p:sp>
        <p:nvSpPr>
          <p:cNvPr id="11" name="Text 9"/>
          <p:cNvSpPr/>
          <p:nvPr/>
        </p:nvSpPr>
        <p:spPr>
          <a:xfrm>
            <a:off x="6525616" y="1755648"/>
            <a:ext cx="4916272" cy="310896"/>
          </a:xfrm>
          <a:prstGeom prst="rect">
            <a:avLst/>
          </a:prstGeom>
          <a:noFill/>
          <a:ln/>
        </p:spPr>
        <p:txBody>
          <a:bodyPr wrap="square" rtlCol="0" anchor="ctr"/>
          <a:lstStyle/>
          <a:p>
            <a:pPr indent="0" marL="0">
              <a:buNone/>
            </a:pPr>
            <a:r>
              <a:rPr lang="en-US" sz="1400" b="1" dirty="0">
                <a:solidFill>
                  <a:srgbClr val="14161A"/>
                </a:solidFill>
                <a:latin typeface="Arial" pitchFamily="34" charset="0"/>
                <a:ea typeface="Arial" pitchFamily="34" charset="-122"/>
                <a:cs typeface="Arial" pitchFamily="34" charset="-120"/>
              </a:rPr>
              <a:t>Why it is shaped this way</a:t>
            </a:r>
            <a:endParaRPr lang="en-US" sz="1400" dirty="0"/>
          </a:p>
        </p:txBody>
      </p:sp>
      <p:sp>
        <p:nvSpPr>
          <p:cNvPr id="12" name="Text 10"/>
          <p:cNvSpPr/>
          <p:nvPr/>
        </p:nvSpPr>
        <p:spPr>
          <a:xfrm>
            <a:off x="6525616" y="2139696"/>
            <a:ext cx="4916272" cy="3054096"/>
          </a:xfrm>
          <a:prstGeom prst="rect">
            <a:avLst/>
          </a:prstGeom>
          <a:noFill/>
          <a:ln/>
        </p:spPr>
        <p:txBody>
          <a:bodyPr wrap="square" rtlCol="0" anchor="t"/>
          <a:lstStyle/>
          <a:p>
            <a:pPr indent="0" marL="0">
              <a:lnSpc>
                <a:spcPts val="1600"/>
              </a:lnSpc>
              <a:buNone/>
            </a:pPr>
            <a:r>
              <a:rPr lang="en-US" sz="1150" b="1" dirty="0">
                <a:solidFill>
                  <a:srgbClr val="14161A"/>
                </a:solidFill>
                <a:latin typeface="Arial" pitchFamily="34" charset="0"/>
                <a:ea typeface="Arial" pitchFamily="34" charset="-122"/>
                <a:cs typeface="Arial" pitchFamily="34" charset="-120"/>
              </a:rPr>
              <a:t>Domain logic is pure</a:t>
            </a:r>
            <a:pPr indent="0" marL="0">
              <a:lnSpc>
                <a:spcPts val="1600"/>
              </a:lnSpc>
              <a:buNone/>
            </a:pPr>
            <a:r>
              <a:rPr lang="en-US" sz="1150" dirty="0">
                <a:solidFill>
                  <a:srgbClr val="3F4750"/>
                </a:solidFill>
                <a:latin typeface="Arial" pitchFamily="34" charset="0"/>
                <a:ea typeface="Arial" pitchFamily="34" charset="-122"/>
                <a:cs typeface="Arial" pitchFamily="34" charset="-120"/>
              </a:rPr>
              <a:t>  so it can be tested without a network or a database. That is why there are 299 tests and no mocking framework.</a:t>
            </a:r>
            <a:endParaRPr lang="en-US" sz="1150" dirty="0"/>
          </a:p>
          <a:p>
            <a:pPr indent="0" marL="0">
              <a:lnSpc>
                <a:spcPts val="1600"/>
              </a:lnSpc>
              <a:buNone/>
            </a:pPr>
            <a:endParaRPr lang="en-US" sz="1150" dirty="0"/>
          </a:p>
          <a:p>
            <a:pPr indent="0" marL="0">
              <a:lnSpc>
                <a:spcPts val="1600"/>
              </a:lnSpc>
              <a:buNone/>
            </a:pPr>
            <a:r>
              <a:rPr lang="en-US" sz="1150" b="1" dirty="0">
                <a:solidFill>
                  <a:srgbClr val="14161A"/>
                </a:solidFill>
                <a:latin typeface="Arial" pitchFamily="34" charset="0"/>
                <a:ea typeface="Arial" pitchFamily="34" charset="-122"/>
                <a:cs typeface="Arial" pitchFamily="34" charset="-120"/>
              </a:rPr>
              <a:t>One model for every interviewer turn</a:t>
            </a:r>
            <a:pPr indent="0" marL="0">
              <a:lnSpc>
                <a:spcPts val="1600"/>
              </a:lnSpc>
              <a:buNone/>
            </a:pPr>
            <a:r>
              <a:rPr lang="en-US" sz="1150" dirty="0">
                <a:solidFill>
                  <a:srgbClr val="3F4750"/>
                </a:solidFill>
                <a:latin typeface="Arial" pitchFamily="34" charset="0"/>
                <a:ea typeface="Arial" pitchFamily="34" charset="-122"/>
                <a:cs typeface="Arial" pitchFamily="34" charset="-120"/>
              </a:rPr>
              <a:t>  a different model is a different cache, so mixing them means never reusing a prefix.</a:t>
            </a:r>
            <a:endParaRPr lang="en-US" sz="1150" dirty="0"/>
          </a:p>
          <a:p>
            <a:pPr indent="0" marL="0">
              <a:lnSpc>
                <a:spcPts val="1600"/>
              </a:lnSpc>
              <a:buNone/>
            </a:pPr>
            <a:endParaRPr lang="en-US" sz="1150" dirty="0"/>
          </a:p>
          <a:p>
            <a:pPr indent="0" marL="0">
              <a:lnSpc>
                <a:spcPts val="1600"/>
              </a:lnSpc>
              <a:buNone/>
            </a:pPr>
            <a:r>
              <a:rPr lang="en-US" sz="1150" b="1" dirty="0">
                <a:solidFill>
                  <a:srgbClr val="14161A"/>
                </a:solidFill>
                <a:latin typeface="Arial" pitchFamily="34" charset="0"/>
                <a:ea typeface="Arial" pitchFamily="34" charset="-122"/>
                <a:cs typeface="Arial" pitchFamily="34" charset="-120"/>
              </a:rPr>
              <a:t>Retrieval lives inside Postgres</a:t>
            </a:r>
            <a:pPr indent="0" marL="0">
              <a:lnSpc>
                <a:spcPts val="1600"/>
              </a:lnSpc>
              <a:buNone/>
            </a:pPr>
            <a:r>
              <a:rPr lang="en-US" sz="1150" dirty="0">
                <a:solidFill>
                  <a:srgbClr val="3F4750"/>
                </a:solidFill>
                <a:latin typeface="Arial" pitchFamily="34" charset="0"/>
                <a:ea typeface="Arial" pitchFamily="34" charset="-122"/>
                <a:cs typeface="Arial" pitchFamily="34" charset="-120"/>
              </a:rPr>
              <a:t>  pgvector rather than an external vector DB, so retrieval inherits the same row-level security as everything else.</a:t>
            </a:r>
            <a:endParaRPr lang="en-US" sz="1150" dirty="0"/>
          </a:p>
          <a:p>
            <a:pPr indent="0" marL="0">
              <a:lnSpc>
                <a:spcPts val="1600"/>
              </a:lnSpc>
              <a:buNone/>
            </a:pPr>
            <a:endParaRPr lang="en-US" sz="1150" dirty="0"/>
          </a:p>
          <a:p>
            <a:pPr indent="0" marL="0">
              <a:lnSpc>
                <a:spcPts val="1600"/>
              </a:lnSpc>
              <a:buNone/>
            </a:pPr>
            <a:r>
              <a:rPr lang="en-US" sz="1150" b="1" dirty="0">
                <a:solidFill>
                  <a:srgbClr val="14161A"/>
                </a:solidFill>
                <a:latin typeface="Arial" pitchFamily="34" charset="0"/>
                <a:ea typeface="Arial" pitchFamily="34" charset="-122"/>
                <a:cs typeface="Arial" pitchFamily="34" charset="-120"/>
              </a:rPr>
              <a:t>No global state library</a:t>
            </a:r>
            <a:pPr indent="0" marL="0">
              <a:lnSpc>
                <a:spcPts val="1600"/>
              </a:lnSpc>
              <a:buNone/>
            </a:pPr>
            <a:r>
              <a:rPr lang="en-US" sz="1150" dirty="0">
                <a:solidFill>
                  <a:srgbClr val="3F4750"/>
                </a:solidFill>
                <a:latin typeface="Arial" pitchFamily="34" charset="0"/>
                <a:ea typeface="Arial" pitchFamily="34" charset="-122"/>
                <a:cs typeface="Arial" pitchFamily="34" charset="-120"/>
              </a:rPr>
              <a:t>  hook-owned state with a single owner per concern.</a:t>
            </a:r>
            <a:endParaRPr lang="en-US" sz="1150" dirty="0"/>
          </a:p>
        </p:txBody>
      </p:sp>
      <p:sp>
        <p:nvSpPr>
          <p:cNvPr id="14" name="Text 11"/>
          <p:cNvSpPr/>
          <p:nvPr/>
        </p:nvSpPr>
        <p:spPr>
          <a:xfrm>
            <a:off x="566928" y="6382512"/>
            <a:ext cx="5486400" cy="274320"/>
          </a:xfrm>
          <a:prstGeom prst="rect">
            <a:avLst/>
          </a:prstGeom>
          <a:noFill/>
          <a:ln/>
        </p:spPr>
        <p:txBody>
          <a:bodyPr wrap="square" rtlCol="0" anchor="ctr"/>
          <a:lstStyle/>
          <a:p>
            <a:pPr indent="0" marL="0">
              <a:buNone/>
            </a:pPr>
            <a:r>
              <a:rPr lang="en-US" sz="1000" dirty="0">
                <a:solidFill>
                  <a:srgbClr val="7A8593"/>
                </a:solidFill>
                <a:latin typeface="Arial" pitchFamily="34" charset="0"/>
                <a:ea typeface="Arial" pitchFamily="34" charset="-122"/>
                <a:cs typeface="Arial" pitchFamily="34" charset="-120"/>
              </a:rPr>
              <a:t>ConvoTrainer  ·  Final Year Project</a:t>
            </a:r>
            <a:endParaRPr lang="en-US" sz="1000" dirty="0"/>
          </a:p>
        </p:txBody>
      </p:sp>
      <p:sp>
        <p:nvSpPr>
          <p:cNvPr id="15" name="Text 12"/>
          <p:cNvSpPr/>
          <p:nvPr/>
        </p:nvSpPr>
        <p:spPr>
          <a:xfrm>
            <a:off x="10710367" y="6382512"/>
            <a:ext cx="914400" cy="274320"/>
          </a:xfrm>
          <a:prstGeom prst="rect">
            <a:avLst/>
          </a:prstGeom>
          <a:noFill/>
          <a:ln/>
        </p:spPr>
        <p:txBody>
          <a:bodyPr wrap="square" rtlCol="0" anchor="ctr"/>
          <a:lstStyle/>
          <a:p>
            <a:pPr algn="r" indent="0" marL="0">
              <a:buNone/>
            </a:pPr>
            <a:r>
              <a:rPr lang="en-US" sz="1000" dirty="0">
                <a:solidFill>
                  <a:srgbClr val="7A8593"/>
                </a:solidFill>
                <a:latin typeface="Arial" pitchFamily="34" charset="0"/>
                <a:ea typeface="Arial" pitchFamily="34" charset="-122"/>
                <a:cs typeface="Arial"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20624"/>
            <a:ext cx="128016" cy="128016"/>
          </a:xfrm>
          <a:prstGeom prst="rect">
            <a:avLst/>
          </a:prstGeom>
          <a:solidFill>
            <a:srgbClr val="1D4ED8"/>
          </a:solidFill>
          <a:ln/>
        </p:spPr>
      </p:sp>
      <p:sp>
        <p:nvSpPr>
          <p:cNvPr id="3" name="Text 1"/>
          <p:cNvSpPr/>
          <p:nvPr/>
        </p:nvSpPr>
        <p:spPr>
          <a:xfrm>
            <a:off x="804672" y="365760"/>
            <a:ext cx="10820095" cy="237744"/>
          </a:xfrm>
          <a:prstGeom prst="rect">
            <a:avLst/>
          </a:prstGeom>
          <a:noFill/>
          <a:ln/>
        </p:spPr>
        <p:txBody>
          <a:bodyPr wrap="square" rtlCol="0" anchor="ctr"/>
          <a:lstStyle/>
          <a:p>
            <a:pPr indent="0" marL="0">
              <a:buNone/>
            </a:pPr>
            <a:r>
              <a:rPr lang="en-US" sz="1100" b="1" spc="160" kern="0" dirty="0">
                <a:solidFill>
                  <a:srgbClr val="1D4ED8"/>
                </a:solidFill>
                <a:latin typeface="Arial" pitchFamily="34" charset="0"/>
                <a:ea typeface="Arial" pitchFamily="34" charset="-122"/>
                <a:cs typeface="Arial" pitchFamily="34" charset="-120"/>
              </a:rPr>
              <a:t>APPENDIX B</a:t>
            </a:r>
            <a:endParaRPr lang="en-US" sz="1100" dirty="0"/>
          </a:p>
        </p:txBody>
      </p:sp>
      <p:sp>
        <p:nvSpPr>
          <p:cNvPr id="4" name="Text 2"/>
          <p:cNvSpPr/>
          <p:nvPr/>
        </p:nvSpPr>
        <p:spPr>
          <a:xfrm>
            <a:off x="566928" y="694944"/>
            <a:ext cx="11057839" cy="566928"/>
          </a:xfrm>
          <a:prstGeom prst="rect">
            <a:avLst/>
          </a:prstGeom>
          <a:noFill/>
          <a:ln/>
        </p:spPr>
        <p:txBody>
          <a:bodyPr wrap="square" rtlCol="0" anchor="ctr"/>
          <a:lstStyle/>
          <a:p>
            <a:pPr indent="0" marL="0">
              <a:buNone/>
            </a:pPr>
            <a:r>
              <a:rPr lang="en-US" sz="3000" b="1" dirty="0">
                <a:solidFill>
                  <a:srgbClr val="14161A"/>
                </a:solidFill>
                <a:latin typeface="Arial" pitchFamily="34" charset="0"/>
                <a:ea typeface="Arial" pitchFamily="34" charset="-122"/>
                <a:cs typeface="Arial" pitchFamily="34" charset="-120"/>
              </a:rPr>
              <a:t>Data, access control and grounding</a:t>
            </a:r>
            <a:endParaRPr lang="en-US" sz="3000" dirty="0"/>
          </a:p>
        </p:txBody>
      </p:sp>
      <p:sp>
        <p:nvSpPr>
          <p:cNvPr id="5" name="Shape 3"/>
          <p:cNvSpPr/>
          <p:nvPr/>
        </p:nvSpPr>
        <p:spPr>
          <a:xfrm>
            <a:off x="566928" y="1627632"/>
            <a:ext cx="5373472" cy="3657600"/>
          </a:xfrm>
          <a:prstGeom prst="rect">
            <a:avLst/>
          </a:prstGeom>
          <a:solidFill>
            <a:srgbClr val="F5F7FA"/>
          </a:solidFill>
          <a:ln w="12700">
            <a:solidFill>
              <a:srgbClr val="F5F7FA"/>
            </a:solidFill>
            <a:prstDash val="solid"/>
          </a:ln>
        </p:spPr>
      </p:sp>
      <p:sp>
        <p:nvSpPr>
          <p:cNvPr id="6" name="Shape 4"/>
          <p:cNvSpPr/>
          <p:nvPr/>
        </p:nvSpPr>
        <p:spPr>
          <a:xfrm>
            <a:off x="566928" y="1627632"/>
            <a:ext cx="50292" cy="3657600"/>
          </a:xfrm>
          <a:prstGeom prst="rect">
            <a:avLst/>
          </a:prstGeom>
          <a:solidFill>
            <a:srgbClr val="1D4ED8"/>
          </a:solidFill>
          <a:ln w="12700">
            <a:solidFill>
              <a:srgbClr val="333333"/>
            </a:solidFill>
            <a:prstDash val="solid"/>
          </a:ln>
        </p:spPr>
      </p:sp>
      <p:sp>
        <p:nvSpPr>
          <p:cNvPr id="7" name="Text 5"/>
          <p:cNvSpPr/>
          <p:nvPr/>
        </p:nvSpPr>
        <p:spPr>
          <a:xfrm>
            <a:off x="841248" y="1755648"/>
            <a:ext cx="4916272" cy="310896"/>
          </a:xfrm>
          <a:prstGeom prst="rect">
            <a:avLst/>
          </a:prstGeom>
          <a:noFill/>
          <a:ln/>
        </p:spPr>
        <p:txBody>
          <a:bodyPr wrap="square" rtlCol="0" anchor="ctr"/>
          <a:lstStyle/>
          <a:p>
            <a:pPr indent="0" marL="0">
              <a:buNone/>
            </a:pPr>
            <a:r>
              <a:rPr lang="en-US" sz="1400" b="1" dirty="0">
                <a:solidFill>
                  <a:srgbClr val="14161A"/>
                </a:solidFill>
                <a:latin typeface="Arial" pitchFamily="34" charset="0"/>
                <a:ea typeface="Arial" pitchFamily="34" charset="-122"/>
                <a:cs typeface="Arial" pitchFamily="34" charset="-120"/>
              </a:rPr>
              <a:t>Storage</a:t>
            </a:r>
            <a:endParaRPr lang="en-US" sz="1400" dirty="0"/>
          </a:p>
        </p:txBody>
      </p:sp>
      <p:sp>
        <p:nvSpPr>
          <p:cNvPr id="8" name="Text 6"/>
          <p:cNvSpPr/>
          <p:nvPr/>
        </p:nvSpPr>
        <p:spPr>
          <a:xfrm>
            <a:off x="841248" y="2139696"/>
            <a:ext cx="4916272" cy="3054096"/>
          </a:xfrm>
          <a:prstGeom prst="rect">
            <a:avLst/>
          </a:prstGeom>
          <a:noFill/>
          <a:ln/>
        </p:spPr>
        <p:txBody>
          <a:bodyPr wrap="square" rtlCol="0" anchor="t"/>
          <a:lstStyle/>
          <a:p>
            <a:pPr indent="0" marL="0">
              <a:lnSpc>
                <a:spcPts val="1600"/>
              </a:lnSpc>
              <a:buNone/>
            </a:pPr>
            <a:r>
              <a:rPr lang="en-US" sz="1150" b="1" dirty="0">
                <a:solidFill>
                  <a:srgbClr val="14161A"/>
                </a:solidFill>
                <a:latin typeface="Arial" pitchFamily="34" charset="0"/>
                <a:ea typeface="Arial" pitchFamily="34" charset="-122"/>
                <a:cs typeface="Arial" pitchFamily="34" charset="-120"/>
              </a:rPr>
              <a:t>10 migrations</a:t>
            </a:r>
            <a:pPr indent="0" marL="0">
              <a:lnSpc>
                <a:spcPts val="1600"/>
              </a:lnSpc>
              <a:buNone/>
            </a:pPr>
            <a:r>
              <a:rPr lang="en-US" sz="1150" dirty="0">
                <a:solidFill>
                  <a:srgbClr val="3F4750"/>
                </a:solidFill>
                <a:latin typeface="Arial" pitchFamily="34" charset="0"/>
                <a:ea typeface="Arial" pitchFamily="34" charset="-122"/>
                <a:cs typeface="Arial" pitchFamily="34" charset="-120"/>
              </a:rPr>
              <a:t>  sessions, messages, personas, job descriptions, resumes, usage, coach answers</a:t>
            </a:r>
            <a:endParaRPr lang="en-US" sz="1150" dirty="0"/>
          </a:p>
          <a:p>
            <a:pPr indent="0" marL="0">
              <a:lnSpc>
                <a:spcPts val="1600"/>
              </a:lnSpc>
              <a:buNone/>
            </a:pPr>
            <a:endParaRPr lang="en-US" sz="1150" dirty="0"/>
          </a:p>
          <a:p>
            <a:pPr indent="0" marL="0">
              <a:lnSpc>
                <a:spcPts val="1600"/>
              </a:lnSpc>
              <a:buNone/>
            </a:pPr>
            <a:r>
              <a:rPr lang="en-US" sz="1150" b="1" dirty="0">
                <a:solidFill>
                  <a:srgbClr val="14161A"/>
                </a:solidFill>
                <a:latin typeface="Arial" pitchFamily="34" charset="0"/>
                <a:ea typeface="Arial" pitchFamily="34" charset="-122"/>
                <a:cs typeface="Arial" pitchFamily="34" charset="-120"/>
              </a:rPr>
              <a:t>RLS on every table</a:t>
            </a:r>
            <a:pPr indent="0" marL="0">
              <a:lnSpc>
                <a:spcPts val="1600"/>
              </a:lnSpc>
              <a:buNone/>
            </a:pPr>
            <a:r>
              <a:rPr lang="en-US" sz="1150" dirty="0">
                <a:solidFill>
                  <a:srgbClr val="3F4750"/>
                </a:solidFill>
                <a:latin typeface="Arial" pitchFamily="34" charset="0"/>
                <a:ea typeface="Arial" pitchFamily="34" charset="-122"/>
                <a:cs typeface="Arial" pitchFamily="34" charset="-120"/>
              </a:rPr>
              <a:t>  user_id = auth.uid(), enforced in the database, not the application</a:t>
            </a:r>
            <a:endParaRPr lang="en-US" sz="1150" dirty="0"/>
          </a:p>
          <a:p>
            <a:pPr indent="0" marL="0">
              <a:lnSpc>
                <a:spcPts val="1600"/>
              </a:lnSpc>
              <a:buNone/>
            </a:pPr>
            <a:endParaRPr lang="en-US" sz="1150" dirty="0"/>
          </a:p>
          <a:p>
            <a:pPr indent="0" marL="0">
              <a:lnSpc>
                <a:spcPts val="1600"/>
              </a:lnSpc>
              <a:buNone/>
            </a:pPr>
            <a:r>
              <a:rPr lang="en-US" sz="1150" b="1" dirty="0">
                <a:solidFill>
                  <a:srgbClr val="14161A"/>
                </a:solidFill>
                <a:latin typeface="Arial" pitchFamily="34" charset="0"/>
                <a:ea typeface="Arial" pitchFamily="34" charset="-122"/>
                <a:cs typeface="Arial" pitchFamily="34" charset="-120"/>
              </a:rPr>
              <a:t>pgvector</a:t>
            </a:r>
            <a:pPr indent="0" marL="0">
              <a:lnSpc>
                <a:spcPts val="1600"/>
              </a:lnSpc>
              <a:buNone/>
            </a:pPr>
            <a:r>
              <a:rPr lang="en-US" sz="1150" dirty="0">
                <a:solidFill>
                  <a:srgbClr val="3F4750"/>
                </a:solidFill>
                <a:latin typeface="Arial" pitchFamily="34" charset="0"/>
                <a:ea typeface="Arial" pitchFamily="34" charset="-122"/>
                <a:cs typeface="Arial" pitchFamily="34" charset="-120"/>
              </a:rPr>
              <a:t>  job description chunks — 1,200 chars with 180 overlap, embedded with text-embedding-3-small</a:t>
            </a:r>
            <a:endParaRPr lang="en-US" sz="1150" dirty="0"/>
          </a:p>
          <a:p>
            <a:pPr indent="0" marL="0">
              <a:lnSpc>
                <a:spcPts val="1600"/>
              </a:lnSpc>
              <a:buNone/>
            </a:pPr>
            <a:endParaRPr lang="en-US" sz="1150" dirty="0"/>
          </a:p>
          <a:p>
            <a:pPr indent="0" marL="0">
              <a:lnSpc>
                <a:spcPts val="1600"/>
              </a:lnSpc>
              <a:buNone/>
            </a:pPr>
            <a:r>
              <a:rPr lang="en-US" sz="1150" b="1" dirty="0">
                <a:solidFill>
                  <a:srgbClr val="14161A"/>
                </a:solidFill>
                <a:latin typeface="Arial" pitchFamily="34" charset="0"/>
                <a:ea typeface="Arial" pitchFamily="34" charset="-122"/>
                <a:cs typeface="Arial" pitchFamily="34" charset="-120"/>
              </a:rPr>
              <a:t>The retrieval RPC filters on auth.uid()</a:t>
            </a:r>
            <a:pPr indent="0" marL="0">
              <a:lnSpc>
                <a:spcPts val="1600"/>
              </a:lnSpc>
              <a:buNone/>
            </a:pPr>
            <a:r>
              <a:rPr lang="en-US" sz="1150" dirty="0">
                <a:solidFill>
                  <a:srgbClr val="3F4750"/>
                </a:solidFill>
                <a:latin typeface="Arial" pitchFamily="34" charset="0"/>
                <a:ea typeface="Arial" pitchFamily="34" charset="-122"/>
                <a:cs typeface="Arial" pitchFamily="34" charset="-120"/>
              </a:rPr>
              <a:t>  inside Postgres, so a bug in application code cannot leak another user's document</a:t>
            </a:r>
            <a:endParaRPr lang="en-US" sz="1150" dirty="0"/>
          </a:p>
        </p:txBody>
      </p:sp>
      <p:sp>
        <p:nvSpPr>
          <p:cNvPr id="9" name="Shape 7"/>
          <p:cNvSpPr/>
          <p:nvPr/>
        </p:nvSpPr>
        <p:spPr>
          <a:xfrm>
            <a:off x="6251296" y="1627632"/>
            <a:ext cx="5373472" cy="3657600"/>
          </a:xfrm>
          <a:prstGeom prst="rect">
            <a:avLst/>
          </a:prstGeom>
          <a:solidFill>
            <a:srgbClr val="F5F7FA"/>
          </a:solidFill>
          <a:ln w="12700">
            <a:solidFill>
              <a:srgbClr val="F5F7FA"/>
            </a:solidFill>
            <a:prstDash val="solid"/>
          </a:ln>
        </p:spPr>
      </p:sp>
      <p:sp>
        <p:nvSpPr>
          <p:cNvPr id="10" name="Shape 8"/>
          <p:cNvSpPr/>
          <p:nvPr/>
        </p:nvSpPr>
        <p:spPr>
          <a:xfrm>
            <a:off x="6251296" y="1627632"/>
            <a:ext cx="50292" cy="3657600"/>
          </a:xfrm>
          <a:prstGeom prst="rect">
            <a:avLst/>
          </a:prstGeom>
          <a:solidFill>
            <a:srgbClr val="1D4ED8"/>
          </a:solidFill>
          <a:ln w="12700">
            <a:solidFill>
              <a:srgbClr val="333333"/>
            </a:solidFill>
            <a:prstDash val="solid"/>
          </a:ln>
        </p:spPr>
      </p:sp>
      <p:sp>
        <p:nvSpPr>
          <p:cNvPr id="11" name="Text 9"/>
          <p:cNvSpPr/>
          <p:nvPr/>
        </p:nvSpPr>
        <p:spPr>
          <a:xfrm>
            <a:off x="6525616" y="1755648"/>
            <a:ext cx="4916272" cy="310896"/>
          </a:xfrm>
          <a:prstGeom prst="rect">
            <a:avLst/>
          </a:prstGeom>
          <a:noFill/>
          <a:ln/>
        </p:spPr>
        <p:txBody>
          <a:bodyPr wrap="square" rtlCol="0" anchor="ctr"/>
          <a:lstStyle/>
          <a:p>
            <a:pPr indent="0" marL="0">
              <a:buNone/>
            </a:pPr>
            <a:r>
              <a:rPr lang="en-US" sz="1400" b="1" dirty="0">
                <a:solidFill>
                  <a:srgbClr val="14161A"/>
                </a:solidFill>
                <a:latin typeface="Arial" pitchFamily="34" charset="0"/>
                <a:ea typeface="Arial" pitchFamily="34" charset="-122"/>
                <a:cs typeface="Arial" pitchFamily="34" charset="-120"/>
              </a:rPr>
              <a:t>Grounding decisions</a:t>
            </a:r>
            <a:endParaRPr lang="en-US" sz="1400" dirty="0"/>
          </a:p>
        </p:txBody>
      </p:sp>
      <p:sp>
        <p:nvSpPr>
          <p:cNvPr id="12" name="Text 10"/>
          <p:cNvSpPr/>
          <p:nvPr/>
        </p:nvSpPr>
        <p:spPr>
          <a:xfrm>
            <a:off x="6525616" y="2139696"/>
            <a:ext cx="4916272" cy="3054096"/>
          </a:xfrm>
          <a:prstGeom prst="rect">
            <a:avLst/>
          </a:prstGeom>
          <a:noFill/>
          <a:ln/>
        </p:spPr>
        <p:txBody>
          <a:bodyPr wrap="square" rtlCol="0" anchor="t"/>
          <a:lstStyle/>
          <a:p>
            <a:pPr indent="0" marL="0">
              <a:lnSpc>
                <a:spcPts val="1600"/>
              </a:lnSpc>
              <a:buNone/>
            </a:pPr>
            <a:r>
              <a:rPr lang="en-US" sz="1150" b="1" dirty="0">
                <a:solidFill>
                  <a:srgbClr val="14161A"/>
                </a:solidFill>
                <a:latin typeface="Arial" pitchFamily="34" charset="0"/>
                <a:ea typeface="Arial" pitchFamily="34" charset="-122"/>
                <a:cs typeface="Arial" pitchFamily="34" charset="-120"/>
              </a:rPr>
              <a:t>Small job descriptions are not embedded</a:t>
            </a:r>
            <a:pPr indent="0" marL="0">
              <a:lnSpc>
                <a:spcPts val="1600"/>
              </a:lnSpc>
              <a:buNone/>
            </a:pPr>
            <a:r>
              <a:rPr lang="en-US" sz="1150" dirty="0">
                <a:solidFill>
                  <a:srgbClr val="3F4750"/>
                </a:solidFill>
                <a:latin typeface="Arial" pitchFamily="34" charset="0"/>
                <a:ea typeface="Arial" pitchFamily="34" charset="-122"/>
                <a:cs typeface="Arial" pitchFamily="34" charset="-120"/>
              </a:rPr>
              <a:t>  four chunks or fewer get inlined whole into the cacheable prefix — retrieval would cost more than it saves</a:t>
            </a:r>
            <a:endParaRPr lang="en-US" sz="1150" dirty="0"/>
          </a:p>
          <a:p>
            <a:pPr indent="0" marL="0">
              <a:lnSpc>
                <a:spcPts val="1600"/>
              </a:lnSpc>
              <a:buNone/>
            </a:pPr>
            <a:endParaRPr lang="en-US" sz="1150" dirty="0"/>
          </a:p>
          <a:p>
            <a:pPr indent="0" marL="0">
              <a:lnSpc>
                <a:spcPts val="1600"/>
              </a:lnSpc>
              <a:buNone/>
            </a:pPr>
            <a:r>
              <a:rPr lang="en-US" sz="1150" b="1" dirty="0">
                <a:solidFill>
                  <a:srgbClr val="14161A"/>
                </a:solidFill>
                <a:latin typeface="Arial" pitchFamily="34" charset="0"/>
                <a:ea typeface="Arial" pitchFamily="34" charset="-122"/>
                <a:cs typeface="Arial" pitchFamily="34" charset="-120"/>
              </a:rPr>
              <a:t>The retrieval query is not the raw answer</a:t>
            </a:r>
            <a:pPr indent="0" marL="0">
              <a:lnSpc>
                <a:spcPts val="1600"/>
              </a:lnSpc>
              <a:buNone/>
            </a:pPr>
            <a:r>
              <a:rPr lang="en-US" sz="1150" dirty="0">
                <a:solidFill>
                  <a:srgbClr val="3F4750"/>
                </a:solidFill>
                <a:latin typeface="Arial" pitchFamily="34" charset="0"/>
                <a:ea typeface="Arial" pitchFamily="34" charset="-122"/>
                <a:cs typeface="Arial" pitchFamily="34" charset="-120"/>
              </a:rPr>
              <a:t>  it is the previous turn's nextFocus, so retrieval follows where the interview is going</a:t>
            </a:r>
            <a:endParaRPr lang="en-US" sz="1150" dirty="0"/>
          </a:p>
          <a:p>
            <a:pPr indent="0" marL="0">
              <a:lnSpc>
                <a:spcPts val="1600"/>
              </a:lnSpc>
              <a:buNone/>
            </a:pPr>
            <a:endParaRPr lang="en-US" sz="1150" dirty="0"/>
          </a:p>
          <a:p>
            <a:pPr indent="0" marL="0">
              <a:lnSpc>
                <a:spcPts val="1600"/>
              </a:lnSpc>
              <a:buNone/>
            </a:pPr>
            <a:r>
              <a:rPr lang="en-US" sz="1150" b="1" dirty="0">
                <a:solidFill>
                  <a:srgbClr val="14161A"/>
                </a:solidFill>
                <a:latin typeface="Arial" pitchFamily="34" charset="0"/>
                <a:ea typeface="Arial" pitchFamily="34" charset="-122"/>
                <a:cs typeface="Arial" pitchFamily="34" charset="-120"/>
              </a:rPr>
              <a:t>A CV is distilled once at upload</a:t>
            </a:r>
            <a:pPr indent="0" marL="0">
              <a:lnSpc>
                <a:spcPts val="1600"/>
              </a:lnSpc>
              <a:buNone/>
            </a:pPr>
            <a:r>
              <a:rPr lang="en-US" sz="1150" dirty="0">
                <a:solidFill>
                  <a:srgbClr val="3F4750"/>
                </a:solidFill>
                <a:latin typeface="Arial" pitchFamily="34" charset="0"/>
                <a:ea typeface="Arial" pitchFamily="34" charset="-122"/>
                <a:cs typeface="Arial" pitchFamily="34" charset="-120"/>
              </a:rPr>
              <a:t>  into a compact profile, capped at 400 tokens, rather than re-read every turn</a:t>
            </a:r>
            <a:endParaRPr lang="en-US" sz="1150" dirty="0"/>
          </a:p>
          <a:p>
            <a:pPr indent="0" marL="0">
              <a:lnSpc>
                <a:spcPts val="1600"/>
              </a:lnSpc>
              <a:buNone/>
            </a:pPr>
            <a:endParaRPr lang="en-US" sz="1150" dirty="0"/>
          </a:p>
          <a:p>
            <a:pPr indent="0" marL="0">
              <a:lnSpc>
                <a:spcPts val="1600"/>
              </a:lnSpc>
              <a:buNone/>
            </a:pPr>
            <a:r>
              <a:rPr lang="en-US" sz="1150" b="1" dirty="0">
                <a:solidFill>
                  <a:srgbClr val="14161A"/>
                </a:solidFill>
                <a:latin typeface="Arial" pitchFamily="34" charset="0"/>
                <a:ea typeface="Arial" pitchFamily="34" charset="-122"/>
                <a:cs typeface="Arial" pitchFamily="34" charset="-120"/>
              </a:rPr>
              <a:t>Speech keys never reach the browser</a:t>
            </a:r>
            <a:pPr indent="0" marL="0">
              <a:lnSpc>
                <a:spcPts val="1600"/>
              </a:lnSpc>
              <a:buNone/>
            </a:pPr>
            <a:r>
              <a:rPr lang="en-US" sz="1150" dirty="0">
                <a:solidFill>
                  <a:srgbClr val="3F4750"/>
                </a:solidFill>
                <a:latin typeface="Arial" pitchFamily="34" charset="0"/>
                <a:ea typeface="Arial" pitchFamily="34" charset="-122"/>
                <a:cs typeface="Arial" pitchFamily="34" charset="-120"/>
              </a:rPr>
              <a:t>  a server route mints a short-lived token</a:t>
            </a:r>
            <a:endParaRPr lang="en-US" sz="1150" dirty="0"/>
          </a:p>
        </p:txBody>
      </p:sp>
      <p:sp>
        <p:nvSpPr>
          <p:cNvPr id="14" name="Text 11"/>
          <p:cNvSpPr/>
          <p:nvPr/>
        </p:nvSpPr>
        <p:spPr>
          <a:xfrm>
            <a:off x="566928" y="6382512"/>
            <a:ext cx="5486400" cy="274320"/>
          </a:xfrm>
          <a:prstGeom prst="rect">
            <a:avLst/>
          </a:prstGeom>
          <a:noFill/>
          <a:ln/>
        </p:spPr>
        <p:txBody>
          <a:bodyPr wrap="square" rtlCol="0" anchor="ctr"/>
          <a:lstStyle/>
          <a:p>
            <a:pPr indent="0" marL="0">
              <a:buNone/>
            </a:pPr>
            <a:r>
              <a:rPr lang="en-US" sz="1000" dirty="0">
                <a:solidFill>
                  <a:srgbClr val="7A8593"/>
                </a:solidFill>
                <a:latin typeface="Arial" pitchFamily="34" charset="0"/>
                <a:ea typeface="Arial" pitchFamily="34" charset="-122"/>
                <a:cs typeface="Arial" pitchFamily="34" charset="-120"/>
              </a:rPr>
              <a:t>ConvoTrainer  ·  Final Year Project</a:t>
            </a:r>
            <a:endParaRPr lang="en-US" sz="1000" dirty="0"/>
          </a:p>
        </p:txBody>
      </p:sp>
      <p:sp>
        <p:nvSpPr>
          <p:cNvPr id="15" name="Text 12"/>
          <p:cNvSpPr/>
          <p:nvPr/>
        </p:nvSpPr>
        <p:spPr>
          <a:xfrm>
            <a:off x="10710367" y="6382512"/>
            <a:ext cx="914400" cy="274320"/>
          </a:xfrm>
          <a:prstGeom prst="rect">
            <a:avLst/>
          </a:prstGeom>
          <a:noFill/>
          <a:ln/>
        </p:spPr>
        <p:txBody>
          <a:bodyPr wrap="square" rtlCol="0" anchor="ctr"/>
          <a:lstStyle/>
          <a:p>
            <a:pPr algn="r" indent="0" marL="0">
              <a:buNone/>
            </a:pPr>
            <a:r>
              <a:rPr lang="en-US" sz="1000" dirty="0">
                <a:solidFill>
                  <a:srgbClr val="7A8593"/>
                </a:solidFill>
                <a:latin typeface="Arial" pitchFamily="34" charset="0"/>
                <a:ea typeface="Arial" pitchFamily="34" charset="-122"/>
                <a:cs typeface="Arial"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20624"/>
            <a:ext cx="128016" cy="128016"/>
          </a:xfrm>
          <a:prstGeom prst="rect">
            <a:avLst/>
          </a:prstGeom>
          <a:solidFill>
            <a:srgbClr val="1D4ED8"/>
          </a:solidFill>
          <a:ln/>
        </p:spPr>
      </p:sp>
      <p:sp>
        <p:nvSpPr>
          <p:cNvPr id="3" name="Text 1"/>
          <p:cNvSpPr/>
          <p:nvPr/>
        </p:nvSpPr>
        <p:spPr>
          <a:xfrm>
            <a:off x="804672" y="365760"/>
            <a:ext cx="10820095" cy="237744"/>
          </a:xfrm>
          <a:prstGeom prst="rect">
            <a:avLst/>
          </a:prstGeom>
          <a:noFill/>
          <a:ln/>
        </p:spPr>
        <p:txBody>
          <a:bodyPr wrap="square" rtlCol="0" anchor="ctr"/>
          <a:lstStyle/>
          <a:p>
            <a:pPr indent="0" marL="0">
              <a:buNone/>
            </a:pPr>
            <a:r>
              <a:rPr lang="en-US" sz="1100" b="1" spc="160" kern="0" dirty="0">
                <a:solidFill>
                  <a:srgbClr val="1D4ED8"/>
                </a:solidFill>
                <a:latin typeface="Arial" pitchFamily="34" charset="0"/>
                <a:ea typeface="Arial" pitchFamily="34" charset="-122"/>
                <a:cs typeface="Arial" pitchFamily="34" charset="-120"/>
              </a:rPr>
              <a:t>APPENDIX C</a:t>
            </a:r>
            <a:endParaRPr lang="en-US" sz="1100" dirty="0"/>
          </a:p>
        </p:txBody>
      </p:sp>
      <p:sp>
        <p:nvSpPr>
          <p:cNvPr id="4" name="Text 2"/>
          <p:cNvSpPr/>
          <p:nvPr/>
        </p:nvSpPr>
        <p:spPr>
          <a:xfrm>
            <a:off x="566928" y="694944"/>
            <a:ext cx="11057839" cy="566928"/>
          </a:xfrm>
          <a:prstGeom prst="rect">
            <a:avLst/>
          </a:prstGeom>
          <a:noFill/>
          <a:ln/>
        </p:spPr>
        <p:txBody>
          <a:bodyPr wrap="square" rtlCol="0" anchor="ctr"/>
          <a:lstStyle/>
          <a:p>
            <a:pPr indent="0" marL="0">
              <a:buNone/>
            </a:pPr>
            <a:r>
              <a:rPr lang="en-US" sz="3000" b="1" dirty="0">
                <a:solidFill>
                  <a:srgbClr val="14161A"/>
                </a:solidFill>
                <a:latin typeface="Arial" pitchFamily="34" charset="0"/>
                <a:ea typeface="Arial" pitchFamily="34" charset="-122"/>
                <a:cs typeface="Arial" pitchFamily="34" charset="-120"/>
              </a:rPr>
              <a:t>Why nationality is biography — and culture is not in the vector database</a:t>
            </a:r>
            <a:endParaRPr lang="en-US" sz="3000" dirty="0"/>
          </a:p>
        </p:txBody>
      </p:sp>
      <p:sp>
        <p:nvSpPr>
          <p:cNvPr id="5" name="Shape 3"/>
          <p:cNvSpPr/>
          <p:nvPr/>
        </p:nvSpPr>
        <p:spPr>
          <a:xfrm>
            <a:off x="566928" y="1627632"/>
            <a:ext cx="5373472" cy="3657600"/>
          </a:xfrm>
          <a:prstGeom prst="rect">
            <a:avLst/>
          </a:prstGeom>
          <a:solidFill>
            <a:srgbClr val="F5F7FA"/>
          </a:solidFill>
          <a:ln w="12700">
            <a:solidFill>
              <a:srgbClr val="F5F7FA"/>
            </a:solidFill>
            <a:prstDash val="solid"/>
          </a:ln>
        </p:spPr>
      </p:sp>
      <p:sp>
        <p:nvSpPr>
          <p:cNvPr id="6" name="Shape 4"/>
          <p:cNvSpPr/>
          <p:nvPr/>
        </p:nvSpPr>
        <p:spPr>
          <a:xfrm>
            <a:off x="566928" y="1627632"/>
            <a:ext cx="50292" cy="3657600"/>
          </a:xfrm>
          <a:prstGeom prst="rect">
            <a:avLst/>
          </a:prstGeom>
          <a:solidFill>
            <a:srgbClr val="1D4ED8"/>
          </a:solidFill>
          <a:ln w="12700">
            <a:solidFill>
              <a:srgbClr val="333333"/>
            </a:solidFill>
            <a:prstDash val="solid"/>
          </a:ln>
        </p:spPr>
      </p:sp>
      <p:sp>
        <p:nvSpPr>
          <p:cNvPr id="7" name="Text 5"/>
          <p:cNvSpPr/>
          <p:nvPr/>
        </p:nvSpPr>
        <p:spPr>
          <a:xfrm>
            <a:off x="841248" y="1755648"/>
            <a:ext cx="4916272" cy="310896"/>
          </a:xfrm>
          <a:prstGeom prst="rect">
            <a:avLst/>
          </a:prstGeom>
          <a:noFill/>
          <a:ln/>
        </p:spPr>
        <p:txBody>
          <a:bodyPr wrap="square" rtlCol="0" anchor="ctr"/>
          <a:lstStyle/>
          <a:p>
            <a:pPr indent="0" marL="0">
              <a:buNone/>
            </a:pPr>
            <a:r>
              <a:rPr lang="en-US" sz="1400" b="1" dirty="0">
                <a:solidFill>
                  <a:srgbClr val="14161A"/>
                </a:solidFill>
                <a:latin typeface="Arial" pitchFamily="34" charset="0"/>
                <a:ea typeface="Arial" pitchFamily="34" charset="-122"/>
                <a:cs typeface="Arial" pitchFamily="34" charset="-120"/>
              </a:rPr>
              <a:t>What nationality does</a:t>
            </a:r>
            <a:endParaRPr lang="en-US" sz="1400" dirty="0"/>
          </a:p>
        </p:txBody>
      </p:sp>
      <p:sp>
        <p:nvSpPr>
          <p:cNvPr id="8" name="Text 6"/>
          <p:cNvSpPr/>
          <p:nvPr/>
        </p:nvSpPr>
        <p:spPr>
          <a:xfrm>
            <a:off x="841248" y="2139696"/>
            <a:ext cx="4916272" cy="3054096"/>
          </a:xfrm>
          <a:prstGeom prst="rect">
            <a:avLst/>
          </a:prstGeom>
          <a:noFill/>
          <a:ln/>
        </p:spPr>
        <p:txBody>
          <a:bodyPr wrap="square" rtlCol="0" anchor="t"/>
          <a:lstStyle/>
          <a:p>
            <a:pPr indent="0" marL="0">
              <a:lnSpc>
                <a:spcPts val="1600"/>
              </a:lnSpc>
              <a:buNone/>
            </a:pPr>
            <a:r>
              <a:rPr lang="en-US" sz="1150" dirty="0">
                <a:solidFill>
                  <a:srgbClr val="3F4750"/>
                </a:solidFill>
                <a:latin typeface="Arial" pitchFamily="34" charset="0"/>
                <a:ea typeface="Arial" pitchFamily="34" charset="-122"/>
                <a:cs typeface="Arial" pitchFamily="34" charset="-120"/>
              </a:rPr>
              <a:t>It is one adjective in one sentence of the persona's self-description, and it is read nowhere else in the codebase.</a:t>
            </a:r>
            <a:endParaRPr lang="en-US" sz="1150" dirty="0"/>
          </a:p>
          <a:p>
            <a:pPr indent="0" marL="0">
              <a:lnSpc>
                <a:spcPts val="1600"/>
              </a:lnSpc>
              <a:buNone/>
            </a:pPr>
            <a:endParaRPr lang="en-US" sz="1150" dirty="0"/>
          </a:p>
          <a:p>
            <a:pPr indent="0" marL="0">
              <a:lnSpc>
                <a:spcPts val="1600"/>
              </a:lnSpc>
              <a:buNone/>
            </a:pPr>
            <a:r>
              <a:rPr lang="en-US" sz="1150" dirty="0">
                <a:solidFill>
                  <a:srgbClr val="3F4750"/>
                </a:solidFill>
                <a:latin typeface="Arial" pitchFamily="34" charset="0"/>
                <a:ea typeface="Arial" pitchFamily="34" charset="-122"/>
                <a:cs typeface="Arial" pitchFamily="34" charset="-120"/>
              </a:rPr>
              <a:t>The instruction immediately after it tells the model never to infer directness, formality, deference or expectations from it.</a:t>
            </a:r>
            <a:endParaRPr lang="en-US" sz="1150" dirty="0"/>
          </a:p>
          <a:p>
            <a:pPr indent="0" marL="0">
              <a:lnSpc>
                <a:spcPts val="1600"/>
              </a:lnSpc>
              <a:buNone/>
            </a:pPr>
            <a:endParaRPr lang="en-US" sz="1150" dirty="0"/>
          </a:p>
          <a:p>
            <a:pPr indent="0" marL="0">
              <a:lnSpc>
                <a:spcPts val="1600"/>
              </a:lnSpc>
              <a:buNone/>
            </a:pPr>
            <a:r>
              <a:rPr lang="en-US" sz="1150" dirty="0">
                <a:solidFill>
                  <a:srgbClr val="3F4750"/>
                </a:solidFill>
                <a:latin typeface="Arial" pitchFamily="34" charset="0"/>
                <a:ea typeface="Arial" pitchFamily="34" charset="-122"/>
                <a:cs typeface="Arial" pitchFamily="34" charset="-120"/>
              </a:rPr>
              <a:t>A test asserts that two personas differing only in nationality produce prompts that differ by exactly the demonym.</a:t>
            </a:r>
            <a:endParaRPr lang="en-US" sz="1150" dirty="0"/>
          </a:p>
        </p:txBody>
      </p:sp>
      <p:sp>
        <p:nvSpPr>
          <p:cNvPr id="9" name="Shape 7"/>
          <p:cNvSpPr/>
          <p:nvPr/>
        </p:nvSpPr>
        <p:spPr>
          <a:xfrm>
            <a:off x="6251296" y="1627632"/>
            <a:ext cx="5373472" cy="3657600"/>
          </a:xfrm>
          <a:prstGeom prst="rect">
            <a:avLst/>
          </a:prstGeom>
          <a:solidFill>
            <a:srgbClr val="FDF4E7"/>
          </a:solidFill>
          <a:ln w="12700">
            <a:solidFill>
              <a:srgbClr val="FDF4E7"/>
            </a:solidFill>
            <a:prstDash val="solid"/>
          </a:ln>
        </p:spPr>
      </p:sp>
      <p:sp>
        <p:nvSpPr>
          <p:cNvPr id="10" name="Shape 8"/>
          <p:cNvSpPr/>
          <p:nvPr/>
        </p:nvSpPr>
        <p:spPr>
          <a:xfrm>
            <a:off x="6251296" y="1627632"/>
            <a:ext cx="50292" cy="3657600"/>
          </a:xfrm>
          <a:prstGeom prst="rect">
            <a:avLst/>
          </a:prstGeom>
          <a:solidFill>
            <a:srgbClr val="9A5B08"/>
          </a:solidFill>
          <a:ln w="12700">
            <a:solidFill>
              <a:srgbClr val="333333"/>
            </a:solidFill>
            <a:prstDash val="solid"/>
          </a:ln>
        </p:spPr>
      </p:sp>
      <p:sp>
        <p:nvSpPr>
          <p:cNvPr id="11" name="Text 9"/>
          <p:cNvSpPr/>
          <p:nvPr/>
        </p:nvSpPr>
        <p:spPr>
          <a:xfrm>
            <a:off x="6525616" y="1755648"/>
            <a:ext cx="4916272" cy="310896"/>
          </a:xfrm>
          <a:prstGeom prst="rect">
            <a:avLst/>
          </a:prstGeom>
          <a:noFill/>
          <a:ln/>
        </p:spPr>
        <p:txBody>
          <a:bodyPr wrap="square" rtlCol="0" anchor="ctr"/>
          <a:lstStyle/>
          <a:p>
            <a:pPr indent="0" marL="0">
              <a:buNone/>
            </a:pPr>
            <a:r>
              <a:rPr lang="en-US" sz="1400" b="1" dirty="0">
                <a:solidFill>
                  <a:srgbClr val="9A5B08"/>
                </a:solidFill>
                <a:latin typeface="Arial" pitchFamily="34" charset="0"/>
                <a:ea typeface="Arial" pitchFamily="34" charset="-122"/>
                <a:cs typeface="Arial" pitchFamily="34" charset="-120"/>
              </a:rPr>
              <a:t>Why there is no culture corpus</a:t>
            </a:r>
            <a:endParaRPr lang="en-US" sz="1400" dirty="0"/>
          </a:p>
        </p:txBody>
      </p:sp>
      <p:sp>
        <p:nvSpPr>
          <p:cNvPr id="12" name="Text 10"/>
          <p:cNvSpPr/>
          <p:nvPr/>
        </p:nvSpPr>
        <p:spPr>
          <a:xfrm>
            <a:off x="6525616" y="2139696"/>
            <a:ext cx="4916272" cy="3054096"/>
          </a:xfrm>
          <a:prstGeom prst="rect">
            <a:avLst/>
          </a:prstGeom>
          <a:noFill/>
          <a:ln/>
        </p:spPr>
        <p:txBody>
          <a:bodyPr wrap="square" rtlCol="0" anchor="t"/>
          <a:lstStyle/>
          <a:p>
            <a:pPr indent="0" marL="0">
              <a:lnSpc>
                <a:spcPts val="1600"/>
              </a:lnSpc>
              <a:buNone/>
            </a:pPr>
            <a:r>
              <a:rPr lang="en-US" sz="1150" b="1" dirty="0">
                <a:solidFill>
                  <a:srgbClr val="14161A"/>
                </a:solidFill>
                <a:latin typeface="Arial" pitchFamily="34" charset="0"/>
                <a:ea typeface="Arial" pitchFamily="34" charset="-122"/>
                <a:cs typeface="Arial" pitchFamily="34" charset="-120"/>
              </a:rPr>
              <a:t>It is national-origin stereotyping with extra steps.</a:t>
            </a:r>
            <a:pPr indent="0" marL="0">
              <a:lnSpc>
                <a:spcPts val="1600"/>
              </a:lnSpc>
              <a:buNone/>
            </a:pPr>
            <a:r>
              <a:rPr lang="en-US" sz="1150" dirty="0">
                <a:solidFill>
                  <a:srgbClr val="3F4750"/>
                </a:solidFill>
                <a:latin typeface="Arial" pitchFamily="34" charset="0"/>
                <a:ea typeface="Arial" pitchFamily="34" charset="-122"/>
                <a:cs typeface="Arial" pitchFamily="34" charset="-120"/>
              </a:rPr>
              <a:t>  A retrieval store keyed on nationality that returns behavioural claims makes the model generate behaviour from national origin, deterministically. That is what a stereotype is.</a:t>
            </a:r>
            <a:endParaRPr lang="en-US" sz="1150" dirty="0"/>
          </a:p>
          <a:p>
            <a:pPr indent="0" marL="0">
              <a:lnSpc>
                <a:spcPts val="1600"/>
              </a:lnSpc>
              <a:buNone/>
            </a:pPr>
            <a:endParaRPr lang="en-US" sz="1150" dirty="0"/>
          </a:p>
          <a:p>
            <a:pPr indent="0" marL="0">
              <a:lnSpc>
                <a:spcPts val="1600"/>
              </a:lnSpc>
              <a:buNone/>
            </a:pPr>
            <a:r>
              <a:rPr lang="en-US" sz="1150" b="1" dirty="0">
                <a:solidFill>
                  <a:srgbClr val="14161A"/>
                </a:solidFill>
                <a:latin typeface="Arial" pitchFamily="34" charset="0"/>
                <a:ea typeface="Arial" pitchFamily="34" charset="-122"/>
                <a:cs typeface="Arial" pitchFamily="34" charset="-120"/>
              </a:rPr>
              <a:t>It cannot be sourced at the granularity it needs.</a:t>
            </a:r>
            <a:pPr indent="0" marL="0">
              <a:lnSpc>
                <a:spcPts val="1600"/>
              </a:lnSpc>
              <a:buNone/>
            </a:pPr>
            <a:r>
              <a:rPr lang="en-US" sz="1150" dirty="0">
                <a:solidFill>
                  <a:srgbClr val="3F4750"/>
                </a:solidFill>
                <a:latin typeface="Arial" pitchFamily="34" charset="0"/>
                <a:ea typeface="Arial" pitchFamily="34" charset="-122"/>
                <a:cs typeface="Arial" pitchFamily="34" charset="-120"/>
              </a:rPr>
              <a:t>  Hofstede and GLOBE are national aggregates whose own authors warn against applying them to individuals — the ecological fallacy.</a:t>
            </a:r>
            <a:endParaRPr lang="en-US" sz="1150" dirty="0"/>
          </a:p>
          <a:p>
            <a:pPr indent="0" marL="0">
              <a:lnSpc>
                <a:spcPts val="1600"/>
              </a:lnSpc>
              <a:buNone/>
            </a:pPr>
            <a:endParaRPr lang="en-US" sz="1150" dirty="0"/>
          </a:p>
          <a:p>
            <a:pPr indent="0" marL="0">
              <a:lnSpc>
                <a:spcPts val="1600"/>
              </a:lnSpc>
              <a:buNone/>
            </a:pPr>
            <a:r>
              <a:rPr lang="en-US" sz="1150" b="1" dirty="0">
                <a:solidFill>
                  <a:srgbClr val="14161A"/>
                </a:solidFill>
                <a:latin typeface="Arial" pitchFamily="34" charset="0"/>
                <a:ea typeface="Arial" pitchFamily="34" charset="-122"/>
                <a:cs typeface="Arial" pitchFamily="34" charset="-120"/>
              </a:rPr>
              <a:t>It is not needed.</a:t>
            </a:r>
            <a:pPr indent="0" marL="0">
              <a:lnSpc>
                <a:spcPts val="1600"/>
              </a:lnSpc>
              <a:buNone/>
            </a:pPr>
            <a:r>
              <a:rPr lang="en-US" sz="1150" dirty="0">
                <a:solidFill>
                  <a:srgbClr val="3F4750"/>
                </a:solidFill>
                <a:latin typeface="Arial" pitchFamily="34" charset="0"/>
                <a:ea typeface="Arial" pitchFamily="34" charset="-122"/>
                <a:cs typeface="Arial" pitchFamily="34" charset="-120"/>
              </a:rPr>
              <a:t>  Strictness, warmth, pace and pushback are explicit and measurable. They make the claim falsifiable; nationality would make it arguable.</a:t>
            </a:r>
            <a:endParaRPr lang="en-US" sz="1150" dirty="0"/>
          </a:p>
        </p:txBody>
      </p:sp>
      <p:sp>
        <p:nvSpPr>
          <p:cNvPr id="14" name="Text 11"/>
          <p:cNvSpPr/>
          <p:nvPr/>
        </p:nvSpPr>
        <p:spPr>
          <a:xfrm>
            <a:off x="566928" y="6382512"/>
            <a:ext cx="5486400" cy="274320"/>
          </a:xfrm>
          <a:prstGeom prst="rect">
            <a:avLst/>
          </a:prstGeom>
          <a:noFill/>
          <a:ln/>
        </p:spPr>
        <p:txBody>
          <a:bodyPr wrap="square" rtlCol="0" anchor="ctr"/>
          <a:lstStyle/>
          <a:p>
            <a:pPr indent="0" marL="0">
              <a:buNone/>
            </a:pPr>
            <a:r>
              <a:rPr lang="en-US" sz="1000" dirty="0">
                <a:solidFill>
                  <a:srgbClr val="7A8593"/>
                </a:solidFill>
                <a:latin typeface="Arial" pitchFamily="34" charset="0"/>
                <a:ea typeface="Arial" pitchFamily="34" charset="-122"/>
                <a:cs typeface="Arial" pitchFamily="34" charset="-120"/>
              </a:rPr>
              <a:t>ConvoTrainer  ·  Final Year Project</a:t>
            </a:r>
            <a:endParaRPr lang="en-US" sz="1000" dirty="0"/>
          </a:p>
        </p:txBody>
      </p:sp>
      <p:sp>
        <p:nvSpPr>
          <p:cNvPr id="15" name="Text 12"/>
          <p:cNvSpPr/>
          <p:nvPr/>
        </p:nvSpPr>
        <p:spPr>
          <a:xfrm>
            <a:off x="10710367" y="6382512"/>
            <a:ext cx="914400" cy="274320"/>
          </a:xfrm>
          <a:prstGeom prst="rect">
            <a:avLst/>
          </a:prstGeom>
          <a:noFill/>
          <a:ln/>
        </p:spPr>
        <p:txBody>
          <a:bodyPr wrap="square" rtlCol="0" anchor="ctr"/>
          <a:lstStyle/>
          <a:p>
            <a:pPr algn="r" indent="0" marL="0">
              <a:buNone/>
            </a:pPr>
            <a:r>
              <a:rPr lang="en-US" sz="1000" dirty="0">
                <a:solidFill>
                  <a:srgbClr val="7A8593"/>
                </a:solidFill>
                <a:latin typeface="Arial" pitchFamily="34" charset="0"/>
                <a:ea typeface="Arial" pitchFamily="34" charset="-122"/>
                <a:cs typeface="Arial"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20624"/>
            <a:ext cx="128016" cy="128016"/>
          </a:xfrm>
          <a:prstGeom prst="rect">
            <a:avLst/>
          </a:prstGeom>
          <a:solidFill>
            <a:srgbClr val="1D4ED8"/>
          </a:solidFill>
          <a:ln/>
        </p:spPr>
      </p:sp>
      <p:sp>
        <p:nvSpPr>
          <p:cNvPr id="3" name="Text 1"/>
          <p:cNvSpPr/>
          <p:nvPr/>
        </p:nvSpPr>
        <p:spPr>
          <a:xfrm>
            <a:off x="804672" y="365760"/>
            <a:ext cx="10820095" cy="237744"/>
          </a:xfrm>
          <a:prstGeom prst="rect">
            <a:avLst/>
          </a:prstGeom>
          <a:noFill/>
          <a:ln/>
        </p:spPr>
        <p:txBody>
          <a:bodyPr wrap="square" rtlCol="0" anchor="ctr"/>
          <a:lstStyle/>
          <a:p>
            <a:pPr indent="0" marL="0">
              <a:buNone/>
            </a:pPr>
            <a:r>
              <a:rPr lang="en-US" sz="1100" b="1" spc="160" kern="0" dirty="0">
                <a:solidFill>
                  <a:srgbClr val="1D4ED8"/>
                </a:solidFill>
                <a:latin typeface="Arial" pitchFamily="34" charset="0"/>
                <a:ea typeface="Arial" pitchFamily="34" charset="-122"/>
                <a:cs typeface="Arial" pitchFamily="34" charset="-120"/>
              </a:rPr>
              <a:t>APPENDIX D</a:t>
            </a:r>
            <a:endParaRPr lang="en-US" sz="1100" dirty="0"/>
          </a:p>
        </p:txBody>
      </p:sp>
      <p:sp>
        <p:nvSpPr>
          <p:cNvPr id="4" name="Text 2"/>
          <p:cNvSpPr/>
          <p:nvPr/>
        </p:nvSpPr>
        <p:spPr>
          <a:xfrm>
            <a:off x="566928" y="694944"/>
            <a:ext cx="11057839" cy="566928"/>
          </a:xfrm>
          <a:prstGeom prst="rect">
            <a:avLst/>
          </a:prstGeom>
          <a:noFill/>
          <a:ln/>
        </p:spPr>
        <p:txBody>
          <a:bodyPr wrap="square" rtlCol="0" anchor="ctr"/>
          <a:lstStyle/>
          <a:p>
            <a:pPr indent="0" marL="0">
              <a:buNone/>
            </a:pPr>
            <a:r>
              <a:rPr lang="en-US" sz="3000" b="1" dirty="0">
                <a:solidFill>
                  <a:srgbClr val="14161A"/>
                </a:solidFill>
                <a:latin typeface="Arial" pitchFamily="34" charset="0"/>
                <a:ea typeface="Arial" pitchFamily="34" charset="-122"/>
                <a:cs typeface="Arial" pitchFamily="34" charset="-120"/>
              </a:rPr>
              <a:t>Two design decisions worth defending</a:t>
            </a:r>
            <a:endParaRPr lang="en-US" sz="3000" dirty="0"/>
          </a:p>
        </p:txBody>
      </p:sp>
      <p:sp>
        <p:nvSpPr>
          <p:cNvPr id="5" name="Shape 3"/>
          <p:cNvSpPr/>
          <p:nvPr/>
        </p:nvSpPr>
        <p:spPr>
          <a:xfrm>
            <a:off x="566928" y="1627632"/>
            <a:ext cx="5373472" cy="3657600"/>
          </a:xfrm>
          <a:prstGeom prst="rect">
            <a:avLst/>
          </a:prstGeom>
          <a:solidFill>
            <a:srgbClr val="F5F7FA"/>
          </a:solidFill>
          <a:ln w="12700">
            <a:solidFill>
              <a:srgbClr val="F5F7FA"/>
            </a:solidFill>
            <a:prstDash val="solid"/>
          </a:ln>
        </p:spPr>
      </p:sp>
      <p:sp>
        <p:nvSpPr>
          <p:cNvPr id="6" name="Shape 4"/>
          <p:cNvSpPr/>
          <p:nvPr/>
        </p:nvSpPr>
        <p:spPr>
          <a:xfrm>
            <a:off x="566928" y="1627632"/>
            <a:ext cx="50292" cy="3657600"/>
          </a:xfrm>
          <a:prstGeom prst="rect">
            <a:avLst/>
          </a:prstGeom>
          <a:solidFill>
            <a:srgbClr val="1D4ED8"/>
          </a:solidFill>
          <a:ln w="12700">
            <a:solidFill>
              <a:srgbClr val="333333"/>
            </a:solidFill>
            <a:prstDash val="solid"/>
          </a:ln>
        </p:spPr>
      </p:sp>
      <p:sp>
        <p:nvSpPr>
          <p:cNvPr id="7" name="Text 5"/>
          <p:cNvSpPr/>
          <p:nvPr/>
        </p:nvSpPr>
        <p:spPr>
          <a:xfrm>
            <a:off x="841248" y="1755648"/>
            <a:ext cx="4916272" cy="310896"/>
          </a:xfrm>
          <a:prstGeom prst="rect">
            <a:avLst/>
          </a:prstGeom>
          <a:noFill/>
          <a:ln/>
        </p:spPr>
        <p:txBody>
          <a:bodyPr wrap="square" rtlCol="0" anchor="ctr"/>
          <a:lstStyle/>
          <a:p>
            <a:pPr indent="0" marL="0">
              <a:buNone/>
            </a:pPr>
            <a:r>
              <a:rPr lang="en-US" sz="1400" b="1" dirty="0">
                <a:solidFill>
                  <a:srgbClr val="14161A"/>
                </a:solidFill>
                <a:latin typeface="Arial" pitchFamily="34" charset="0"/>
                <a:ea typeface="Arial" pitchFamily="34" charset="-122"/>
                <a:cs typeface="Arial" pitchFamily="34" charset="-120"/>
              </a:rPr>
              <a:t>Why scoring ignores the persona</a:t>
            </a:r>
            <a:endParaRPr lang="en-US" sz="1400" dirty="0"/>
          </a:p>
        </p:txBody>
      </p:sp>
      <p:sp>
        <p:nvSpPr>
          <p:cNvPr id="8" name="Text 6"/>
          <p:cNvSpPr/>
          <p:nvPr/>
        </p:nvSpPr>
        <p:spPr>
          <a:xfrm>
            <a:off x="841248" y="2139696"/>
            <a:ext cx="4916272" cy="3054096"/>
          </a:xfrm>
          <a:prstGeom prst="rect">
            <a:avLst/>
          </a:prstGeom>
          <a:noFill/>
          <a:ln/>
        </p:spPr>
        <p:txBody>
          <a:bodyPr wrap="square" rtlCol="0" anchor="t"/>
          <a:lstStyle/>
          <a:p>
            <a:pPr indent="0" marL="0">
              <a:lnSpc>
                <a:spcPts val="1600"/>
              </a:lnSpc>
              <a:buNone/>
            </a:pPr>
            <a:r>
              <a:rPr lang="en-US" sz="1150" dirty="0">
                <a:solidFill>
                  <a:srgbClr val="3F4750"/>
                </a:solidFill>
                <a:latin typeface="Arial" pitchFamily="34" charset="0"/>
                <a:ea typeface="Arial" pitchFamily="34" charset="-122"/>
                <a:cs typeface="Arial" pitchFamily="34" charset="-120"/>
              </a:rPr>
              <a:t>The analyzer takes no persona argument at all, and its cache key is keyed only on round type.</a:t>
            </a:r>
            <a:endParaRPr lang="en-US" sz="1150" dirty="0"/>
          </a:p>
          <a:p>
            <a:pPr indent="0" marL="0">
              <a:lnSpc>
                <a:spcPts val="1600"/>
              </a:lnSpc>
              <a:buNone/>
            </a:pPr>
            <a:endParaRPr lang="en-US" sz="1150" dirty="0"/>
          </a:p>
          <a:p>
            <a:pPr indent="0" marL="0">
              <a:lnSpc>
                <a:spcPts val="1600"/>
              </a:lnSpc>
              <a:buNone/>
            </a:pPr>
            <a:r>
              <a:rPr lang="en-US" sz="1150" dirty="0">
                <a:solidFill>
                  <a:srgbClr val="3F4750"/>
                </a:solidFill>
                <a:latin typeface="Arial" pitchFamily="34" charset="0"/>
                <a:ea typeface="Arial" pitchFamily="34" charset="-122"/>
                <a:cs typeface="Arial" pitchFamily="34" charset="-120"/>
              </a:rPr>
              <a:t>A strict interviewer and a warm one score the same answer identically.</a:t>
            </a:r>
            <a:endParaRPr lang="en-US" sz="1150" dirty="0"/>
          </a:p>
          <a:p>
            <a:pPr indent="0" marL="0">
              <a:lnSpc>
                <a:spcPts val="1600"/>
              </a:lnSpc>
              <a:buNone/>
            </a:pPr>
            <a:endParaRPr lang="en-US" sz="1150" dirty="0"/>
          </a:p>
          <a:p>
            <a:pPr indent="0" marL="0">
              <a:lnSpc>
                <a:spcPts val="1600"/>
              </a:lnSpc>
              <a:buNone/>
            </a:pPr>
            <a:r>
              <a:rPr lang="en-US" sz="1150" b="1" dirty="0">
                <a:solidFill>
                  <a:srgbClr val="14161A"/>
                </a:solidFill>
                <a:latin typeface="Arial" pitchFamily="34" charset="0"/>
                <a:ea typeface="Arial" pitchFamily="34" charset="-122"/>
                <a:cs typeface="Arial" pitchFamily="34" charset="-120"/>
              </a:rPr>
              <a:t>Why:</a:t>
            </a:r>
            <a:pPr indent="0" marL="0">
              <a:lnSpc>
                <a:spcPts val="1600"/>
              </a:lnSpc>
              <a:buNone/>
            </a:pPr>
            <a:r>
              <a:rPr lang="en-US" sz="1150" dirty="0">
                <a:solidFill>
                  <a:srgbClr val="3F4750"/>
                </a:solidFill>
                <a:latin typeface="Arial" pitchFamily="34" charset="0"/>
                <a:ea typeface="Arial" pitchFamily="34" charset="-122"/>
                <a:cs typeface="Arial" pitchFamily="34" charset="-120"/>
              </a:rPr>
              <a:t>  grading should not depend on who asked. An answer is worth what it is worth. The persona controls what gets probed next and how hard — which is where interviewer variation belongs.</a:t>
            </a:r>
            <a:endParaRPr lang="en-US" sz="1150" dirty="0"/>
          </a:p>
          <a:p>
            <a:pPr indent="0" marL="0">
              <a:lnSpc>
                <a:spcPts val="1600"/>
              </a:lnSpc>
              <a:buNone/>
            </a:pPr>
            <a:endParaRPr lang="en-US" sz="1150" dirty="0"/>
          </a:p>
          <a:p>
            <a:pPr indent="0" marL="0">
              <a:lnSpc>
                <a:spcPts val="1600"/>
              </a:lnSpc>
              <a:buNone/>
            </a:pPr>
            <a:r>
              <a:rPr lang="en-US" sz="1150" b="1" dirty="0">
                <a:solidFill>
                  <a:srgbClr val="14161A"/>
                </a:solidFill>
                <a:latin typeface="Arial" pitchFamily="34" charset="0"/>
                <a:ea typeface="Arial" pitchFamily="34" charset="-122"/>
                <a:cs typeface="Arial" pitchFamily="34" charset="-120"/>
              </a:rPr>
              <a:t>Side benefit:</a:t>
            </a:r>
            <a:pPr indent="0" marL="0">
              <a:lnSpc>
                <a:spcPts val="1600"/>
              </a:lnSpc>
              <a:buNone/>
            </a:pPr>
            <a:r>
              <a:rPr lang="en-US" sz="1150" dirty="0">
                <a:solidFill>
                  <a:srgbClr val="3F4750"/>
                </a:solidFill>
                <a:latin typeface="Arial" pitchFamily="34" charset="0"/>
                <a:ea typeface="Arial" pitchFamily="34" charset="-122"/>
                <a:cs typeface="Arial" pitchFamily="34" charset="-120"/>
              </a:rPr>
              <a:t>  the analyzer's prompt prefix is then shared across all users, which is the one place caching has a real chance of firing.</a:t>
            </a:r>
            <a:endParaRPr lang="en-US" sz="1150" dirty="0"/>
          </a:p>
        </p:txBody>
      </p:sp>
      <p:sp>
        <p:nvSpPr>
          <p:cNvPr id="9" name="Shape 7"/>
          <p:cNvSpPr/>
          <p:nvPr/>
        </p:nvSpPr>
        <p:spPr>
          <a:xfrm>
            <a:off x="6251296" y="1627632"/>
            <a:ext cx="5373472" cy="3657600"/>
          </a:xfrm>
          <a:prstGeom prst="rect">
            <a:avLst/>
          </a:prstGeom>
          <a:solidFill>
            <a:srgbClr val="F5F7FA"/>
          </a:solidFill>
          <a:ln w="12700">
            <a:solidFill>
              <a:srgbClr val="F5F7FA"/>
            </a:solidFill>
            <a:prstDash val="solid"/>
          </a:ln>
        </p:spPr>
      </p:sp>
      <p:sp>
        <p:nvSpPr>
          <p:cNvPr id="10" name="Shape 8"/>
          <p:cNvSpPr/>
          <p:nvPr/>
        </p:nvSpPr>
        <p:spPr>
          <a:xfrm>
            <a:off x="6251296" y="1627632"/>
            <a:ext cx="50292" cy="3657600"/>
          </a:xfrm>
          <a:prstGeom prst="rect">
            <a:avLst/>
          </a:prstGeom>
          <a:solidFill>
            <a:srgbClr val="1D4ED8"/>
          </a:solidFill>
          <a:ln w="12700">
            <a:solidFill>
              <a:srgbClr val="333333"/>
            </a:solidFill>
            <a:prstDash val="solid"/>
          </a:ln>
        </p:spPr>
      </p:sp>
      <p:sp>
        <p:nvSpPr>
          <p:cNvPr id="11" name="Text 9"/>
          <p:cNvSpPr/>
          <p:nvPr/>
        </p:nvSpPr>
        <p:spPr>
          <a:xfrm>
            <a:off x="6525616" y="1755648"/>
            <a:ext cx="4916272" cy="310896"/>
          </a:xfrm>
          <a:prstGeom prst="rect">
            <a:avLst/>
          </a:prstGeom>
          <a:noFill/>
          <a:ln/>
        </p:spPr>
        <p:txBody>
          <a:bodyPr wrap="square" rtlCol="0" anchor="ctr"/>
          <a:lstStyle/>
          <a:p>
            <a:pPr indent="0" marL="0">
              <a:buNone/>
            </a:pPr>
            <a:r>
              <a:rPr lang="en-US" sz="1400" b="1" dirty="0">
                <a:solidFill>
                  <a:srgbClr val="14161A"/>
                </a:solidFill>
                <a:latin typeface="Arial" pitchFamily="34" charset="0"/>
                <a:ea typeface="Arial" pitchFamily="34" charset="-122"/>
                <a:cs typeface="Arial" pitchFamily="34" charset="-120"/>
              </a:rPr>
              <a:t>Why the question bank is not in the vector database</a:t>
            </a:r>
            <a:endParaRPr lang="en-US" sz="1400" dirty="0"/>
          </a:p>
        </p:txBody>
      </p:sp>
      <p:sp>
        <p:nvSpPr>
          <p:cNvPr id="12" name="Text 10"/>
          <p:cNvSpPr/>
          <p:nvPr/>
        </p:nvSpPr>
        <p:spPr>
          <a:xfrm>
            <a:off x="6525616" y="2139696"/>
            <a:ext cx="4916272" cy="3054096"/>
          </a:xfrm>
          <a:prstGeom prst="rect">
            <a:avLst/>
          </a:prstGeom>
          <a:noFill/>
          <a:ln/>
        </p:spPr>
        <p:txBody>
          <a:bodyPr wrap="square" rtlCol="0" anchor="t"/>
          <a:lstStyle/>
          <a:p>
            <a:pPr indent="0" marL="0">
              <a:lnSpc>
                <a:spcPts val="1600"/>
              </a:lnSpc>
              <a:buNone/>
            </a:pPr>
            <a:r>
              <a:rPr lang="en-US" sz="1150" dirty="0">
                <a:solidFill>
                  <a:srgbClr val="3F4750"/>
                </a:solidFill>
                <a:latin typeface="Arial" pitchFamily="34" charset="0"/>
                <a:ea typeface="Arial" pitchFamily="34" charset="-122"/>
                <a:cs typeface="Arial" pitchFamily="34" charset="-120"/>
              </a:rPr>
              <a:t>Retrieval saves tokens when it replaces stuffing a large corpus into the prompt. That is exactly why it is used for job descriptions, which run to 30,000 characters.</a:t>
            </a:r>
            <a:endParaRPr lang="en-US" sz="1150" dirty="0"/>
          </a:p>
          <a:p>
            <a:pPr indent="0" marL="0">
              <a:lnSpc>
                <a:spcPts val="1600"/>
              </a:lnSpc>
              <a:buNone/>
            </a:pPr>
            <a:endParaRPr lang="en-US" sz="1150" dirty="0"/>
          </a:p>
          <a:p>
            <a:pPr indent="0" marL="0">
              <a:lnSpc>
                <a:spcPts val="1600"/>
              </a:lnSpc>
              <a:buNone/>
            </a:pPr>
            <a:r>
              <a:rPr lang="en-US" sz="1150" dirty="0">
                <a:solidFill>
                  <a:srgbClr val="3F4750"/>
                </a:solidFill>
                <a:latin typeface="Arial" pitchFamily="34" charset="0"/>
                <a:ea typeface="Arial" pitchFamily="34" charset="-122"/>
                <a:cs typeface="Arial" pitchFamily="34" charset="-120"/>
              </a:rPr>
              <a:t>The interviewer prompt has no question corpus to slim down — questions are generated, not looked up.</a:t>
            </a:r>
            <a:endParaRPr lang="en-US" sz="1150" dirty="0"/>
          </a:p>
          <a:p>
            <a:pPr indent="0" marL="0">
              <a:lnSpc>
                <a:spcPts val="1600"/>
              </a:lnSpc>
              <a:buNone/>
            </a:pPr>
            <a:endParaRPr lang="en-US" sz="1150" dirty="0"/>
          </a:p>
          <a:p>
            <a:pPr indent="0" marL="0">
              <a:lnSpc>
                <a:spcPts val="1600"/>
              </a:lnSpc>
              <a:buNone/>
            </a:pPr>
            <a:r>
              <a:rPr lang="en-US" sz="1150" b="1" dirty="0">
                <a:solidFill>
                  <a:srgbClr val="14161A"/>
                </a:solidFill>
                <a:latin typeface="Arial" pitchFamily="34" charset="0"/>
                <a:ea typeface="Arial" pitchFamily="34" charset="-122"/>
                <a:cs typeface="Arial" pitchFamily="34" charset="-120"/>
              </a:rPr>
              <a:t>The whole 39-question bank is about 800 tokens.</a:t>
            </a:r>
            <a:pPr indent="0" marL="0">
              <a:lnSpc>
                <a:spcPts val="1600"/>
              </a:lnSpc>
              <a:buNone/>
            </a:pPr>
            <a:r>
              <a:rPr lang="en-US" sz="1150" dirty="0">
                <a:solidFill>
                  <a:srgbClr val="3F4750"/>
                </a:solidFill>
                <a:latin typeface="Arial" pitchFamily="34" charset="0"/>
                <a:ea typeface="Arial" pitchFamily="34" charset="-122"/>
                <a:cs typeface="Arial" pitchFamily="34" charset="-120"/>
              </a:rPr>
              <a:t>  Retrieval would add 60–150 input tokens per turn plus an embedding call. The corpus is smaller than the machinery needed to search it.</a:t>
            </a:r>
            <a:endParaRPr lang="en-US" sz="1150" dirty="0"/>
          </a:p>
          <a:p>
            <a:pPr indent="0" marL="0">
              <a:lnSpc>
                <a:spcPts val="1600"/>
              </a:lnSpc>
              <a:buNone/>
            </a:pPr>
            <a:endParaRPr lang="en-US" sz="1150" dirty="0"/>
          </a:p>
          <a:p>
            <a:pPr indent="0" marL="0">
              <a:lnSpc>
                <a:spcPts val="1600"/>
              </a:lnSpc>
              <a:buNone/>
            </a:pPr>
            <a:r>
              <a:rPr lang="en-US" sz="1150" b="1" dirty="0">
                <a:solidFill>
                  <a:srgbClr val="14161A"/>
                </a:solidFill>
                <a:latin typeface="Arial" pitchFamily="34" charset="0"/>
                <a:ea typeface="Arial" pitchFamily="34" charset="-122"/>
                <a:cs typeface="Arial" pitchFamily="34" charset="-120"/>
              </a:rPr>
              <a:t>Honest caveat:</a:t>
            </a:r>
            <a:pPr indent="0" marL="0">
              <a:lnSpc>
                <a:spcPts val="1600"/>
              </a:lnSpc>
              <a:buNone/>
            </a:pPr>
            <a:r>
              <a:rPr lang="en-US" sz="1150" dirty="0">
                <a:solidFill>
                  <a:srgbClr val="3F4750"/>
                </a:solidFill>
                <a:latin typeface="Arial" pitchFamily="34" charset="0"/>
                <a:ea typeface="Arial" pitchFamily="34" charset="-122"/>
                <a:cs typeface="Arial" pitchFamily="34" charset="-120"/>
              </a:rPr>
              <a:t>  there is a legitimate quality argument for a curated bank. There is no cost argument.</a:t>
            </a:r>
            <a:endParaRPr lang="en-US" sz="1150" dirty="0"/>
          </a:p>
        </p:txBody>
      </p:sp>
      <p:sp>
        <p:nvSpPr>
          <p:cNvPr id="14" name="Text 11"/>
          <p:cNvSpPr/>
          <p:nvPr/>
        </p:nvSpPr>
        <p:spPr>
          <a:xfrm>
            <a:off x="566928" y="6382512"/>
            <a:ext cx="5486400" cy="274320"/>
          </a:xfrm>
          <a:prstGeom prst="rect">
            <a:avLst/>
          </a:prstGeom>
          <a:noFill/>
          <a:ln/>
        </p:spPr>
        <p:txBody>
          <a:bodyPr wrap="square" rtlCol="0" anchor="ctr"/>
          <a:lstStyle/>
          <a:p>
            <a:pPr indent="0" marL="0">
              <a:buNone/>
            </a:pPr>
            <a:r>
              <a:rPr lang="en-US" sz="1000" dirty="0">
                <a:solidFill>
                  <a:srgbClr val="7A8593"/>
                </a:solidFill>
                <a:latin typeface="Arial" pitchFamily="34" charset="0"/>
                <a:ea typeface="Arial" pitchFamily="34" charset="-122"/>
                <a:cs typeface="Arial" pitchFamily="34" charset="-120"/>
              </a:rPr>
              <a:t>ConvoTrainer  ·  Final Year Project</a:t>
            </a:r>
            <a:endParaRPr lang="en-US" sz="1000" dirty="0"/>
          </a:p>
        </p:txBody>
      </p:sp>
      <p:sp>
        <p:nvSpPr>
          <p:cNvPr id="15" name="Text 12"/>
          <p:cNvSpPr/>
          <p:nvPr/>
        </p:nvSpPr>
        <p:spPr>
          <a:xfrm>
            <a:off x="10710367" y="6382512"/>
            <a:ext cx="914400" cy="274320"/>
          </a:xfrm>
          <a:prstGeom prst="rect">
            <a:avLst/>
          </a:prstGeom>
          <a:noFill/>
          <a:ln/>
        </p:spPr>
        <p:txBody>
          <a:bodyPr wrap="square" rtlCol="0" anchor="ctr"/>
          <a:lstStyle/>
          <a:p>
            <a:pPr algn="r" indent="0" marL="0">
              <a:buNone/>
            </a:pPr>
            <a:r>
              <a:rPr lang="en-US" sz="1000" dirty="0">
                <a:solidFill>
                  <a:srgbClr val="7A8593"/>
                </a:solidFill>
                <a:latin typeface="Arial" pitchFamily="34" charset="0"/>
                <a:ea typeface="Arial" pitchFamily="34" charset="-122"/>
                <a:cs typeface="Arial"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20624"/>
            <a:ext cx="128016" cy="128016"/>
          </a:xfrm>
          <a:prstGeom prst="rect">
            <a:avLst/>
          </a:prstGeom>
          <a:solidFill>
            <a:srgbClr val="1D4ED8"/>
          </a:solidFill>
          <a:ln/>
        </p:spPr>
      </p:sp>
      <p:sp>
        <p:nvSpPr>
          <p:cNvPr id="3" name="Text 1"/>
          <p:cNvSpPr/>
          <p:nvPr/>
        </p:nvSpPr>
        <p:spPr>
          <a:xfrm>
            <a:off x="804672" y="365760"/>
            <a:ext cx="10820095" cy="237744"/>
          </a:xfrm>
          <a:prstGeom prst="rect">
            <a:avLst/>
          </a:prstGeom>
          <a:noFill/>
          <a:ln/>
        </p:spPr>
        <p:txBody>
          <a:bodyPr wrap="square" rtlCol="0" anchor="ctr"/>
          <a:lstStyle/>
          <a:p>
            <a:pPr indent="0" marL="0">
              <a:buNone/>
            </a:pPr>
            <a:r>
              <a:rPr lang="en-US" sz="1100" b="1" spc="160" kern="0" dirty="0">
                <a:solidFill>
                  <a:srgbClr val="1D4ED8"/>
                </a:solidFill>
                <a:latin typeface="Arial" pitchFamily="34" charset="0"/>
                <a:ea typeface="Arial" pitchFamily="34" charset="-122"/>
                <a:cs typeface="Arial" pitchFamily="34" charset="-120"/>
              </a:rPr>
              <a:t>APPENDIX E</a:t>
            </a:r>
            <a:endParaRPr lang="en-US" sz="1100" dirty="0"/>
          </a:p>
        </p:txBody>
      </p:sp>
      <p:sp>
        <p:nvSpPr>
          <p:cNvPr id="4" name="Text 2"/>
          <p:cNvSpPr/>
          <p:nvPr/>
        </p:nvSpPr>
        <p:spPr>
          <a:xfrm>
            <a:off x="566928" y="694944"/>
            <a:ext cx="11057839" cy="566928"/>
          </a:xfrm>
          <a:prstGeom prst="rect">
            <a:avLst/>
          </a:prstGeom>
          <a:noFill/>
          <a:ln/>
        </p:spPr>
        <p:txBody>
          <a:bodyPr wrap="square" rtlCol="0" anchor="ctr"/>
          <a:lstStyle/>
          <a:p>
            <a:pPr indent="0" marL="0">
              <a:buNone/>
            </a:pPr>
            <a:r>
              <a:rPr lang="en-US" sz="3000" b="1" dirty="0">
                <a:solidFill>
                  <a:srgbClr val="14161A"/>
                </a:solidFill>
                <a:latin typeface="Arial" pitchFamily="34" charset="0"/>
                <a:ea typeface="Arial" pitchFamily="34" charset="-122"/>
                <a:cs typeface="Arial" pitchFamily="34" charset="-120"/>
              </a:rPr>
              <a:t>Testing, CI, and a lint rule used as an architectural boundary</a:t>
            </a:r>
            <a:endParaRPr lang="en-US" sz="3000" dirty="0"/>
          </a:p>
        </p:txBody>
      </p:sp>
      <p:sp>
        <p:nvSpPr>
          <p:cNvPr id="5" name="Shape 3"/>
          <p:cNvSpPr/>
          <p:nvPr/>
        </p:nvSpPr>
        <p:spPr>
          <a:xfrm>
            <a:off x="566928" y="1627632"/>
            <a:ext cx="5373472" cy="3657600"/>
          </a:xfrm>
          <a:prstGeom prst="rect">
            <a:avLst/>
          </a:prstGeom>
          <a:solidFill>
            <a:srgbClr val="EAF5EE"/>
          </a:solidFill>
          <a:ln w="12700">
            <a:solidFill>
              <a:srgbClr val="EAF5EE"/>
            </a:solidFill>
            <a:prstDash val="solid"/>
          </a:ln>
        </p:spPr>
      </p:sp>
      <p:sp>
        <p:nvSpPr>
          <p:cNvPr id="6" name="Shape 4"/>
          <p:cNvSpPr/>
          <p:nvPr/>
        </p:nvSpPr>
        <p:spPr>
          <a:xfrm>
            <a:off x="566928" y="1627632"/>
            <a:ext cx="50292" cy="3657600"/>
          </a:xfrm>
          <a:prstGeom prst="rect">
            <a:avLst/>
          </a:prstGeom>
          <a:solidFill>
            <a:srgbClr val="15803D"/>
          </a:solidFill>
          <a:ln w="12700">
            <a:solidFill>
              <a:srgbClr val="333333"/>
            </a:solidFill>
            <a:prstDash val="solid"/>
          </a:ln>
        </p:spPr>
      </p:sp>
      <p:sp>
        <p:nvSpPr>
          <p:cNvPr id="7" name="Text 5"/>
          <p:cNvSpPr/>
          <p:nvPr/>
        </p:nvSpPr>
        <p:spPr>
          <a:xfrm>
            <a:off x="841248" y="1755648"/>
            <a:ext cx="4916272" cy="310896"/>
          </a:xfrm>
          <a:prstGeom prst="rect">
            <a:avLst/>
          </a:prstGeom>
          <a:noFill/>
          <a:ln/>
        </p:spPr>
        <p:txBody>
          <a:bodyPr wrap="square" rtlCol="0" anchor="ctr"/>
          <a:lstStyle/>
          <a:p>
            <a:pPr indent="0" marL="0">
              <a:buNone/>
            </a:pPr>
            <a:r>
              <a:rPr lang="en-US" sz="1400" b="1" dirty="0">
                <a:solidFill>
                  <a:srgbClr val="15803D"/>
                </a:solidFill>
                <a:latin typeface="Arial" pitchFamily="34" charset="0"/>
                <a:ea typeface="Arial" pitchFamily="34" charset="-122"/>
                <a:cs typeface="Arial" pitchFamily="34" charset="-120"/>
              </a:rPr>
              <a:t>What is tested</a:t>
            </a:r>
            <a:endParaRPr lang="en-US" sz="1400" dirty="0"/>
          </a:p>
        </p:txBody>
      </p:sp>
      <p:sp>
        <p:nvSpPr>
          <p:cNvPr id="8" name="Text 6"/>
          <p:cNvSpPr/>
          <p:nvPr/>
        </p:nvSpPr>
        <p:spPr>
          <a:xfrm>
            <a:off x="841248" y="2139696"/>
            <a:ext cx="4916272" cy="3054096"/>
          </a:xfrm>
          <a:prstGeom prst="rect">
            <a:avLst/>
          </a:prstGeom>
          <a:noFill/>
          <a:ln/>
        </p:spPr>
        <p:txBody>
          <a:bodyPr wrap="square" rtlCol="0" anchor="t"/>
          <a:lstStyle/>
          <a:p>
            <a:pPr indent="0" marL="0">
              <a:lnSpc>
                <a:spcPts val="1600"/>
              </a:lnSpc>
              <a:buNone/>
            </a:pPr>
            <a:r>
              <a:rPr lang="en-US" sz="1150" b="1" dirty="0">
                <a:solidFill>
                  <a:srgbClr val="14161A"/>
                </a:solidFill>
                <a:latin typeface="Arial" pitchFamily="34" charset="0"/>
                <a:ea typeface="Arial" pitchFamily="34" charset="-122"/>
                <a:cs typeface="Arial" pitchFamily="34" charset="-120"/>
              </a:rPr>
              <a:t>299 tests, 31 files, all passing.</a:t>
            </a:r>
            <a:pPr indent="0" marL="0">
              <a:lnSpc>
                <a:spcPts val="1600"/>
              </a:lnSpc>
              <a:buNone/>
            </a:pPr>
            <a:r>
              <a:rPr lang="en-US" sz="1150" dirty="0">
                <a:solidFill>
                  <a:srgbClr val="3F4750"/>
                </a:solidFill>
                <a:latin typeface="Arial" pitchFamily="34" charset="0"/>
                <a:ea typeface="Arial" pitchFamily="34" charset="-122"/>
                <a:cs typeface="Arial" pitchFamily="34" charset="-120"/>
              </a:rPr>
              <a:t>  Pure logic plus route handlers — the route tests cover authentication, input bounds and the prompt trust boundary.</a:t>
            </a:r>
            <a:endParaRPr lang="en-US" sz="1150" dirty="0"/>
          </a:p>
          <a:p>
            <a:pPr indent="0" marL="0">
              <a:lnSpc>
                <a:spcPts val="1600"/>
              </a:lnSpc>
              <a:buNone/>
            </a:pPr>
            <a:endParaRPr lang="en-US" sz="1150" dirty="0"/>
          </a:p>
          <a:p>
            <a:pPr indent="0" marL="0">
              <a:lnSpc>
                <a:spcPts val="1600"/>
              </a:lnSpc>
              <a:buNone/>
            </a:pPr>
            <a:r>
              <a:rPr lang="en-US" sz="1150" b="1" dirty="0">
                <a:solidFill>
                  <a:srgbClr val="14161A"/>
                </a:solidFill>
                <a:latin typeface="Arial" pitchFamily="34" charset="0"/>
                <a:ea typeface="Arial" pitchFamily="34" charset="-122"/>
                <a:cs typeface="Arial" pitchFamily="34" charset="-120"/>
              </a:rPr>
              <a:t>No network in the test suite.</a:t>
            </a:r>
            <a:pPr indent="0" marL="0">
              <a:lnSpc>
                <a:spcPts val="1600"/>
              </a:lnSpc>
              <a:buNone/>
            </a:pPr>
            <a:r>
              <a:rPr lang="en-US" sz="1150" dirty="0">
                <a:solidFill>
                  <a:srgbClr val="3F4750"/>
                </a:solidFill>
                <a:latin typeface="Arial" pitchFamily="34" charset="0"/>
                <a:ea typeface="Arial" pitchFamily="34" charset="-122"/>
                <a:cs typeface="Arial" pitchFamily="34" charset="-120"/>
              </a:rPr>
              <a:t>  Domain logic was kept pure specifically so this would be possible.</a:t>
            </a:r>
            <a:endParaRPr lang="en-US" sz="1150" dirty="0"/>
          </a:p>
          <a:p>
            <a:pPr indent="0" marL="0">
              <a:lnSpc>
                <a:spcPts val="1600"/>
              </a:lnSpc>
              <a:buNone/>
            </a:pPr>
            <a:endParaRPr lang="en-US" sz="1150" dirty="0"/>
          </a:p>
          <a:p>
            <a:pPr indent="0" marL="0">
              <a:lnSpc>
                <a:spcPts val="1600"/>
              </a:lnSpc>
              <a:buNone/>
            </a:pPr>
            <a:r>
              <a:rPr lang="en-US" sz="1150" b="1" dirty="0">
                <a:solidFill>
                  <a:srgbClr val="14161A"/>
                </a:solidFill>
                <a:latin typeface="Arial" pitchFamily="34" charset="0"/>
                <a:ea typeface="Arial" pitchFamily="34" charset="-122"/>
                <a:cs typeface="Arial" pitchFamily="34" charset="-120"/>
              </a:rPr>
              <a:t>The speech queue test fakes the Azure SDK contract</a:t>
            </a:r>
            <a:pPr indent="0" marL="0">
              <a:lnSpc>
                <a:spcPts val="1600"/>
              </a:lnSpc>
              <a:buNone/>
            </a:pPr>
            <a:r>
              <a:rPr lang="en-US" sz="1150" dirty="0">
                <a:solidFill>
                  <a:srgbClr val="3F4750"/>
                </a:solidFill>
                <a:latin typeface="Arial" pitchFamily="34" charset="0"/>
                <a:ea typeface="Arial" pitchFamily="34" charset="-122"/>
                <a:cs typeface="Arial" pitchFamily="34" charset="-120"/>
              </a:rPr>
              <a:t>  so a regression that stops calling close() fails in CI the same way it failed in the browser.</a:t>
            </a:r>
            <a:endParaRPr lang="en-US" sz="1150" dirty="0"/>
          </a:p>
          <a:p>
            <a:pPr indent="0" marL="0">
              <a:lnSpc>
                <a:spcPts val="1600"/>
              </a:lnSpc>
              <a:buNone/>
            </a:pPr>
            <a:endParaRPr lang="en-US" sz="1150" dirty="0"/>
          </a:p>
          <a:p>
            <a:pPr indent="0" marL="0">
              <a:lnSpc>
                <a:spcPts val="1600"/>
              </a:lnSpc>
              <a:buNone/>
            </a:pPr>
            <a:r>
              <a:rPr lang="en-US" sz="1150" b="1" dirty="0">
                <a:solidFill>
                  <a:srgbClr val="14161A"/>
                </a:solidFill>
                <a:latin typeface="Arial" pitchFamily="34" charset="0"/>
                <a:ea typeface="Arial" pitchFamily="34" charset="-122"/>
                <a:cs typeface="Arial" pitchFamily="34" charset="-120"/>
              </a:rPr>
              <a:t>CI runs typecheck, lint and tests</a:t>
            </a:r>
            <a:pPr indent="0" marL="0">
              <a:lnSpc>
                <a:spcPts val="1600"/>
              </a:lnSpc>
              <a:buNone/>
            </a:pPr>
            <a:r>
              <a:rPr lang="en-US" sz="1150" dirty="0">
                <a:solidFill>
                  <a:srgbClr val="3F4750"/>
                </a:solidFill>
                <a:latin typeface="Arial" pitchFamily="34" charset="0"/>
                <a:ea typeface="Arial" pitchFamily="34" charset="-122"/>
                <a:cs typeface="Arial" pitchFamily="34" charset="-120"/>
              </a:rPr>
              <a:t>  on every push and pull request.</a:t>
            </a:r>
            <a:endParaRPr lang="en-US" sz="1150" dirty="0"/>
          </a:p>
        </p:txBody>
      </p:sp>
      <p:sp>
        <p:nvSpPr>
          <p:cNvPr id="9" name="Shape 7"/>
          <p:cNvSpPr/>
          <p:nvPr/>
        </p:nvSpPr>
        <p:spPr>
          <a:xfrm>
            <a:off x="6251296" y="1627632"/>
            <a:ext cx="5373472" cy="3657600"/>
          </a:xfrm>
          <a:prstGeom prst="rect">
            <a:avLst/>
          </a:prstGeom>
          <a:solidFill>
            <a:srgbClr val="EAF0FE"/>
          </a:solidFill>
          <a:ln w="12700">
            <a:solidFill>
              <a:srgbClr val="EAF0FE"/>
            </a:solidFill>
            <a:prstDash val="solid"/>
          </a:ln>
        </p:spPr>
      </p:sp>
      <p:sp>
        <p:nvSpPr>
          <p:cNvPr id="10" name="Shape 8"/>
          <p:cNvSpPr/>
          <p:nvPr/>
        </p:nvSpPr>
        <p:spPr>
          <a:xfrm>
            <a:off x="6251296" y="1627632"/>
            <a:ext cx="50292" cy="3657600"/>
          </a:xfrm>
          <a:prstGeom prst="rect">
            <a:avLst/>
          </a:prstGeom>
          <a:solidFill>
            <a:srgbClr val="1D4ED8"/>
          </a:solidFill>
          <a:ln w="12700">
            <a:solidFill>
              <a:srgbClr val="333333"/>
            </a:solidFill>
            <a:prstDash val="solid"/>
          </a:ln>
        </p:spPr>
      </p:sp>
      <p:sp>
        <p:nvSpPr>
          <p:cNvPr id="11" name="Text 9"/>
          <p:cNvSpPr/>
          <p:nvPr/>
        </p:nvSpPr>
        <p:spPr>
          <a:xfrm>
            <a:off x="6525616" y="1755648"/>
            <a:ext cx="4916272" cy="310896"/>
          </a:xfrm>
          <a:prstGeom prst="rect">
            <a:avLst/>
          </a:prstGeom>
          <a:noFill/>
          <a:ln/>
        </p:spPr>
        <p:txBody>
          <a:bodyPr wrap="square" rtlCol="0" anchor="ctr"/>
          <a:lstStyle/>
          <a:p>
            <a:pPr indent="0" marL="0">
              <a:buNone/>
            </a:pPr>
            <a:r>
              <a:rPr lang="en-US" sz="1400" b="1" dirty="0">
                <a:solidFill>
                  <a:srgbClr val="1D4ED8"/>
                </a:solidFill>
                <a:latin typeface="Arial" pitchFamily="34" charset="0"/>
                <a:ea typeface="Arial" pitchFamily="34" charset="-122"/>
                <a:cs typeface="Arial" pitchFamily="34" charset="-120"/>
              </a:rPr>
              <a:t>The boundary that is actually enforced</a:t>
            </a:r>
            <a:endParaRPr lang="en-US" sz="1400" dirty="0"/>
          </a:p>
        </p:txBody>
      </p:sp>
      <p:sp>
        <p:nvSpPr>
          <p:cNvPr id="12" name="Text 10"/>
          <p:cNvSpPr/>
          <p:nvPr/>
        </p:nvSpPr>
        <p:spPr>
          <a:xfrm>
            <a:off x="6525616" y="2139696"/>
            <a:ext cx="4916272" cy="3054096"/>
          </a:xfrm>
          <a:prstGeom prst="rect">
            <a:avLst/>
          </a:prstGeom>
          <a:noFill/>
          <a:ln/>
        </p:spPr>
        <p:txBody>
          <a:bodyPr wrap="square" rtlCol="0" anchor="t"/>
          <a:lstStyle/>
          <a:p>
            <a:pPr indent="0" marL="0">
              <a:lnSpc>
                <a:spcPts val="1600"/>
              </a:lnSpc>
              <a:buNone/>
            </a:pPr>
            <a:r>
              <a:rPr lang="en-US" sz="1150" dirty="0">
                <a:solidFill>
                  <a:srgbClr val="3F4750"/>
                </a:solidFill>
                <a:latin typeface="Arial" pitchFamily="34" charset="0"/>
                <a:ea typeface="Arial" pitchFamily="34" charset="-122"/>
                <a:cs typeface="Arial" pitchFamily="34" charset="-120"/>
              </a:rPr>
              <a:t>The developer tooling — the eval harnesses, the cost report, the OpenAI rate card — must never be bundled into the browser.</a:t>
            </a:r>
            <a:endParaRPr lang="en-US" sz="1150" dirty="0"/>
          </a:p>
          <a:p>
            <a:pPr indent="0" marL="0">
              <a:lnSpc>
                <a:spcPts val="1600"/>
              </a:lnSpc>
              <a:buNone/>
            </a:pPr>
            <a:endParaRPr lang="en-US" sz="1150" dirty="0"/>
          </a:p>
          <a:p>
            <a:pPr indent="0" marL="0">
              <a:lnSpc>
                <a:spcPts val="1600"/>
              </a:lnSpc>
              <a:buNone/>
            </a:pPr>
            <a:r>
              <a:rPr lang="en-US" sz="1150" b="1" dirty="0">
                <a:solidFill>
                  <a:srgbClr val="14161A"/>
                </a:solidFill>
                <a:latin typeface="Arial" pitchFamily="34" charset="0"/>
                <a:ea typeface="Arial" pitchFamily="34" charset="-122"/>
                <a:cs typeface="Arial" pitchFamily="34" charset="-120"/>
              </a:rPr>
              <a:t>An ESLint rule forbids it.</a:t>
            </a:r>
            <a:pPr indent="0" marL="0">
              <a:lnSpc>
                <a:spcPts val="1600"/>
              </a:lnSpc>
              <a:buNone/>
            </a:pPr>
            <a:r>
              <a:rPr lang="en-US" sz="1150" dirty="0">
                <a:solidFill>
                  <a:srgbClr val="3F4750"/>
                </a:solidFill>
                <a:latin typeface="Arial" pitchFamily="34" charset="0"/>
                <a:ea typeface="Arial" pitchFamily="34" charset="-122"/>
                <a:cs typeface="Arial" pitchFamily="34" charset="-120"/>
              </a:rPr>
              <a:t>  Application code may not import the eval directory, the pricing table, or the test support helpers. A future mistake fails CI instead of silently shipping the price list to every user.</a:t>
            </a:r>
            <a:endParaRPr lang="en-US" sz="1150" dirty="0"/>
          </a:p>
          <a:p>
            <a:pPr indent="0" marL="0">
              <a:lnSpc>
                <a:spcPts val="1600"/>
              </a:lnSpc>
              <a:buNone/>
            </a:pPr>
            <a:endParaRPr lang="en-US" sz="1150" dirty="0"/>
          </a:p>
          <a:p>
            <a:pPr indent="0" marL="0">
              <a:lnSpc>
                <a:spcPts val="1600"/>
              </a:lnSpc>
              <a:buNone/>
            </a:pPr>
            <a:r>
              <a:rPr lang="en-US" sz="1150" b="1" dirty="0">
                <a:solidFill>
                  <a:srgbClr val="14161A"/>
                </a:solidFill>
                <a:latin typeface="Arial" pitchFamily="34" charset="0"/>
                <a:ea typeface="Arial" pitchFamily="34" charset="-122"/>
                <a:cs typeface="Arial" pitchFamily="34" charset="-120"/>
              </a:rPr>
              <a:t>The service-role key has no NEXT_PUBLIC_ prefix,</a:t>
            </a:r>
            <a:pPr indent="0" marL="0">
              <a:lnSpc>
                <a:spcPts val="1600"/>
              </a:lnSpc>
              <a:buNone/>
            </a:pPr>
            <a:r>
              <a:rPr lang="en-US" sz="1150" dirty="0">
                <a:solidFill>
                  <a:srgbClr val="3F4750"/>
                </a:solidFill>
                <a:latin typeface="Arial" pitchFamily="34" charset="0"/>
                <a:ea typeface="Arial" pitchFamily="34" charset="-122"/>
                <a:cs typeface="Arial" pitchFamily="34" charset="-120"/>
              </a:rPr>
              <a:t>  so it evaluates to undefined in a browser even if it were imported by accident.</a:t>
            </a:r>
            <a:endParaRPr lang="en-US" sz="1150" dirty="0"/>
          </a:p>
          <a:p>
            <a:pPr indent="0" marL="0">
              <a:lnSpc>
                <a:spcPts val="1600"/>
              </a:lnSpc>
              <a:buNone/>
            </a:pPr>
            <a:endParaRPr lang="en-US" sz="1150" dirty="0"/>
          </a:p>
          <a:p>
            <a:pPr indent="0" marL="0">
              <a:lnSpc>
                <a:spcPts val="1600"/>
              </a:lnSpc>
              <a:buNone/>
            </a:pPr>
            <a:r>
              <a:rPr lang="en-US" sz="1150" b="1" dirty="0">
                <a:solidFill>
                  <a:srgbClr val="14161A"/>
                </a:solidFill>
                <a:latin typeface="Arial" pitchFamily="34" charset="0"/>
                <a:ea typeface="Arial" pitchFamily="34" charset="-122"/>
                <a:cs typeface="Arial" pitchFamily="34" charset="-120"/>
              </a:rPr>
              <a:t>Stated plainly:</a:t>
            </a:r>
            <a:pPr indent="0" marL="0">
              <a:lnSpc>
                <a:spcPts val="1600"/>
              </a:lnSpc>
              <a:buNone/>
            </a:pPr>
            <a:r>
              <a:rPr lang="en-US" sz="1150" dirty="0">
                <a:solidFill>
                  <a:srgbClr val="3F4750"/>
                </a:solidFill>
                <a:latin typeface="Arial" pitchFamily="34" charset="0"/>
                <a:ea typeface="Arial" pitchFamily="34" charset="-122"/>
                <a:cs typeface="Arial" pitchFamily="34" charset="-120"/>
              </a:rPr>
              <a:t>  the absence of a user interface is not access control. The enforced boundaries are the import graph, the key naming, and RLS.</a:t>
            </a:r>
            <a:endParaRPr lang="en-US" sz="1150" dirty="0"/>
          </a:p>
        </p:txBody>
      </p:sp>
      <p:sp>
        <p:nvSpPr>
          <p:cNvPr id="14" name="Text 11"/>
          <p:cNvSpPr/>
          <p:nvPr/>
        </p:nvSpPr>
        <p:spPr>
          <a:xfrm>
            <a:off x="566928" y="6382512"/>
            <a:ext cx="5486400" cy="274320"/>
          </a:xfrm>
          <a:prstGeom prst="rect">
            <a:avLst/>
          </a:prstGeom>
          <a:noFill/>
          <a:ln/>
        </p:spPr>
        <p:txBody>
          <a:bodyPr wrap="square" rtlCol="0" anchor="ctr"/>
          <a:lstStyle/>
          <a:p>
            <a:pPr indent="0" marL="0">
              <a:buNone/>
            </a:pPr>
            <a:r>
              <a:rPr lang="en-US" sz="1000" dirty="0">
                <a:solidFill>
                  <a:srgbClr val="7A8593"/>
                </a:solidFill>
                <a:latin typeface="Arial" pitchFamily="34" charset="0"/>
                <a:ea typeface="Arial" pitchFamily="34" charset="-122"/>
                <a:cs typeface="Arial" pitchFamily="34" charset="-120"/>
              </a:rPr>
              <a:t>ConvoTrainer  ·  Final Year Project</a:t>
            </a:r>
            <a:endParaRPr lang="en-US" sz="1000" dirty="0"/>
          </a:p>
        </p:txBody>
      </p:sp>
      <p:sp>
        <p:nvSpPr>
          <p:cNvPr id="15" name="Text 12"/>
          <p:cNvSpPr/>
          <p:nvPr/>
        </p:nvSpPr>
        <p:spPr>
          <a:xfrm>
            <a:off x="10710367" y="6382512"/>
            <a:ext cx="914400" cy="274320"/>
          </a:xfrm>
          <a:prstGeom prst="rect">
            <a:avLst/>
          </a:prstGeom>
          <a:noFill/>
          <a:ln/>
        </p:spPr>
        <p:txBody>
          <a:bodyPr wrap="square" rtlCol="0" anchor="ctr"/>
          <a:lstStyle/>
          <a:p>
            <a:pPr algn="r" indent="0" marL="0">
              <a:buNone/>
            </a:pPr>
            <a:r>
              <a:rPr lang="en-US" sz="1000" dirty="0">
                <a:solidFill>
                  <a:srgbClr val="7A8593"/>
                </a:solidFill>
                <a:latin typeface="Arial" pitchFamily="34" charset="0"/>
                <a:ea typeface="Arial" pitchFamily="34" charset="-122"/>
                <a:cs typeface="Arial"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20624"/>
            <a:ext cx="128016" cy="128016"/>
          </a:xfrm>
          <a:prstGeom prst="rect">
            <a:avLst/>
          </a:prstGeom>
          <a:solidFill>
            <a:srgbClr val="1D4ED8"/>
          </a:solidFill>
          <a:ln/>
        </p:spPr>
      </p:sp>
      <p:sp>
        <p:nvSpPr>
          <p:cNvPr id="3" name="Text 1"/>
          <p:cNvSpPr/>
          <p:nvPr/>
        </p:nvSpPr>
        <p:spPr>
          <a:xfrm>
            <a:off x="804672" y="365760"/>
            <a:ext cx="10820095" cy="237744"/>
          </a:xfrm>
          <a:prstGeom prst="rect">
            <a:avLst/>
          </a:prstGeom>
          <a:noFill/>
          <a:ln/>
        </p:spPr>
        <p:txBody>
          <a:bodyPr wrap="square" rtlCol="0" anchor="ctr"/>
          <a:lstStyle/>
          <a:p>
            <a:pPr indent="0" marL="0">
              <a:buNone/>
            </a:pPr>
            <a:r>
              <a:rPr lang="en-US" sz="1100" b="1" spc="160" kern="0" dirty="0">
                <a:solidFill>
                  <a:srgbClr val="1D4ED8"/>
                </a:solidFill>
                <a:latin typeface="Arial" pitchFamily="34" charset="0"/>
                <a:ea typeface="Arial" pitchFamily="34" charset="-122"/>
                <a:cs typeface="Arial" pitchFamily="34" charset="-120"/>
              </a:rPr>
              <a:t>APPENDIX F</a:t>
            </a:r>
            <a:endParaRPr lang="en-US" sz="1100" dirty="0"/>
          </a:p>
        </p:txBody>
      </p:sp>
      <p:sp>
        <p:nvSpPr>
          <p:cNvPr id="4" name="Text 2"/>
          <p:cNvSpPr/>
          <p:nvPr/>
        </p:nvSpPr>
        <p:spPr>
          <a:xfrm>
            <a:off x="566928" y="694944"/>
            <a:ext cx="11057839" cy="566928"/>
          </a:xfrm>
          <a:prstGeom prst="rect">
            <a:avLst/>
          </a:prstGeom>
          <a:noFill/>
          <a:ln/>
        </p:spPr>
        <p:txBody>
          <a:bodyPr wrap="square" rtlCol="0" anchor="ctr"/>
          <a:lstStyle/>
          <a:p>
            <a:pPr indent="0" marL="0">
              <a:buNone/>
            </a:pPr>
            <a:r>
              <a:rPr lang="en-US" sz="3000" b="1" dirty="0">
                <a:solidFill>
                  <a:srgbClr val="14161A"/>
                </a:solidFill>
                <a:latin typeface="Arial" pitchFamily="34" charset="0"/>
                <a:ea typeface="Arial" pitchFamily="34" charset="-122"/>
                <a:cs typeface="Arial" pitchFamily="34" charset="-120"/>
              </a:rPr>
              <a:t>What I would do next</a:t>
            </a:r>
            <a:endParaRPr lang="en-US" sz="3000" dirty="0"/>
          </a:p>
        </p:txBody>
      </p:sp>
      <p:sp>
        <p:nvSpPr>
          <p:cNvPr id="5" name="Shape 3"/>
          <p:cNvSpPr/>
          <p:nvPr/>
        </p:nvSpPr>
        <p:spPr>
          <a:xfrm>
            <a:off x="566928" y="1627632"/>
            <a:ext cx="5373472" cy="3657600"/>
          </a:xfrm>
          <a:prstGeom prst="rect">
            <a:avLst/>
          </a:prstGeom>
          <a:solidFill>
            <a:srgbClr val="F5F7FA"/>
          </a:solidFill>
          <a:ln w="12700">
            <a:solidFill>
              <a:srgbClr val="F5F7FA"/>
            </a:solidFill>
            <a:prstDash val="solid"/>
          </a:ln>
        </p:spPr>
      </p:sp>
      <p:sp>
        <p:nvSpPr>
          <p:cNvPr id="6" name="Shape 4"/>
          <p:cNvSpPr/>
          <p:nvPr/>
        </p:nvSpPr>
        <p:spPr>
          <a:xfrm>
            <a:off x="566928" y="1627632"/>
            <a:ext cx="50292" cy="3657600"/>
          </a:xfrm>
          <a:prstGeom prst="rect">
            <a:avLst/>
          </a:prstGeom>
          <a:solidFill>
            <a:srgbClr val="1D4ED8"/>
          </a:solidFill>
          <a:ln w="12700">
            <a:solidFill>
              <a:srgbClr val="333333"/>
            </a:solidFill>
            <a:prstDash val="solid"/>
          </a:ln>
        </p:spPr>
      </p:sp>
      <p:sp>
        <p:nvSpPr>
          <p:cNvPr id="7" name="Text 5"/>
          <p:cNvSpPr/>
          <p:nvPr/>
        </p:nvSpPr>
        <p:spPr>
          <a:xfrm>
            <a:off x="841248" y="1755648"/>
            <a:ext cx="4916272" cy="310896"/>
          </a:xfrm>
          <a:prstGeom prst="rect">
            <a:avLst/>
          </a:prstGeom>
          <a:noFill/>
          <a:ln/>
        </p:spPr>
        <p:txBody>
          <a:bodyPr wrap="square" rtlCol="0" anchor="ctr"/>
          <a:lstStyle/>
          <a:p>
            <a:pPr indent="0" marL="0">
              <a:buNone/>
            </a:pPr>
            <a:r>
              <a:rPr lang="en-US" sz="1400" b="1" dirty="0">
                <a:solidFill>
                  <a:srgbClr val="14161A"/>
                </a:solidFill>
                <a:latin typeface="Arial" pitchFamily="34" charset="0"/>
                <a:ea typeface="Arial" pitchFamily="34" charset="-122"/>
                <a:cs typeface="Arial" pitchFamily="34" charset="-120"/>
              </a:rPr>
              <a:t>Immediately</a:t>
            </a:r>
            <a:endParaRPr lang="en-US" sz="1400" dirty="0"/>
          </a:p>
        </p:txBody>
      </p:sp>
      <p:sp>
        <p:nvSpPr>
          <p:cNvPr id="8" name="Text 6"/>
          <p:cNvSpPr/>
          <p:nvPr/>
        </p:nvSpPr>
        <p:spPr>
          <a:xfrm>
            <a:off x="841248" y="2139696"/>
            <a:ext cx="4916272" cy="3054096"/>
          </a:xfrm>
          <a:prstGeom prst="rect">
            <a:avLst/>
          </a:prstGeom>
          <a:noFill/>
          <a:ln/>
        </p:spPr>
        <p:txBody>
          <a:bodyPr wrap="square" rtlCol="0" anchor="t"/>
          <a:lstStyle/>
          <a:p>
            <a:pPr indent="0" marL="0">
              <a:lnSpc>
                <a:spcPts val="1600"/>
              </a:lnSpc>
              <a:buNone/>
            </a:pPr>
            <a:r>
              <a:rPr lang="en-US" sz="1150" b="1" dirty="0">
                <a:solidFill>
                  <a:srgbClr val="14161A"/>
                </a:solidFill>
                <a:latin typeface="Arial" pitchFamily="34" charset="0"/>
                <a:ea typeface="Arial" pitchFamily="34" charset="-122"/>
                <a:cs typeface="Arial" pitchFamily="34" charset="-120"/>
              </a:rPr>
              <a:t>Run the scoring evaluation.</a:t>
            </a:r>
            <a:pPr indent="0" marL="0">
              <a:lnSpc>
                <a:spcPts val="1600"/>
              </a:lnSpc>
              <a:buNone/>
            </a:pPr>
            <a:r>
              <a:rPr lang="en-US" sz="1150" dirty="0">
                <a:solidFill>
                  <a:srgbClr val="3F4750"/>
                </a:solidFill>
                <a:latin typeface="Arial" pitchFamily="34" charset="0"/>
                <a:ea typeface="Arial" pitchFamily="34" charset="-122"/>
                <a:cs typeface="Arial" pitchFamily="34" charset="-120"/>
              </a:rPr>
              <a:t>  The harness, the fixtures and the metrics exist. It costs money to run, which is the only reason it has not been.</a:t>
            </a:r>
            <a:endParaRPr lang="en-US" sz="1150" dirty="0"/>
          </a:p>
          <a:p>
            <a:pPr indent="0" marL="0">
              <a:lnSpc>
                <a:spcPts val="1600"/>
              </a:lnSpc>
              <a:buNone/>
            </a:pPr>
            <a:endParaRPr lang="en-US" sz="1150" dirty="0"/>
          </a:p>
          <a:p>
            <a:pPr indent="0" marL="0">
              <a:lnSpc>
                <a:spcPts val="1600"/>
              </a:lnSpc>
              <a:buNone/>
            </a:pPr>
            <a:r>
              <a:rPr lang="en-US" sz="1150" b="1" dirty="0">
                <a:solidFill>
                  <a:srgbClr val="14161A"/>
                </a:solidFill>
                <a:latin typeface="Arial" pitchFamily="34" charset="0"/>
                <a:ea typeface="Arial" pitchFamily="34" charset="-122"/>
                <a:cs typeface="Arial" pitchFamily="34" charset="-120"/>
              </a:rPr>
              <a:t>Run the UAT.</a:t>
            </a:r>
            <a:pPr indent="0" marL="0">
              <a:lnSpc>
                <a:spcPts val="1600"/>
              </a:lnSpc>
              <a:buNone/>
            </a:pPr>
            <a:r>
              <a:rPr lang="en-US" sz="1150" dirty="0">
                <a:solidFill>
                  <a:srgbClr val="3F4750"/>
                </a:solidFill>
                <a:latin typeface="Arial" pitchFamily="34" charset="0"/>
                <a:ea typeface="Arial" pitchFamily="34" charset="-122"/>
                <a:cs typeface="Arial" pitchFamily="34" charset="-120"/>
              </a:rPr>
              <a:t>  Plan, tester handout and exit criteria are written; it needs at least two non-developer testers to complete a full interview unaided.</a:t>
            </a:r>
            <a:endParaRPr lang="en-US" sz="1150" dirty="0"/>
          </a:p>
          <a:p>
            <a:pPr indent="0" marL="0">
              <a:lnSpc>
                <a:spcPts val="1600"/>
              </a:lnSpc>
              <a:buNone/>
            </a:pPr>
            <a:endParaRPr lang="en-US" sz="1150" dirty="0"/>
          </a:p>
          <a:p>
            <a:pPr indent="0" marL="0">
              <a:lnSpc>
                <a:spcPts val="1600"/>
              </a:lnSpc>
              <a:buNone/>
            </a:pPr>
            <a:r>
              <a:rPr lang="en-US" sz="1150" b="1" dirty="0">
                <a:solidFill>
                  <a:srgbClr val="14161A"/>
                </a:solidFill>
                <a:latin typeface="Arial" pitchFamily="34" charset="0"/>
                <a:ea typeface="Arial" pitchFamily="34" charset="-122"/>
                <a:cs typeface="Arial" pitchFamily="34" charset="-120"/>
              </a:rPr>
              <a:t>Run the blind-judge arm of the persona evaluation</a:t>
            </a:r>
            <a:pPr indent="0" marL="0">
              <a:lnSpc>
                <a:spcPts val="1600"/>
              </a:lnSpc>
              <a:buNone/>
            </a:pPr>
            <a:r>
              <a:rPr lang="en-US" sz="1150" dirty="0">
                <a:solidFill>
                  <a:srgbClr val="3F4750"/>
                </a:solidFill>
                <a:latin typeface="Arial" pitchFamily="34" charset="0"/>
                <a:ea typeface="Arial" pitchFamily="34" charset="-122"/>
                <a:cs typeface="Arial" pitchFamily="34" charset="-120"/>
              </a:rPr>
              <a:t>  to measure the textual path, which cannot be proved by inspection.</a:t>
            </a:r>
            <a:endParaRPr lang="en-US" sz="1150" dirty="0"/>
          </a:p>
        </p:txBody>
      </p:sp>
      <p:sp>
        <p:nvSpPr>
          <p:cNvPr id="9" name="Shape 7"/>
          <p:cNvSpPr/>
          <p:nvPr/>
        </p:nvSpPr>
        <p:spPr>
          <a:xfrm>
            <a:off x="6251296" y="1627632"/>
            <a:ext cx="5373472" cy="3657600"/>
          </a:xfrm>
          <a:prstGeom prst="rect">
            <a:avLst/>
          </a:prstGeom>
          <a:solidFill>
            <a:srgbClr val="F5F7FA"/>
          </a:solidFill>
          <a:ln w="12700">
            <a:solidFill>
              <a:srgbClr val="F5F7FA"/>
            </a:solidFill>
            <a:prstDash val="solid"/>
          </a:ln>
        </p:spPr>
      </p:sp>
      <p:sp>
        <p:nvSpPr>
          <p:cNvPr id="10" name="Shape 8"/>
          <p:cNvSpPr/>
          <p:nvPr/>
        </p:nvSpPr>
        <p:spPr>
          <a:xfrm>
            <a:off x="6251296" y="1627632"/>
            <a:ext cx="50292" cy="3657600"/>
          </a:xfrm>
          <a:prstGeom prst="rect">
            <a:avLst/>
          </a:prstGeom>
          <a:solidFill>
            <a:srgbClr val="1D4ED8"/>
          </a:solidFill>
          <a:ln w="12700">
            <a:solidFill>
              <a:srgbClr val="333333"/>
            </a:solidFill>
            <a:prstDash val="solid"/>
          </a:ln>
        </p:spPr>
      </p:sp>
      <p:sp>
        <p:nvSpPr>
          <p:cNvPr id="11" name="Text 9"/>
          <p:cNvSpPr/>
          <p:nvPr/>
        </p:nvSpPr>
        <p:spPr>
          <a:xfrm>
            <a:off x="6525616" y="1755648"/>
            <a:ext cx="4916272" cy="310896"/>
          </a:xfrm>
          <a:prstGeom prst="rect">
            <a:avLst/>
          </a:prstGeom>
          <a:noFill/>
          <a:ln/>
        </p:spPr>
        <p:txBody>
          <a:bodyPr wrap="square" rtlCol="0" anchor="ctr"/>
          <a:lstStyle/>
          <a:p>
            <a:pPr indent="0" marL="0">
              <a:buNone/>
            </a:pPr>
            <a:r>
              <a:rPr lang="en-US" sz="1400" b="1" dirty="0">
                <a:solidFill>
                  <a:srgbClr val="14161A"/>
                </a:solidFill>
                <a:latin typeface="Arial" pitchFamily="34" charset="0"/>
                <a:ea typeface="Arial" pitchFamily="34" charset="-122"/>
                <a:cs typeface="Arial" pitchFamily="34" charset="-120"/>
              </a:rPr>
              <a:t>Then</a:t>
            </a:r>
            <a:endParaRPr lang="en-US" sz="1400" dirty="0"/>
          </a:p>
        </p:txBody>
      </p:sp>
      <p:sp>
        <p:nvSpPr>
          <p:cNvPr id="12" name="Text 10"/>
          <p:cNvSpPr/>
          <p:nvPr/>
        </p:nvSpPr>
        <p:spPr>
          <a:xfrm>
            <a:off x="6525616" y="2139696"/>
            <a:ext cx="4916272" cy="3054096"/>
          </a:xfrm>
          <a:prstGeom prst="rect">
            <a:avLst/>
          </a:prstGeom>
          <a:noFill/>
          <a:ln/>
        </p:spPr>
        <p:txBody>
          <a:bodyPr wrap="square" rtlCol="0" anchor="t"/>
          <a:lstStyle/>
          <a:p>
            <a:pPr indent="0" marL="0">
              <a:lnSpc>
                <a:spcPts val="1600"/>
              </a:lnSpc>
              <a:buNone/>
            </a:pPr>
            <a:r>
              <a:rPr lang="en-US" sz="1150" b="1" dirty="0">
                <a:solidFill>
                  <a:srgbClr val="14161A"/>
                </a:solidFill>
                <a:latin typeface="Arial" pitchFamily="34" charset="0"/>
                <a:ea typeface="Arial" pitchFamily="34" charset="-122"/>
                <a:cs typeface="Arial" pitchFamily="34" charset="-120"/>
              </a:rPr>
              <a:t>Move the rate limiter out of process</a:t>
            </a:r>
            <a:pPr indent="0" marL="0">
              <a:lnSpc>
                <a:spcPts val="1600"/>
              </a:lnSpc>
              <a:buNone/>
            </a:pPr>
            <a:r>
              <a:rPr lang="en-US" sz="1150" dirty="0">
                <a:solidFill>
                  <a:srgbClr val="3F4750"/>
                </a:solidFill>
                <a:latin typeface="Arial" pitchFamily="34" charset="0"/>
                <a:ea typeface="Arial" pitchFamily="34" charset="-122"/>
                <a:cs typeface="Arial" pitchFamily="34" charset="-120"/>
              </a:rPr>
              <a:t>  so it is correct across serverless instances.</a:t>
            </a:r>
            <a:endParaRPr lang="en-US" sz="1150" dirty="0"/>
          </a:p>
          <a:p>
            <a:pPr indent="0" marL="0">
              <a:lnSpc>
                <a:spcPts val="1600"/>
              </a:lnSpc>
              <a:buNone/>
            </a:pPr>
            <a:endParaRPr lang="en-US" sz="1150" dirty="0"/>
          </a:p>
          <a:p>
            <a:pPr indent="0" marL="0">
              <a:lnSpc>
                <a:spcPts val="1600"/>
              </a:lnSpc>
              <a:buNone/>
            </a:pPr>
            <a:r>
              <a:rPr lang="en-US" sz="1150" b="1" dirty="0">
                <a:solidFill>
                  <a:srgbClr val="14161A"/>
                </a:solidFill>
                <a:latin typeface="Arial" pitchFamily="34" charset="0"/>
                <a:ea typeface="Arial" pitchFamily="34" charset="-122"/>
                <a:cs typeface="Arial" pitchFamily="34" charset="-120"/>
              </a:rPr>
              <a:t>Add a content security policy</a:t>
            </a:r>
            <a:pPr indent="0" marL="0">
              <a:lnSpc>
                <a:spcPts val="1600"/>
              </a:lnSpc>
              <a:buNone/>
            </a:pPr>
            <a:r>
              <a:rPr lang="en-US" sz="1150" dirty="0">
                <a:solidFill>
                  <a:srgbClr val="3F4750"/>
                </a:solidFill>
                <a:latin typeface="Arial" pitchFamily="34" charset="0"/>
                <a:ea typeface="Arial" pitchFamily="34" charset="-122"/>
                <a:cs typeface="Arial" pitchFamily="34" charset="-120"/>
              </a:rPr>
              <a:t>  once the speech websocket origins are inventoried.</a:t>
            </a:r>
            <a:endParaRPr lang="en-US" sz="1150" dirty="0"/>
          </a:p>
          <a:p>
            <a:pPr indent="0" marL="0">
              <a:lnSpc>
                <a:spcPts val="1600"/>
              </a:lnSpc>
              <a:buNone/>
            </a:pPr>
            <a:endParaRPr lang="en-US" sz="1150" dirty="0"/>
          </a:p>
          <a:p>
            <a:pPr indent="0" marL="0">
              <a:lnSpc>
                <a:spcPts val="1600"/>
              </a:lnSpc>
              <a:buNone/>
            </a:pPr>
            <a:r>
              <a:rPr lang="en-US" sz="1150" b="1" dirty="0">
                <a:solidFill>
                  <a:srgbClr val="14161A"/>
                </a:solidFill>
                <a:latin typeface="Arial" pitchFamily="34" charset="0"/>
                <a:ea typeface="Arial" pitchFamily="34" charset="-122"/>
                <a:cs typeface="Arial" pitchFamily="34" charset="-120"/>
              </a:rPr>
              <a:t>Write usage rows with a service-role path</a:t>
            </a:r>
            <a:pPr indent="0" marL="0">
              <a:lnSpc>
                <a:spcPts val="1600"/>
              </a:lnSpc>
              <a:buNone/>
            </a:pPr>
            <a:r>
              <a:rPr lang="en-US" sz="1150" dirty="0">
                <a:solidFill>
                  <a:srgbClr val="3F4750"/>
                </a:solidFill>
                <a:latin typeface="Arial" pitchFamily="34" charset="0"/>
                <a:ea typeface="Arial" pitchFamily="34" charset="-122"/>
                <a:cs typeface="Arial" pitchFamily="34" charset="-120"/>
              </a:rPr>
              <a:t>  so the grant to authenticated users can be revoked.</a:t>
            </a:r>
            <a:endParaRPr lang="en-US" sz="1150" dirty="0"/>
          </a:p>
          <a:p>
            <a:pPr indent="0" marL="0">
              <a:lnSpc>
                <a:spcPts val="1600"/>
              </a:lnSpc>
              <a:buNone/>
            </a:pPr>
            <a:endParaRPr lang="en-US" sz="1150" dirty="0"/>
          </a:p>
          <a:p>
            <a:pPr indent="0" marL="0">
              <a:lnSpc>
                <a:spcPts val="1600"/>
              </a:lnSpc>
              <a:buNone/>
            </a:pPr>
            <a:r>
              <a:rPr lang="en-US" sz="1150" b="1" dirty="0">
                <a:solidFill>
                  <a:srgbClr val="14161A"/>
                </a:solidFill>
                <a:latin typeface="Arial" pitchFamily="34" charset="0"/>
                <a:ea typeface="Arial" pitchFamily="34" charset="-122"/>
                <a:cs typeface="Arial" pitchFamily="34" charset="-120"/>
              </a:rPr>
              <a:t>Interview conventions by market</a:t>
            </a:r>
            <a:pPr indent="0" marL="0">
              <a:lnSpc>
                <a:spcPts val="1600"/>
              </a:lnSpc>
              <a:buNone/>
            </a:pPr>
            <a:r>
              <a:rPr lang="en-US" sz="1150" dirty="0">
                <a:solidFill>
                  <a:srgbClr val="3F4750"/>
                </a:solidFill>
                <a:latin typeface="Arial" pitchFamily="34" charset="0"/>
                <a:ea typeface="Arial" pitchFamily="34" charset="-122"/>
                <a:cs typeface="Arial" pitchFamily="34" charset="-120"/>
              </a:rPr>
              <a:t>  — process, not people — as the defensible version of the cultural-context idea.</a:t>
            </a:r>
            <a:endParaRPr lang="en-US" sz="1150" dirty="0"/>
          </a:p>
          <a:p>
            <a:pPr indent="0" marL="0">
              <a:lnSpc>
                <a:spcPts val="1600"/>
              </a:lnSpc>
              <a:buNone/>
            </a:pPr>
            <a:endParaRPr lang="en-US" sz="1150" dirty="0"/>
          </a:p>
          <a:p>
            <a:pPr indent="0" marL="0">
              <a:lnSpc>
                <a:spcPts val="1600"/>
              </a:lnSpc>
              <a:buNone/>
            </a:pPr>
            <a:r>
              <a:rPr lang="en-US" sz="1150" b="1" dirty="0">
                <a:solidFill>
                  <a:srgbClr val="14161A"/>
                </a:solidFill>
                <a:latin typeface="Arial" pitchFamily="34" charset="0"/>
                <a:ea typeface="Arial" pitchFamily="34" charset="-122"/>
                <a:cs typeface="Arial" pitchFamily="34" charset="-120"/>
              </a:rPr>
              <a:t>Persist the delivery metrics</a:t>
            </a:r>
            <a:pPr indent="0" marL="0">
              <a:lnSpc>
                <a:spcPts val="1600"/>
              </a:lnSpc>
              <a:buNone/>
            </a:pPr>
            <a:r>
              <a:rPr lang="en-US" sz="1150" dirty="0">
                <a:solidFill>
                  <a:srgbClr val="3F4750"/>
                </a:solidFill>
                <a:latin typeface="Arial" pitchFamily="34" charset="0"/>
                <a:ea typeface="Arial" pitchFamily="34" charset="-122"/>
                <a:cs typeface="Arial" pitchFamily="34" charset="-120"/>
              </a:rPr>
              <a:t>  already computed during voice rounds into the report.</a:t>
            </a:r>
            <a:endParaRPr lang="en-US" sz="1150" dirty="0"/>
          </a:p>
        </p:txBody>
      </p:sp>
      <p:sp>
        <p:nvSpPr>
          <p:cNvPr id="14" name="Text 11"/>
          <p:cNvSpPr/>
          <p:nvPr/>
        </p:nvSpPr>
        <p:spPr>
          <a:xfrm>
            <a:off x="566928" y="6382512"/>
            <a:ext cx="5486400" cy="274320"/>
          </a:xfrm>
          <a:prstGeom prst="rect">
            <a:avLst/>
          </a:prstGeom>
          <a:noFill/>
          <a:ln/>
        </p:spPr>
        <p:txBody>
          <a:bodyPr wrap="square" rtlCol="0" anchor="ctr"/>
          <a:lstStyle/>
          <a:p>
            <a:pPr indent="0" marL="0">
              <a:buNone/>
            </a:pPr>
            <a:r>
              <a:rPr lang="en-US" sz="1000" dirty="0">
                <a:solidFill>
                  <a:srgbClr val="7A8593"/>
                </a:solidFill>
                <a:latin typeface="Arial" pitchFamily="34" charset="0"/>
                <a:ea typeface="Arial" pitchFamily="34" charset="-122"/>
                <a:cs typeface="Arial" pitchFamily="34" charset="-120"/>
              </a:rPr>
              <a:t>ConvoTrainer  ·  Final Year Project</a:t>
            </a:r>
            <a:endParaRPr lang="en-US" sz="1000" dirty="0"/>
          </a:p>
        </p:txBody>
      </p:sp>
      <p:sp>
        <p:nvSpPr>
          <p:cNvPr id="15" name="Text 12"/>
          <p:cNvSpPr/>
          <p:nvPr/>
        </p:nvSpPr>
        <p:spPr>
          <a:xfrm>
            <a:off x="10710367" y="6382512"/>
            <a:ext cx="914400" cy="274320"/>
          </a:xfrm>
          <a:prstGeom prst="rect">
            <a:avLst/>
          </a:prstGeom>
          <a:noFill/>
          <a:ln/>
        </p:spPr>
        <p:txBody>
          <a:bodyPr wrap="square" rtlCol="0" anchor="ctr"/>
          <a:lstStyle/>
          <a:p>
            <a:pPr algn="r" indent="0" marL="0">
              <a:buNone/>
            </a:pPr>
            <a:r>
              <a:rPr lang="en-US" sz="1000" dirty="0">
                <a:solidFill>
                  <a:srgbClr val="7A8593"/>
                </a:solidFill>
                <a:latin typeface="Arial" pitchFamily="34" charset="0"/>
                <a:ea typeface="Arial" pitchFamily="34" charset="-122"/>
                <a:cs typeface="Arial" pitchFamily="34" charset="-120"/>
              </a:rPr>
              <a:t>12</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ConvoTrainer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ConvoTrainer — FYP Demo</dc:title>
  <dc:subject>PptxGenJS Presentation</dc:subject>
  <dc:creator>Dylan Tan</dc:creator>
  <cp:lastModifiedBy>Dylan Tan</cp:lastModifiedBy>
  <cp:revision>1</cp:revision>
  <dcterms:created xsi:type="dcterms:W3CDTF">2026-08-10T14:38:53Z</dcterms:created>
  <dcterms:modified xsi:type="dcterms:W3CDTF">2026-08-10T14:38:53Z</dcterms:modified>
</cp:coreProperties>
</file>