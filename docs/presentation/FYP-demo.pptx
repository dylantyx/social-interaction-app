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~72 words
Good morning. My final year project is ConvoTrainer, an interview practice
application. The important word on this slide is "steer". Most tools score you
at the end of a mock interview. This one scores every answer before it asks
the next question, and uses that score to decide what to ask.
Five minutes on the problem, the architecture, the part I can prove, and what
isn't finished — then I'll demo it.
FILL IN before presenting: your supervisor's name and the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[0:29]  ~68 words
There are three ways to practise today. A question bank never notices that you
dodged the question. A human adapts perfectly, but isn't available at eleven
at night. A general chatbot will role-play, but won't grade you against a
rubric or push back when you're weak.
All three have the same hole: nothing connects how you answered to what you
get asked next. That loop is the project.
SHORT VERSION: "Question banks don't adapt, humans don't scale, chatbots don't score. Nothing closes the loop between your answer and the next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[0:56]  ~68 words
The product is four setup steps, a round, and a report. You describe the role,
optionally attaching the real job description and your CV — both are used to
ground the questions.
Six round types, each with its own rubric: a system design answer isn't judged
the way a behavioural one is. Text or voice, with a code editor on technical
rounds. You'll see it in the demo.
SHORT VERSION: "Four setup steps, six round types each with its own rubric, text or voice, and a scored report. You'll see it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  ~109 words  ★
This is the centre of the project — one turn, left to right.
Your answer arrives at the chat endpoint. Before anything is generated, a
second model call scores it against that round's rubric.
That verdict goes into a decision engine — ordinary deterministic code. It
picks one of seven questioning strategies and computes a difficulty target.
That becomes a private steering block inside the interviewer's prompt, which
the candidate never sees. Then the next question streams back.
Scoring is bounded at four seconds, so a slow analyzer can't hold the reply
hostage. And both messages and the analysis commit in one Postgres
transaction, so a turn can't half-exist.
KEY SLIDE — do not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[2:07]  ~124 words  ★
If you take one thing from this talk, take this slide.
The persona reaches the model two ways. Textually, each dial becomes a
sentence in the prompt — and prompt text has no effect you can compute, so you
have to measure what comes back.
The numeric path is arithmetic: strictness minus warmth, over four, clamped
one to ten. That number is injected as an explicit instruction — aim for
difficulty seven out of ten.
So: identical question, identical answer, identical round type. The only
variable is who's asking. The strict persona targets seven; the warm one
targets five. That isn't a sample from a stochastic model, it's a computation
— you can do the arithmetic by hand and get the same two numbers.
One limit, before you ask: scoring deliberately ignores persona. Grading
shouldn't depend on who asked.  [cut if behind]
KEY SLIDE — your strongest evidence. Slow down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[2:56]  ~141 words  ★
Second — I don't estimate what this costs. I measure it.
Every OpenAI call records its token usage into a Postgres table as it happens.
A command-line tool reads that table and prices it, so any cost claim I make
is a query you can re-run.
The most useful result was a negative one. OpenAI only caches a prompt prefix
once it reaches 1,024 tokens. I'd structured the prompt in two layers — stable
first, volatile last — specifically so caching could engage. Then I measured
it: on a bare session the stable part is about 590 tokens. Under the floor. It
never fires.
I kept the structure; it costs nothing, and it's what makes caching possible
once a job description is attached.  [cut if behind] The tool reports that in
words, rather than printing a zero I could quietly reinterpret. The claim
isn't that this is cheap — it's that every call is instrumented and checkable,
including the optimisation that doesn't work.
KEY SLIDE. The negative result is the point — don't rush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  ~100 words
Where it honestly stands, in three columns.
Built and verified: 299 unit tests across 31 files, all passing in CI
alongside typecheck and lint. Ten migrations with row-level security on every
table. Six round types in text and voice, and grounding through pgvector
inside Postgres, so retrieval inherits the same access rules as everything
else.  [cut if behind]
Built but not yet measured — and I'll be direct. I wrote an evaluation harness
for scoring accuracy, with eighteen hand-authored fixtures and defined
metrics. The results aren't collected yet. Same for user acceptance testing:
the plan is written, no participants yet.
The rule throughout has been: never claim a number I haven't run. That's why
the middle column is on the slide rather than left off it.
SHORT VERSION: "299 tests passing in CI, RLS everywhere, voice and text working. The eval harness and the UAT plan are written but not yet run — I'm not going to show you results I don't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[4:33]  ~56 words
Three things, ordered by how much can go wrong. First the deterministic
persona proof, which can't fail — it makes no network calls. Then the cost
report, which reads the database. Then a live interview.
If a live part fails, I'll switch to the committed output and say so, rather
than watching a spinner with you.
Stop talking. Start demoing.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if asked to expand on slide 4. The point to land: domain logic is pure and therefore testable, and retrieval was kept in Postgres so it inherits 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questions about the database, security, or RAG. Strongest line: retrieval is filtered by auth.uid() inside Postgres, so it is covered by the same rule as every other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this question. It is a design decision, not an omission.
If asked what you would do instead: interview CONVENTIONS by market — competency frameworks, self-introduction openers, whether case rounds are used — keyed off the job description and cited to hiring guides. About process, not people. Defensible and sourceable. Scoped out deliberately, not overlooked.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back after slide 5 and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answer to 'how do you know it works?' and to any question about developer tooling being reachable by end users.
The honest exception: a logged-in user can read their OWN token-usage rows over the API, because usage is written using their own session. They cannot read anyone else's, cannot modify any, and cannot derive cost — the price table is not in the browser. Documented as a trade-off, with the proper fix being a service-role write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ready for 'what's left?' — answering with a prioritised list, where the top item is 'run the measurement I already built', is much stronger than a feature wishlist.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1D4ED8"/>
          </a:solidFill>
          <a:ln/>
        </p:spPr>
      </p:sp>
      <p:sp>
        <p:nvSpPr>
          <p:cNvPr id="3" name="Text 1"/>
          <p:cNvSpPr/>
          <p:nvPr/>
        </p:nvSpPr>
        <p:spPr>
          <a:xfrm>
            <a:off x="960120" y="1481328"/>
            <a:ext cx="9144000" cy="274320"/>
          </a:xfrm>
          <a:prstGeom prst="rect">
            <a:avLst/>
          </a:prstGeom>
          <a:noFill/>
          <a:ln/>
        </p:spPr>
        <p:txBody>
          <a:bodyPr wrap="square" rtlCol="0" anchor="ctr"/>
          <a:lstStyle/>
          <a:p>
            <a:pPr indent="0" marL="0">
              <a:buNone/>
            </a:pPr>
            <a:r>
              <a:rPr lang="en-US" sz="1200" b="1" spc="220" kern="0" dirty="0">
                <a:solidFill>
                  <a:srgbClr val="1D4ED8"/>
                </a:solidFill>
                <a:latin typeface="Arial" pitchFamily="34" charset="0"/>
                <a:ea typeface="Arial" pitchFamily="34" charset="-122"/>
                <a:cs typeface="Arial" pitchFamily="34" charset="-120"/>
              </a:rPr>
              <a:t>FINAL YEAR PROJECT  ·  DEMONSTRATION</a:t>
            </a:r>
            <a:endParaRPr lang="en-US" sz="1200" dirty="0"/>
          </a:p>
        </p:txBody>
      </p:sp>
      <p:sp>
        <p:nvSpPr>
          <p:cNvPr id="4" name="Text 2"/>
          <p:cNvSpPr/>
          <p:nvPr/>
        </p:nvSpPr>
        <p:spPr>
          <a:xfrm>
            <a:off x="914400" y="1847088"/>
            <a:ext cx="10058400" cy="914400"/>
          </a:xfrm>
          <a:prstGeom prst="rect">
            <a:avLst/>
          </a:prstGeom>
          <a:noFill/>
          <a:ln/>
        </p:spPr>
        <p:txBody>
          <a:bodyPr wrap="square" rtlCol="0" anchor="ctr"/>
          <a:lstStyle/>
          <a:p>
            <a:pPr indent="0" marL="0">
              <a:buNone/>
            </a:pPr>
            <a:r>
              <a:rPr lang="en-US" sz="5600" b="1" dirty="0">
                <a:solidFill>
                  <a:srgbClr val="14161A"/>
                </a:solidFill>
                <a:latin typeface="Arial" pitchFamily="34" charset="0"/>
                <a:ea typeface="Arial" pitchFamily="34" charset="-122"/>
                <a:cs typeface="Arial" pitchFamily="34" charset="-120"/>
              </a:rPr>
              <a:t>ConvoTrainer</a:t>
            </a:r>
            <a:endParaRPr lang="en-US" sz="5600" dirty="0"/>
          </a:p>
        </p:txBody>
      </p:sp>
      <p:sp>
        <p:nvSpPr>
          <p:cNvPr id="5" name="Text 3"/>
          <p:cNvSpPr/>
          <p:nvPr/>
        </p:nvSpPr>
        <p:spPr>
          <a:xfrm>
            <a:off x="960120" y="2816352"/>
            <a:ext cx="9326880" cy="658368"/>
          </a:xfrm>
          <a:prstGeom prst="rect">
            <a:avLst/>
          </a:prstGeom>
          <a:noFill/>
          <a:ln/>
        </p:spPr>
        <p:txBody>
          <a:bodyPr wrap="square" rtlCol="0" anchor="t"/>
          <a:lstStyle/>
          <a:p>
            <a:pPr indent="0" marL="0">
              <a:lnSpc>
                <a:spcPts val="2700"/>
              </a:lnSpc>
              <a:buNone/>
            </a:pPr>
            <a:r>
              <a:rPr lang="en-US" sz="1900" dirty="0">
                <a:solidFill>
                  <a:srgbClr val="3F4750"/>
                </a:solidFill>
                <a:latin typeface="Arial" pitchFamily="34" charset="0"/>
                <a:ea typeface="Arial" pitchFamily="34" charset="-122"/>
                <a:cs typeface="Arial" pitchFamily="34" charset="-120"/>
              </a:rPr>
              <a:t>An AI interview partner that scores every answer — and lets that score steer the next question.</a:t>
            </a:r>
            <a:endParaRPr lang="en-US" sz="1900" dirty="0"/>
          </a:p>
        </p:txBody>
      </p:sp>
      <p:sp>
        <p:nvSpPr>
          <p:cNvPr id="6" name="Shape 4"/>
          <p:cNvSpPr/>
          <p:nvPr/>
        </p:nvSpPr>
        <p:spPr>
          <a:xfrm>
            <a:off x="960120" y="3712464"/>
            <a:ext cx="1371600" cy="32004"/>
          </a:xfrm>
          <a:prstGeom prst="rect">
            <a:avLst/>
          </a:prstGeom>
          <a:solidFill>
            <a:srgbClr val="1D4ED8"/>
          </a:solidFill>
          <a:ln/>
        </p:spPr>
      </p:sp>
      <p:sp>
        <p:nvSpPr>
          <p:cNvPr id="7" name="Text 5"/>
          <p:cNvSpPr/>
          <p:nvPr/>
        </p:nvSpPr>
        <p:spPr>
          <a:xfrm>
            <a:off x="960120" y="3950208"/>
            <a:ext cx="9144000" cy="274320"/>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Dylan Tan</a:t>
            </a:r>
            <a:pPr indent="0" marL="0">
              <a:buNone/>
            </a:pPr>
            <a:r>
              <a:rPr lang="en-US" sz="1300" dirty="0">
                <a:solidFill>
                  <a:srgbClr val="7A8593"/>
                </a:solidFill>
                <a:latin typeface="Arial" pitchFamily="34" charset="0"/>
                <a:ea typeface="Arial" pitchFamily="34" charset="-122"/>
                <a:cs typeface="Arial" pitchFamily="34" charset="-120"/>
              </a:rPr>
              <a:t> | Supervisor: «name» | «date»</a:t>
            </a:r>
            <a:endParaRPr lang="en-US" sz="1300" dirty="0"/>
          </a:p>
        </p:txBody>
      </p:sp>
      <p:sp>
        <p:nvSpPr>
          <p:cNvPr id="8" name="Shape 6"/>
          <p:cNvSpPr/>
          <p:nvPr/>
        </p:nvSpPr>
        <p:spPr>
          <a:xfrm>
            <a:off x="960120" y="4709160"/>
            <a:ext cx="9692640" cy="603504"/>
          </a:xfrm>
          <a:prstGeom prst="rect">
            <a:avLst/>
          </a:prstGeom>
          <a:solidFill>
            <a:srgbClr val="F5F7FA"/>
          </a:solidFill>
          <a:ln w="12700">
            <a:solidFill>
              <a:srgbClr val="F5F7FA"/>
            </a:solidFill>
            <a:prstDash val="solid"/>
          </a:ln>
        </p:spPr>
      </p:sp>
      <p:sp>
        <p:nvSpPr>
          <p:cNvPr id="9" name="Text 7"/>
          <p:cNvSpPr/>
          <p:nvPr/>
        </p:nvSpPr>
        <p:spPr>
          <a:xfrm>
            <a:off x="1143000" y="4709160"/>
            <a:ext cx="9326880" cy="603504"/>
          </a:xfrm>
          <a:prstGeom prst="rect">
            <a:avLst/>
          </a:prstGeom>
          <a:noFill/>
          <a:ln/>
        </p:spPr>
        <p:txBody>
          <a:bodyPr wrap="square" rtlCol="0" anchor="ctr"/>
          <a:lstStyle/>
          <a:p>
            <a:pPr indent="0" marL="0">
              <a:buNone/>
            </a:pPr>
            <a:r>
              <a:rPr lang="en-US" sz="1200" dirty="0">
                <a:solidFill>
                  <a:srgbClr val="3F4750"/>
                </a:solidFill>
                <a:latin typeface="Arial" pitchFamily="34" charset="0"/>
                <a:ea typeface="Arial" pitchFamily="34" charset="-122"/>
                <a:cs typeface="Arial" pitchFamily="34" charset="-120"/>
              </a:rPr>
              <a:t>Next.js 16 · React 19 · TypeScript · Supabase (Postgres + pgvector + RLS) · OpenAI · Azure Speech</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THE PROBLEM</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Interview practice has three options. All three have the same hole.</a:t>
            </a:r>
            <a:endParaRPr lang="en-US" sz="3000" dirty="0"/>
          </a:p>
        </p:txBody>
      </p:sp>
      <p:sp>
        <p:nvSpPr>
          <p:cNvPr id="5" name="Shape 3"/>
          <p:cNvSpPr/>
          <p:nvPr/>
        </p:nvSpPr>
        <p:spPr>
          <a:xfrm>
            <a:off x="566928" y="1700784"/>
            <a:ext cx="3503066" cy="1874520"/>
          </a:xfrm>
          <a:prstGeom prst="rect">
            <a:avLst/>
          </a:prstGeom>
          <a:solidFill>
            <a:srgbClr val="FFFFFF"/>
          </a:solidFill>
          <a:ln w="12700">
            <a:solidFill>
              <a:srgbClr val="DFE4EA"/>
            </a:solidFill>
            <a:prstDash val="solid"/>
          </a:ln>
        </p:spPr>
      </p:sp>
      <p:sp>
        <p:nvSpPr>
          <p:cNvPr id="6" name="Text 4"/>
          <p:cNvSpPr/>
          <p:nvPr/>
        </p:nvSpPr>
        <p:spPr>
          <a:xfrm>
            <a:off x="713232" y="1819656"/>
            <a:ext cx="3210458"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OPTION 1</a:t>
            </a:r>
            <a:endParaRPr lang="en-US" sz="950" dirty="0"/>
          </a:p>
        </p:txBody>
      </p:sp>
      <p:sp>
        <p:nvSpPr>
          <p:cNvPr id="7" name="Text 5"/>
          <p:cNvSpPr/>
          <p:nvPr/>
        </p:nvSpPr>
        <p:spPr>
          <a:xfrm>
            <a:off x="713232" y="2048256"/>
            <a:ext cx="3210458"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A static question bank</a:t>
            </a:r>
            <a:endParaRPr lang="en-US" sz="1400" dirty="0"/>
          </a:p>
        </p:txBody>
      </p:sp>
      <p:sp>
        <p:nvSpPr>
          <p:cNvPr id="8" name="Text 6"/>
          <p:cNvSpPr/>
          <p:nvPr/>
        </p:nvSpPr>
        <p:spPr>
          <a:xfrm>
            <a:off x="713232" y="2377440"/>
            <a:ext cx="3210458" cy="1051560"/>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Asks the same question in the same order no matter what you said. Never notices that you dodged the question.</a:t>
            </a:r>
            <a:endParaRPr lang="en-US" sz="1100" dirty="0"/>
          </a:p>
        </p:txBody>
      </p:sp>
      <p:sp>
        <p:nvSpPr>
          <p:cNvPr id="9" name="Text 7"/>
          <p:cNvSpPr/>
          <p:nvPr/>
        </p:nvSpPr>
        <p:spPr>
          <a:xfrm>
            <a:off x="4069994" y="249174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44314" y="1700784"/>
            <a:ext cx="3503066" cy="1874520"/>
          </a:xfrm>
          <a:prstGeom prst="rect">
            <a:avLst/>
          </a:prstGeom>
          <a:solidFill>
            <a:srgbClr val="FFFFFF"/>
          </a:solidFill>
          <a:ln w="12700">
            <a:solidFill>
              <a:srgbClr val="DFE4EA"/>
            </a:solidFill>
            <a:prstDash val="solid"/>
          </a:ln>
        </p:spPr>
      </p:sp>
      <p:sp>
        <p:nvSpPr>
          <p:cNvPr id="11" name="Text 9"/>
          <p:cNvSpPr/>
          <p:nvPr/>
        </p:nvSpPr>
        <p:spPr>
          <a:xfrm>
            <a:off x="4490618" y="1819656"/>
            <a:ext cx="3210458"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OPTION 2</a:t>
            </a:r>
            <a:endParaRPr lang="en-US" sz="950" dirty="0"/>
          </a:p>
        </p:txBody>
      </p:sp>
      <p:sp>
        <p:nvSpPr>
          <p:cNvPr id="12" name="Text 10"/>
          <p:cNvSpPr/>
          <p:nvPr/>
        </p:nvSpPr>
        <p:spPr>
          <a:xfrm>
            <a:off x="4490618" y="2048256"/>
            <a:ext cx="3210458"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A human mock interviewer</a:t>
            </a:r>
            <a:endParaRPr lang="en-US" sz="1400" dirty="0"/>
          </a:p>
        </p:txBody>
      </p:sp>
      <p:sp>
        <p:nvSpPr>
          <p:cNvPr id="13" name="Text 11"/>
          <p:cNvSpPr/>
          <p:nvPr/>
        </p:nvSpPr>
        <p:spPr>
          <a:xfrm>
            <a:off x="4490618" y="2377440"/>
            <a:ext cx="3210458" cy="1051560"/>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Adapts perfectly. Is not available at 11pm the night before, and cannot be repeated ten times.</a:t>
            </a:r>
            <a:endParaRPr lang="en-US" sz="1100" dirty="0"/>
          </a:p>
        </p:txBody>
      </p:sp>
      <p:sp>
        <p:nvSpPr>
          <p:cNvPr id="14" name="Text 12"/>
          <p:cNvSpPr/>
          <p:nvPr/>
        </p:nvSpPr>
        <p:spPr>
          <a:xfrm>
            <a:off x="7847381" y="2491740"/>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15" name="Shape 13"/>
          <p:cNvSpPr/>
          <p:nvPr/>
        </p:nvSpPr>
        <p:spPr>
          <a:xfrm>
            <a:off x="8121701" y="1700784"/>
            <a:ext cx="3503066" cy="1874520"/>
          </a:xfrm>
          <a:prstGeom prst="rect">
            <a:avLst/>
          </a:prstGeom>
          <a:solidFill>
            <a:srgbClr val="FFFFFF"/>
          </a:solidFill>
          <a:ln w="12700">
            <a:solidFill>
              <a:srgbClr val="DFE4EA"/>
            </a:solidFill>
            <a:prstDash val="solid"/>
          </a:ln>
        </p:spPr>
      </p:sp>
      <p:sp>
        <p:nvSpPr>
          <p:cNvPr id="16" name="Text 14"/>
          <p:cNvSpPr/>
          <p:nvPr/>
        </p:nvSpPr>
        <p:spPr>
          <a:xfrm>
            <a:off x="8268005" y="1819656"/>
            <a:ext cx="3210458"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OPTION 3</a:t>
            </a:r>
            <a:endParaRPr lang="en-US" sz="950" dirty="0"/>
          </a:p>
        </p:txBody>
      </p:sp>
      <p:sp>
        <p:nvSpPr>
          <p:cNvPr id="17" name="Text 15"/>
          <p:cNvSpPr/>
          <p:nvPr/>
        </p:nvSpPr>
        <p:spPr>
          <a:xfrm>
            <a:off x="8268005" y="2048256"/>
            <a:ext cx="3210458"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A general-purpose chatbot</a:t>
            </a:r>
            <a:endParaRPr lang="en-US" sz="1400" dirty="0"/>
          </a:p>
        </p:txBody>
      </p:sp>
      <p:sp>
        <p:nvSpPr>
          <p:cNvPr id="18" name="Text 16"/>
          <p:cNvSpPr/>
          <p:nvPr/>
        </p:nvSpPr>
        <p:spPr>
          <a:xfrm>
            <a:off x="8268005" y="2377440"/>
            <a:ext cx="3210458" cy="1051560"/>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Will happily role-play. Does not grade you against a rubric, and does not change tack when an answer is weak.</a:t>
            </a:r>
            <a:endParaRPr lang="en-US" sz="1100" dirty="0"/>
          </a:p>
        </p:txBody>
      </p:sp>
      <p:sp>
        <p:nvSpPr>
          <p:cNvPr id="19" name="Shape 17"/>
          <p:cNvSpPr/>
          <p:nvPr/>
        </p:nvSpPr>
        <p:spPr>
          <a:xfrm>
            <a:off x="566928" y="3913632"/>
            <a:ext cx="11057839" cy="1225296"/>
          </a:xfrm>
          <a:prstGeom prst="rect">
            <a:avLst/>
          </a:prstGeom>
          <a:solidFill>
            <a:srgbClr val="EAF0FE"/>
          </a:solidFill>
          <a:ln w="12700">
            <a:solidFill>
              <a:srgbClr val="EAF0FE"/>
            </a:solidFill>
            <a:prstDash val="solid"/>
          </a:ln>
        </p:spPr>
      </p:sp>
      <p:sp>
        <p:nvSpPr>
          <p:cNvPr id="20" name="Shape 18"/>
          <p:cNvSpPr/>
          <p:nvPr/>
        </p:nvSpPr>
        <p:spPr>
          <a:xfrm>
            <a:off x="566928" y="3913632"/>
            <a:ext cx="50292" cy="1225296"/>
          </a:xfrm>
          <a:prstGeom prst="rect">
            <a:avLst/>
          </a:prstGeom>
          <a:solidFill>
            <a:srgbClr val="1D4ED8"/>
          </a:solidFill>
          <a:ln w="12700">
            <a:solidFill>
              <a:srgbClr val="333333"/>
            </a:solidFill>
            <a:prstDash val="solid"/>
          </a:ln>
        </p:spPr>
      </p:sp>
      <p:sp>
        <p:nvSpPr>
          <p:cNvPr id="21" name="Text 19"/>
          <p:cNvSpPr/>
          <p:nvPr/>
        </p:nvSpPr>
        <p:spPr>
          <a:xfrm>
            <a:off x="877824" y="4078224"/>
            <a:ext cx="10509199" cy="274320"/>
          </a:xfrm>
          <a:prstGeom prst="rect">
            <a:avLst/>
          </a:prstGeom>
          <a:noFill/>
          <a:ln/>
        </p:spPr>
        <p:txBody>
          <a:bodyPr wrap="square" rtlCol="0" anchor="ctr"/>
          <a:lstStyle/>
          <a:p>
            <a:pPr indent="0" marL="0">
              <a:buNone/>
            </a:pPr>
            <a:r>
              <a:rPr lang="en-US" sz="1200" b="1" spc="140" kern="0" dirty="0">
                <a:solidFill>
                  <a:srgbClr val="1D4ED8"/>
                </a:solidFill>
                <a:latin typeface="Arial" pitchFamily="34" charset="0"/>
                <a:ea typeface="Arial" pitchFamily="34" charset="-122"/>
                <a:cs typeface="Arial" pitchFamily="34" charset="-120"/>
              </a:rPr>
              <a:t>The gap</a:t>
            </a:r>
            <a:endParaRPr lang="en-US" sz="1200" dirty="0"/>
          </a:p>
        </p:txBody>
      </p:sp>
      <p:sp>
        <p:nvSpPr>
          <p:cNvPr id="22" name="Text 20"/>
          <p:cNvSpPr/>
          <p:nvPr/>
        </p:nvSpPr>
        <p:spPr>
          <a:xfrm>
            <a:off x="877824" y="4352544"/>
            <a:ext cx="10417759" cy="621792"/>
          </a:xfrm>
          <a:prstGeom prst="rect">
            <a:avLst/>
          </a:prstGeom>
          <a:noFill/>
          <a:ln/>
        </p:spPr>
        <p:txBody>
          <a:bodyPr wrap="square" rtlCol="0" anchor="t"/>
          <a:lstStyle/>
          <a:p>
            <a:pPr indent="0" marL="0">
              <a:lnSpc>
                <a:spcPts val="2400"/>
              </a:lnSpc>
              <a:buNone/>
            </a:pPr>
            <a:r>
              <a:rPr lang="en-US" sz="1700" b="1" dirty="0">
                <a:solidFill>
                  <a:srgbClr val="14161A"/>
                </a:solidFill>
                <a:latin typeface="Arial" pitchFamily="34" charset="0"/>
                <a:ea typeface="Arial" pitchFamily="34" charset="-122"/>
                <a:cs typeface="Arial" pitchFamily="34" charset="-120"/>
              </a:rPr>
              <a:t>Nothing closes the loop between how you answered and what you get asked next. That loop is the project.</a:t>
            </a:r>
            <a:endParaRPr lang="en-US" sz="1700" dirty="0"/>
          </a:p>
        </p:txBody>
      </p:sp>
      <p:sp>
        <p:nvSpPr>
          <p:cNvPr id="24" name="Text 2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25" name="Text 2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WHAT IT IS</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Configure an interviewer, run a round, get scored.</a:t>
            </a:r>
            <a:endParaRPr lang="en-US" sz="3000" dirty="0"/>
          </a:p>
        </p:txBody>
      </p:sp>
      <p:sp>
        <p:nvSpPr>
          <p:cNvPr id="5" name="Shape 3"/>
          <p:cNvSpPr/>
          <p:nvPr/>
        </p:nvSpPr>
        <p:spPr>
          <a:xfrm>
            <a:off x="566928" y="1645920"/>
            <a:ext cx="2558720" cy="1170432"/>
          </a:xfrm>
          <a:prstGeom prst="rect">
            <a:avLst/>
          </a:prstGeom>
          <a:solidFill>
            <a:srgbClr val="FFFFFF"/>
          </a:solidFill>
          <a:ln w="12700">
            <a:solidFill>
              <a:srgbClr val="DFE4EA"/>
            </a:solidFill>
            <a:prstDash val="solid"/>
          </a:ln>
        </p:spPr>
      </p:sp>
      <p:sp>
        <p:nvSpPr>
          <p:cNvPr id="6" name="Text 4"/>
          <p:cNvSpPr/>
          <p:nvPr/>
        </p:nvSpPr>
        <p:spPr>
          <a:xfrm>
            <a:off x="713232" y="176479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1</a:t>
            </a:r>
            <a:endParaRPr lang="en-US" sz="950" dirty="0"/>
          </a:p>
        </p:txBody>
      </p:sp>
      <p:sp>
        <p:nvSpPr>
          <p:cNvPr id="7" name="Text 5"/>
          <p:cNvSpPr/>
          <p:nvPr/>
        </p:nvSpPr>
        <p:spPr>
          <a:xfrm>
            <a:off x="713232" y="199339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Context</a:t>
            </a:r>
            <a:endParaRPr lang="en-US" sz="1400" dirty="0"/>
          </a:p>
        </p:txBody>
      </p:sp>
      <p:sp>
        <p:nvSpPr>
          <p:cNvPr id="8" name="Text 6"/>
          <p:cNvSpPr/>
          <p:nvPr/>
        </p:nvSpPr>
        <p:spPr>
          <a:xfrm>
            <a:off x="713232" y="2322576"/>
            <a:ext cx="2266112" cy="347472"/>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Role, seniority, job description, CV</a:t>
            </a:r>
            <a:endParaRPr lang="en-US" sz="1100" dirty="0"/>
          </a:p>
        </p:txBody>
      </p:sp>
      <p:sp>
        <p:nvSpPr>
          <p:cNvPr id="9" name="Text 7"/>
          <p:cNvSpPr/>
          <p:nvPr/>
        </p:nvSpPr>
        <p:spPr>
          <a:xfrm>
            <a:off x="3125648" y="2084832"/>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3399968" y="1645920"/>
            <a:ext cx="2558720" cy="1170432"/>
          </a:xfrm>
          <a:prstGeom prst="rect">
            <a:avLst/>
          </a:prstGeom>
          <a:solidFill>
            <a:srgbClr val="FFFFFF"/>
          </a:solidFill>
          <a:ln w="12700">
            <a:solidFill>
              <a:srgbClr val="DFE4EA"/>
            </a:solidFill>
            <a:prstDash val="solid"/>
          </a:ln>
        </p:spPr>
      </p:sp>
      <p:sp>
        <p:nvSpPr>
          <p:cNvPr id="11" name="Text 9"/>
          <p:cNvSpPr/>
          <p:nvPr/>
        </p:nvSpPr>
        <p:spPr>
          <a:xfrm>
            <a:off x="3546272" y="176479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2</a:t>
            </a:r>
            <a:endParaRPr lang="en-US" sz="950" dirty="0"/>
          </a:p>
        </p:txBody>
      </p:sp>
      <p:sp>
        <p:nvSpPr>
          <p:cNvPr id="12" name="Text 10"/>
          <p:cNvSpPr/>
          <p:nvPr/>
        </p:nvSpPr>
        <p:spPr>
          <a:xfrm>
            <a:off x="3546272" y="199339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Rounds</a:t>
            </a:r>
            <a:endParaRPr lang="en-US" sz="1400" dirty="0"/>
          </a:p>
        </p:txBody>
      </p:sp>
      <p:sp>
        <p:nvSpPr>
          <p:cNvPr id="13" name="Text 11"/>
          <p:cNvSpPr/>
          <p:nvPr/>
        </p:nvSpPr>
        <p:spPr>
          <a:xfrm>
            <a:off x="3546272" y="2322576"/>
            <a:ext cx="2266112" cy="347472"/>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One round, or a full multi-round loop</a:t>
            </a:r>
            <a:endParaRPr lang="en-US" sz="1100" dirty="0"/>
          </a:p>
        </p:txBody>
      </p:sp>
      <p:sp>
        <p:nvSpPr>
          <p:cNvPr id="14" name="Text 12"/>
          <p:cNvSpPr/>
          <p:nvPr/>
        </p:nvSpPr>
        <p:spPr>
          <a:xfrm>
            <a:off x="5958688" y="2084832"/>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15" name="Shape 13"/>
          <p:cNvSpPr/>
          <p:nvPr/>
        </p:nvSpPr>
        <p:spPr>
          <a:xfrm>
            <a:off x="6233008" y="1645920"/>
            <a:ext cx="2558720" cy="1170432"/>
          </a:xfrm>
          <a:prstGeom prst="rect">
            <a:avLst/>
          </a:prstGeom>
          <a:solidFill>
            <a:srgbClr val="FFFFFF"/>
          </a:solidFill>
          <a:ln w="12700">
            <a:solidFill>
              <a:srgbClr val="DFE4EA"/>
            </a:solidFill>
            <a:prstDash val="solid"/>
          </a:ln>
        </p:spPr>
      </p:sp>
      <p:sp>
        <p:nvSpPr>
          <p:cNvPr id="16" name="Text 14"/>
          <p:cNvSpPr/>
          <p:nvPr/>
        </p:nvSpPr>
        <p:spPr>
          <a:xfrm>
            <a:off x="6379312" y="176479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3</a:t>
            </a:r>
            <a:endParaRPr lang="en-US" sz="950" dirty="0"/>
          </a:p>
        </p:txBody>
      </p:sp>
      <p:sp>
        <p:nvSpPr>
          <p:cNvPr id="17" name="Text 15"/>
          <p:cNvSpPr/>
          <p:nvPr/>
        </p:nvSpPr>
        <p:spPr>
          <a:xfrm>
            <a:off x="6379312" y="199339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Interviewer</a:t>
            </a:r>
            <a:endParaRPr lang="en-US" sz="1400" dirty="0"/>
          </a:p>
        </p:txBody>
      </p:sp>
      <p:sp>
        <p:nvSpPr>
          <p:cNvPr id="18" name="Text 16"/>
          <p:cNvSpPr/>
          <p:nvPr/>
        </p:nvSpPr>
        <p:spPr>
          <a:xfrm>
            <a:off x="6379312" y="2322576"/>
            <a:ext cx="2266112" cy="347472"/>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Persona + four behavioural dials</a:t>
            </a:r>
            <a:endParaRPr lang="en-US" sz="1100" dirty="0"/>
          </a:p>
        </p:txBody>
      </p:sp>
      <p:sp>
        <p:nvSpPr>
          <p:cNvPr id="19" name="Text 17"/>
          <p:cNvSpPr/>
          <p:nvPr/>
        </p:nvSpPr>
        <p:spPr>
          <a:xfrm>
            <a:off x="8791727" y="2084832"/>
            <a:ext cx="274320" cy="292608"/>
          </a:xfrm>
          <a:prstGeom prst="rect">
            <a:avLst/>
          </a:prstGeom>
          <a:noFill/>
          <a:ln/>
        </p:spPr>
        <p:txBody>
          <a:bodyPr wrap="square" rtlCol="0" anchor="ctr"/>
          <a:lstStyle/>
          <a:p>
            <a:pPr algn="ctr" indent="0" marL="0">
              <a:buNone/>
            </a:pPr>
            <a:r>
              <a:rPr lang="en-US" sz="1500" dirty="0">
                <a:solidFill>
                  <a:srgbClr val="7A8593"/>
                </a:solidFill>
                <a:latin typeface="Arial" pitchFamily="34" charset="0"/>
                <a:ea typeface="Arial" pitchFamily="34" charset="-122"/>
                <a:cs typeface="Arial" pitchFamily="34" charset="-120"/>
              </a:rPr>
              <a:t>▸</a:t>
            </a:r>
            <a:endParaRPr lang="en-US" sz="1500" dirty="0"/>
          </a:p>
        </p:txBody>
      </p:sp>
      <p:sp>
        <p:nvSpPr>
          <p:cNvPr id="20" name="Shape 18"/>
          <p:cNvSpPr/>
          <p:nvPr/>
        </p:nvSpPr>
        <p:spPr>
          <a:xfrm>
            <a:off x="9066047" y="1645920"/>
            <a:ext cx="2558720" cy="1170432"/>
          </a:xfrm>
          <a:prstGeom prst="rect">
            <a:avLst/>
          </a:prstGeom>
          <a:solidFill>
            <a:srgbClr val="FFFFFF"/>
          </a:solidFill>
          <a:ln w="12700">
            <a:solidFill>
              <a:srgbClr val="DFE4EA"/>
            </a:solidFill>
            <a:prstDash val="solid"/>
          </a:ln>
        </p:spPr>
      </p:sp>
      <p:sp>
        <p:nvSpPr>
          <p:cNvPr id="21" name="Text 19"/>
          <p:cNvSpPr/>
          <p:nvPr/>
        </p:nvSpPr>
        <p:spPr>
          <a:xfrm>
            <a:off x="9212351" y="1764792"/>
            <a:ext cx="2266112" cy="219456"/>
          </a:xfrm>
          <a:prstGeom prst="rect">
            <a:avLst/>
          </a:prstGeom>
          <a:noFill/>
          <a:ln/>
        </p:spPr>
        <p:txBody>
          <a:bodyPr wrap="square" rtlCol="0" anchor="ctr"/>
          <a:lstStyle/>
          <a:p>
            <a:pPr indent="0" marL="0">
              <a:buNone/>
            </a:pPr>
            <a:r>
              <a:rPr lang="en-US" sz="950" b="1" spc="120" kern="0" dirty="0">
                <a:solidFill>
                  <a:srgbClr val="1D4ED8"/>
                </a:solidFill>
                <a:latin typeface="Arial" pitchFamily="34" charset="0"/>
                <a:ea typeface="Arial" pitchFamily="34" charset="-122"/>
                <a:cs typeface="Arial" pitchFamily="34" charset="-120"/>
              </a:rPr>
              <a:t>STEP 4</a:t>
            </a:r>
            <a:endParaRPr lang="en-US" sz="950" dirty="0"/>
          </a:p>
        </p:txBody>
      </p:sp>
      <p:sp>
        <p:nvSpPr>
          <p:cNvPr id="22" name="Text 20"/>
          <p:cNvSpPr/>
          <p:nvPr/>
        </p:nvSpPr>
        <p:spPr>
          <a:xfrm>
            <a:off x="9212351" y="1993392"/>
            <a:ext cx="226611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Review</a:t>
            </a:r>
            <a:endParaRPr lang="en-US" sz="1400" dirty="0"/>
          </a:p>
        </p:txBody>
      </p:sp>
      <p:sp>
        <p:nvSpPr>
          <p:cNvPr id="23" name="Text 21"/>
          <p:cNvSpPr/>
          <p:nvPr/>
        </p:nvSpPr>
        <p:spPr>
          <a:xfrm>
            <a:off x="9212351" y="2322576"/>
            <a:ext cx="2266112" cy="347472"/>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Confirm and launch</a:t>
            </a:r>
            <a:endParaRPr lang="en-US" sz="1100" dirty="0"/>
          </a:p>
        </p:txBody>
      </p:sp>
      <p:sp>
        <p:nvSpPr>
          <p:cNvPr id="24" name="Shape 22"/>
          <p:cNvSpPr/>
          <p:nvPr/>
        </p:nvSpPr>
        <p:spPr>
          <a:xfrm>
            <a:off x="566928" y="3035808"/>
            <a:ext cx="3478682" cy="2212848"/>
          </a:xfrm>
          <a:prstGeom prst="rect">
            <a:avLst/>
          </a:prstGeom>
          <a:solidFill>
            <a:srgbClr val="F5F7FA"/>
          </a:solidFill>
          <a:ln w="12700">
            <a:solidFill>
              <a:srgbClr val="F5F7FA"/>
            </a:solidFill>
            <a:prstDash val="solid"/>
          </a:ln>
        </p:spPr>
      </p:sp>
      <p:sp>
        <p:nvSpPr>
          <p:cNvPr id="25" name="Shape 23"/>
          <p:cNvSpPr/>
          <p:nvPr/>
        </p:nvSpPr>
        <p:spPr>
          <a:xfrm>
            <a:off x="566928" y="3035808"/>
            <a:ext cx="50292" cy="2212848"/>
          </a:xfrm>
          <a:prstGeom prst="rect">
            <a:avLst/>
          </a:prstGeom>
          <a:solidFill>
            <a:srgbClr val="1D4ED8"/>
          </a:solidFill>
          <a:ln w="12700">
            <a:solidFill>
              <a:srgbClr val="333333"/>
            </a:solidFill>
            <a:prstDash val="solid"/>
          </a:ln>
        </p:spPr>
      </p:sp>
      <p:sp>
        <p:nvSpPr>
          <p:cNvPr id="26" name="Text 24"/>
          <p:cNvSpPr/>
          <p:nvPr/>
        </p:nvSpPr>
        <p:spPr>
          <a:xfrm>
            <a:off x="822960" y="3145536"/>
            <a:ext cx="3076346" cy="274320"/>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Six round types</a:t>
            </a:r>
            <a:endParaRPr lang="en-US" sz="1400" dirty="0"/>
          </a:p>
        </p:txBody>
      </p:sp>
      <p:sp>
        <p:nvSpPr>
          <p:cNvPr id="27" name="Text 25"/>
          <p:cNvSpPr/>
          <p:nvPr/>
        </p:nvSpPr>
        <p:spPr>
          <a:xfrm>
            <a:off x="822960" y="3456432"/>
            <a:ext cx="3076346" cy="1371600"/>
          </a:xfrm>
          <a:prstGeom prst="rect">
            <a:avLst/>
          </a:prstGeom>
          <a:noFill/>
          <a:ln/>
        </p:spPr>
        <p:txBody>
          <a:bodyPr wrap="square" rtlCol="0" anchor="t"/>
          <a:lstStyle/>
          <a:p>
            <a:pPr indent="0" marL="0">
              <a:lnSpc>
                <a:spcPts val="1700"/>
              </a:lnSpc>
              <a:buNone/>
            </a:pPr>
            <a:r>
              <a:rPr lang="en-US" sz="1150" dirty="0">
                <a:solidFill>
                  <a:srgbClr val="3F4750"/>
                </a:solidFill>
                <a:latin typeface="Arial" pitchFamily="34" charset="0"/>
                <a:ea typeface="Arial" pitchFamily="34" charset="-122"/>
                <a:cs typeface="Arial" pitchFamily="34" charset="-120"/>
              </a:rPr>
              <a:t>Intro screening · 15 min</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Behavioural · 20 min</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HR / people · 20 min</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Technical SWE · 25 min</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Case · 25 min</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System design · 30 min</a:t>
            </a:r>
            <a:endParaRPr lang="en-US" sz="1150" dirty="0"/>
          </a:p>
        </p:txBody>
      </p:sp>
      <p:sp>
        <p:nvSpPr>
          <p:cNvPr id="28" name="Text 26"/>
          <p:cNvSpPr/>
          <p:nvPr/>
        </p:nvSpPr>
        <p:spPr>
          <a:xfrm>
            <a:off x="822960" y="4846320"/>
            <a:ext cx="3076346" cy="310896"/>
          </a:xfrm>
          <a:prstGeom prst="rect">
            <a:avLst/>
          </a:prstGeom>
          <a:noFill/>
          <a:ln/>
        </p:spPr>
        <p:txBody>
          <a:bodyPr wrap="square" rtlCol="0" anchor="t"/>
          <a:lstStyle/>
          <a:p>
            <a:pPr indent="0" marL="0">
              <a:lnSpc>
                <a:spcPts val="1400"/>
              </a:lnSpc>
              <a:buNone/>
            </a:pPr>
            <a:r>
              <a:rPr lang="en-US" sz="1050" i="1" dirty="0">
                <a:solidFill>
                  <a:srgbClr val="7A8593"/>
                </a:solidFill>
                <a:latin typeface="Arial" pitchFamily="34" charset="0"/>
                <a:ea typeface="Arial" pitchFamily="34" charset="-122"/>
                <a:cs typeface="Arial" pitchFamily="34" charset="-120"/>
              </a:rPr>
              <a:t>Each has its own rubric and its own scoring path.</a:t>
            </a:r>
            <a:endParaRPr lang="en-US" sz="1050" dirty="0"/>
          </a:p>
        </p:txBody>
      </p:sp>
      <p:sp>
        <p:nvSpPr>
          <p:cNvPr id="29" name="Shape 27"/>
          <p:cNvSpPr/>
          <p:nvPr/>
        </p:nvSpPr>
        <p:spPr>
          <a:xfrm>
            <a:off x="4356506" y="3035808"/>
            <a:ext cx="3478682" cy="2212848"/>
          </a:xfrm>
          <a:prstGeom prst="rect">
            <a:avLst/>
          </a:prstGeom>
          <a:solidFill>
            <a:srgbClr val="F5F7FA"/>
          </a:solidFill>
          <a:ln w="12700">
            <a:solidFill>
              <a:srgbClr val="F5F7FA"/>
            </a:solidFill>
            <a:prstDash val="solid"/>
          </a:ln>
        </p:spPr>
      </p:sp>
      <p:sp>
        <p:nvSpPr>
          <p:cNvPr id="30" name="Shape 28"/>
          <p:cNvSpPr/>
          <p:nvPr/>
        </p:nvSpPr>
        <p:spPr>
          <a:xfrm>
            <a:off x="4356506" y="3035808"/>
            <a:ext cx="50292" cy="2212848"/>
          </a:xfrm>
          <a:prstGeom prst="rect">
            <a:avLst/>
          </a:prstGeom>
          <a:solidFill>
            <a:srgbClr val="1D4ED8"/>
          </a:solidFill>
          <a:ln w="12700">
            <a:solidFill>
              <a:srgbClr val="333333"/>
            </a:solidFill>
            <a:prstDash val="solid"/>
          </a:ln>
        </p:spPr>
      </p:sp>
      <p:sp>
        <p:nvSpPr>
          <p:cNvPr id="31" name="Text 29"/>
          <p:cNvSpPr/>
          <p:nvPr/>
        </p:nvSpPr>
        <p:spPr>
          <a:xfrm>
            <a:off x="4612538" y="3145536"/>
            <a:ext cx="3076346" cy="274320"/>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During the round</a:t>
            </a:r>
            <a:endParaRPr lang="en-US" sz="1400" dirty="0"/>
          </a:p>
        </p:txBody>
      </p:sp>
      <p:sp>
        <p:nvSpPr>
          <p:cNvPr id="32" name="Text 30"/>
          <p:cNvSpPr/>
          <p:nvPr/>
        </p:nvSpPr>
        <p:spPr>
          <a:xfrm>
            <a:off x="4612538" y="3456432"/>
            <a:ext cx="3076346" cy="1371600"/>
          </a:xfrm>
          <a:prstGeom prst="rect">
            <a:avLst/>
          </a:prstGeom>
          <a:noFill/>
          <a:ln/>
        </p:spPr>
        <p:txBody>
          <a:bodyPr wrap="square" rtlCol="0" anchor="t"/>
          <a:lstStyle/>
          <a:p>
            <a:pPr indent="0" marL="0">
              <a:lnSpc>
                <a:spcPts val="1700"/>
              </a:lnSpc>
              <a:buNone/>
            </a:pPr>
            <a:r>
              <a:rPr lang="en-US" sz="1150" dirty="0">
                <a:solidFill>
                  <a:srgbClr val="3F4750"/>
                </a:solidFill>
                <a:latin typeface="Arial" pitchFamily="34" charset="0"/>
                <a:ea typeface="Arial" pitchFamily="34" charset="-122"/>
                <a:cs typeface="Arial" pitchFamily="34" charset="-120"/>
              </a:rPr>
              <a:t>Streamed replies, text or voice</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Code editor on technical rounds</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Per-answer countdown timer</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Live coaching rail</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Resume after a disconnect</a:t>
            </a:r>
            <a:endParaRPr lang="en-US" sz="1150" dirty="0"/>
          </a:p>
        </p:txBody>
      </p:sp>
      <p:sp>
        <p:nvSpPr>
          <p:cNvPr id="33" name="Text 31"/>
          <p:cNvSpPr/>
          <p:nvPr/>
        </p:nvSpPr>
        <p:spPr>
          <a:xfrm>
            <a:off x="4612538" y="4846320"/>
            <a:ext cx="3076346" cy="310896"/>
          </a:xfrm>
          <a:prstGeom prst="rect">
            <a:avLst/>
          </a:prstGeom>
          <a:noFill/>
          <a:ln/>
        </p:spPr>
        <p:txBody>
          <a:bodyPr wrap="square" rtlCol="0" anchor="t"/>
          <a:lstStyle/>
          <a:p>
            <a:pPr indent="0" marL="0">
              <a:lnSpc>
                <a:spcPts val="1400"/>
              </a:lnSpc>
              <a:buNone/>
            </a:pPr>
            <a:r>
              <a:rPr lang="en-US" sz="1050" i="1" dirty="0">
                <a:solidFill>
                  <a:srgbClr val="7A8593"/>
                </a:solidFill>
                <a:latin typeface="Arial" pitchFamily="34" charset="0"/>
                <a:ea typeface="Arial" pitchFamily="34" charset="-122"/>
                <a:cs typeface="Arial" pitchFamily="34" charset="-120"/>
              </a:rPr>
              <a:t>Voice is Azure STT + streaming TTS.</a:t>
            </a:r>
            <a:endParaRPr lang="en-US" sz="1050" dirty="0"/>
          </a:p>
        </p:txBody>
      </p:sp>
      <p:sp>
        <p:nvSpPr>
          <p:cNvPr id="34" name="Shape 32"/>
          <p:cNvSpPr/>
          <p:nvPr/>
        </p:nvSpPr>
        <p:spPr>
          <a:xfrm>
            <a:off x="8146085" y="3035808"/>
            <a:ext cx="3478682" cy="2212848"/>
          </a:xfrm>
          <a:prstGeom prst="rect">
            <a:avLst/>
          </a:prstGeom>
          <a:solidFill>
            <a:srgbClr val="F5F7FA"/>
          </a:solidFill>
          <a:ln w="12700">
            <a:solidFill>
              <a:srgbClr val="F5F7FA"/>
            </a:solidFill>
            <a:prstDash val="solid"/>
          </a:ln>
        </p:spPr>
      </p:sp>
      <p:sp>
        <p:nvSpPr>
          <p:cNvPr id="35" name="Shape 33"/>
          <p:cNvSpPr/>
          <p:nvPr/>
        </p:nvSpPr>
        <p:spPr>
          <a:xfrm>
            <a:off x="8146085" y="3035808"/>
            <a:ext cx="50292" cy="2212848"/>
          </a:xfrm>
          <a:prstGeom prst="rect">
            <a:avLst/>
          </a:prstGeom>
          <a:solidFill>
            <a:srgbClr val="1D4ED8"/>
          </a:solidFill>
          <a:ln w="12700">
            <a:solidFill>
              <a:srgbClr val="333333"/>
            </a:solidFill>
            <a:prstDash val="solid"/>
          </a:ln>
        </p:spPr>
      </p:sp>
      <p:sp>
        <p:nvSpPr>
          <p:cNvPr id="36" name="Text 34"/>
          <p:cNvSpPr/>
          <p:nvPr/>
        </p:nvSpPr>
        <p:spPr>
          <a:xfrm>
            <a:off x="8402117" y="3145536"/>
            <a:ext cx="3076346" cy="274320"/>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After the round</a:t>
            </a:r>
            <a:endParaRPr lang="en-US" sz="1400" dirty="0"/>
          </a:p>
        </p:txBody>
      </p:sp>
      <p:sp>
        <p:nvSpPr>
          <p:cNvPr id="37" name="Text 35"/>
          <p:cNvSpPr/>
          <p:nvPr/>
        </p:nvSpPr>
        <p:spPr>
          <a:xfrm>
            <a:off x="8402117" y="3456432"/>
            <a:ext cx="3076346" cy="1371600"/>
          </a:xfrm>
          <a:prstGeom prst="rect">
            <a:avLst/>
          </a:prstGeom>
          <a:noFill/>
          <a:ln/>
        </p:spPr>
        <p:txBody>
          <a:bodyPr wrap="square" rtlCol="0" anchor="t"/>
          <a:lstStyle/>
          <a:p>
            <a:pPr indent="0" marL="0">
              <a:lnSpc>
                <a:spcPts val="1700"/>
              </a:lnSpc>
              <a:buNone/>
            </a:pPr>
            <a:r>
              <a:rPr lang="en-US" sz="1150" dirty="0">
                <a:solidFill>
                  <a:srgbClr val="3F4750"/>
                </a:solidFill>
                <a:latin typeface="Arial" pitchFamily="34" charset="0"/>
                <a:ea typeface="Arial" pitchFamily="34" charset="-122"/>
                <a:cs typeface="Arial" pitchFamily="34" charset="-120"/>
              </a:rPr>
              <a:t>Score breakdown per dimension</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Per-answer coaching + model answers</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Competency coverage (12)</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Calibration: guess before reveal</a:t>
            </a:r>
            <a:endParaRPr lang="en-US" sz="1150" dirty="0"/>
          </a:p>
          <a:p>
            <a:pPr indent="0" marL="0">
              <a:lnSpc>
                <a:spcPts val="1700"/>
              </a:lnSpc>
              <a:buNone/>
            </a:pPr>
            <a:r>
              <a:rPr lang="en-US" sz="1150" dirty="0">
                <a:solidFill>
                  <a:srgbClr val="3F4750"/>
                </a:solidFill>
                <a:latin typeface="Arial" pitchFamily="34" charset="0"/>
                <a:ea typeface="Arial" pitchFamily="34" charset="-122"/>
                <a:cs typeface="Arial" pitchFamily="34" charset="-120"/>
              </a:rPr>
              <a:t>Comparison against past sessions</a:t>
            </a:r>
            <a:endParaRPr lang="en-US" sz="1150" dirty="0"/>
          </a:p>
        </p:txBody>
      </p:sp>
      <p:sp>
        <p:nvSpPr>
          <p:cNvPr id="38" name="Text 36"/>
          <p:cNvSpPr/>
          <p:nvPr/>
        </p:nvSpPr>
        <p:spPr>
          <a:xfrm>
            <a:off x="8402117" y="4846320"/>
            <a:ext cx="3076346" cy="310896"/>
          </a:xfrm>
          <a:prstGeom prst="rect">
            <a:avLst/>
          </a:prstGeom>
          <a:noFill/>
          <a:ln/>
        </p:spPr>
        <p:txBody>
          <a:bodyPr wrap="square" rtlCol="0" anchor="t"/>
          <a:lstStyle/>
          <a:p>
            <a:pPr indent="0" marL="0">
              <a:lnSpc>
                <a:spcPts val="1400"/>
              </a:lnSpc>
              <a:buNone/>
            </a:pPr>
            <a:r>
              <a:rPr lang="en-US" sz="1050" i="1" dirty="0">
                <a:solidFill>
                  <a:srgbClr val="7A8593"/>
                </a:solidFill>
                <a:latin typeface="Arial" pitchFamily="34" charset="0"/>
                <a:ea typeface="Arial" pitchFamily="34" charset="-122"/>
                <a:cs typeface="Arial" pitchFamily="34" charset="-120"/>
              </a:rPr>
              <a:t>Printable as a PDF.</a:t>
            </a:r>
            <a:endParaRPr lang="en-US" sz="1050" dirty="0"/>
          </a:p>
        </p:txBody>
      </p:sp>
      <p:sp>
        <p:nvSpPr>
          <p:cNvPr id="40" name="Text 37"/>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41" name="Text 38"/>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ARCHITECTURE · THE CORE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One turn: score first, then decide what to ask.</a:t>
            </a:r>
            <a:endParaRPr lang="en-US" sz="3000" dirty="0"/>
          </a:p>
        </p:txBody>
      </p:sp>
      <p:sp>
        <p:nvSpPr>
          <p:cNvPr id="5" name="Shape 3"/>
          <p:cNvSpPr/>
          <p:nvPr/>
        </p:nvSpPr>
        <p:spPr>
          <a:xfrm>
            <a:off x="566928" y="1682496"/>
            <a:ext cx="1992112" cy="1371600"/>
          </a:xfrm>
          <a:prstGeom prst="rect">
            <a:avLst/>
          </a:prstGeom>
          <a:solidFill>
            <a:srgbClr val="F5F7FA"/>
          </a:solidFill>
          <a:ln w="12700">
            <a:solidFill>
              <a:srgbClr val="DFE4EA"/>
            </a:solidFill>
            <a:prstDash val="solid"/>
          </a:ln>
        </p:spPr>
      </p:sp>
      <p:sp>
        <p:nvSpPr>
          <p:cNvPr id="6" name="Text 4"/>
          <p:cNvSpPr/>
          <p:nvPr/>
        </p:nvSpPr>
        <p:spPr>
          <a:xfrm>
            <a:off x="694944"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Your answer</a:t>
            </a:r>
            <a:endParaRPr lang="en-US" sz="1350" dirty="0"/>
          </a:p>
        </p:txBody>
      </p:sp>
      <p:sp>
        <p:nvSpPr>
          <p:cNvPr id="7" name="Text 5"/>
          <p:cNvSpPr/>
          <p:nvPr/>
        </p:nvSpPr>
        <p:spPr>
          <a:xfrm>
            <a:off x="658368" y="2212848"/>
            <a:ext cx="1809232" cy="713232"/>
          </a:xfrm>
          <a:prstGeom prst="rect">
            <a:avLst/>
          </a:prstGeom>
          <a:noFill/>
          <a:ln/>
        </p:spPr>
        <p:txBody>
          <a:bodyPr wrap="square" rtlCol="0" anchor="t"/>
          <a:lstStyle/>
          <a:p>
            <a:pPr algn="ctr" indent="0" marL="0">
              <a:lnSpc>
                <a:spcPts val="1300"/>
              </a:lnSpc>
              <a:buNone/>
            </a:pPr>
            <a:r>
              <a:rPr lang="en-US" sz="950" dirty="0">
                <a:solidFill>
                  <a:srgbClr val="7A8593"/>
                </a:solidFill>
                <a:latin typeface="Courier New" pitchFamily="34" charset="0"/>
                <a:ea typeface="Courier New" pitchFamily="34" charset="-122"/>
                <a:cs typeface="Courier New" pitchFamily="34" charset="-120"/>
              </a:rPr>
              <a:t>POST /api/chat</a:t>
            </a:r>
            <a:endParaRPr lang="en-US" sz="950" dirty="0"/>
          </a:p>
        </p:txBody>
      </p:sp>
      <p:sp>
        <p:nvSpPr>
          <p:cNvPr id="8" name="Text 6"/>
          <p:cNvSpPr/>
          <p:nvPr/>
        </p:nvSpPr>
        <p:spPr>
          <a:xfrm>
            <a:off x="2559040"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9" name="Shape 7"/>
          <p:cNvSpPr/>
          <p:nvPr/>
        </p:nvSpPr>
        <p:spPr>
          <a:xfrm>
            <a:off x="2833360" y="1682496"/>
            <a:ext cx="1992112" cy="1371600"/>
          </a:xfrm>
          <a:prstGeom prst="rect">
            <a:avLst/>
          </a:prstGeom>
          <a:solidFill>
            <a:srgbClr val="EAF0FE"/>
          </a:solidFill>
          <a:ln w="15875">
            <a:solidFill>
              <a:srgbClr val="1D4ED8"/>
            </a:solidFill>
            <a:prstDash val="solid"/>
          </a:ln>
        </p:spPr>
      </p:sp>
      <p:sp>
        <p:nvSpPr>
          <p:cNvPr id="10" name="Text 8"/>
          <p:cNvSpPr/>
          <p:nvPr/>
        </p:nvSpPr>
        <p:spPr>
          <a:xfrm>
            <a:off x="2961376"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Analyzer</a:t>
            </a:r>
            <a:endParaRPr lang="en-US" sz="1350" dirty="0"/>
          </a:p>
        </p:txBody>
      </p:sp>
      <p:sp>
        <p:nvSpPr>
          <p:cNvPr id="11" name="Text 9"/>
          <p:cNvSpPr/>
          <p:nvPr/>
        </p:nvSpPr>
        <p:spPr>
          <a:xfrm>
            <a:off x="2924800"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gpt-4o-mini · temp 0.1</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JSON rubric scores</a:t>
            </a:r>
            <a:endParaRPr lang="en-US" sz="950" dirty="0"/>
          </a:p>
        </p:txBody>
      </p:sp>
      <p:sp>
        <p:nvSpPr>
          <p:cNvPr id="12" name="Text 10"/>
          <p:cNvSpPr/>
          <p:nvPr/>
        </p:nvSpPr>
        <p:spPr>
          <a:xfrm>
            <a:off x="4825472"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13" name="Shape 11"/>
          <p:cNvSpPr/>
          <p:nvPr/>
        </p:nvSpPr>
        <p:spPr>
          <a:xfrm>
            <a:off x="5099792" y="1682496"/>
            <a:ext cx="1992112" cy="1371600"/>
          </a:xfrm>
          <a:prstGeom prst="rect">
            <a:avLst/>
          </a:prstGeom>
          <a:solidFill>
            <a:srgbClr val="EAF0FE"/>
          </a:solidFill>
          <a:ln w="15875">
            <a:solidFill>
              <a:srgbClr val="1D4ED8"/>
            </a:solidFill>
            <a:prstDash val="solid"/>
          </a:ln>
        </p:spPr>
      </p:sp>
      <p:sp>
        <p:nvSpPr>
          <p:cNvPr id="14" name="Text 12"/>
          <p:cNvSpPr/>
          <p:nvPr/>
        </p:nvSpPr>
        <p:spPr>
          <a:xfrm>
            <a:off x="5227808"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Decision engine</a:t>
            </a:r>
            <a:endParaRPr lang="en-US" sz="1350" dirty="0"/>
          </a:p>
        </p:txBody>
      </p:sp>
      <p:sp>
        <p:nvSpPr>
          <p:cNvPr id="15" name="Text 13"/>
          <p:cNvSpPr/>
          <p:nvPr/>
        </p:nvSpPr>
        <p:spPr>
          <a:xfrm>
            <a:off x="5191232"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1 of 7 strategies</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 difficulty N/10</a:t>
            </a:r>
            <a:endParaRPr lang="en-US" sz="950" dirty="0"/>
          </a:p>
        </p:txBody>
      </p:sp>
      <p:sp>
        <p:nvSpPr>
          <p:cNvPr id="16" name="Text 14"/>
          <p:cNvSpPr/>
          <p:nvPr/>
        </p:nvSpPr>
        <p:spPr>
          <a:xfrm>
            <a:off x="7091904"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17" name="Shape 15"/>
          <p:cNvSpPr/>
          <p:nvPr/>
        </p:nvSpPr>
        <p:spPr>
          <a:xfrm>
            <a:off x="7366224" y="1682496"/>
            <a:ext cx="1992112" cy="1371600"/>
          </a:xfrm>
          <a:prstGeom prst="rect">
            <a:avLst/>
          </a:prstGeom>
          <a:solidFill>
            <a:srgbClr val="EAF0FE"/>
          </a:solidFill>
          <a:ln w="15875">
            <a:solidFill>
              <a:srgbClr val="1D4ED8"/>
            </a:solidFill>
            <a:prstDash val="solid"/>
          </a:ln>
        </p:spPr>
      </p:sp>
      <p:sp>
        <p:nvSpPr>
          <p:cNvPr id="18" name="Text 16"/>
          <p:cNvSpPr/>
          <p:nvPr/>
        </p:nvSpPr>
        <p:spPr>
          <a:xfrm>
            <a:off x="7494240"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Steering block</a:t>
            </a:r>
            <a:endParaRPr lang="en-US" sz="1350" dirty="0"/>
          </a:p>
        </p:txBody>
      </p:sp>
      <p:sp>
        <p:nvSpPr>
          <p:cNvPr id="19" name="Text 17"/>
          <p:cNvSpPr/>
          <p:nvPr/>
        </p:nvSpPr>
        <p:spPr>
          <a:xfrm>
            <a:off x="7457664" y="2212848"/>
            <a:ext cx="1809232" cy="713232"/>
          </a:xfrm>
          <a:prstGeom prst="rect">
            <a:avLst/>
          </a:prstGeom>
          <a:noFill/>
          <a:ln/>
        </p:spPr>
        <p:txBody>
          <a:bodyPr wrap="square" rtlCol="0" anchor="t"/>
          <a:lstStyle/>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private instruction</a:t>
            </a:r>
            <a:endParaRPr lang="en-US" sz="950" dirty="0"/>
          </a:p>
          <a:p>
            <a:pPr algn="ctr" indent="0" marL="0">
              <a:lnSpc>
                <a:spcPts val="1300"/>
              </a:lnSpc>
              <a:buNone/>
            </a:pPr>
            <a:r>
              <a:rPr lang="en-US" sz="950" dirty="0">
                <a:solidFill>
                  <a:srgbClr val="1D4ED8"/>
                </a:solidFill>
                <a:latin typeface="Courier New" pitchFamily="34" charset="0"/>
                <a:ea typeface="Courier New" pitchFamily="34" charset="-122"/>
                <a:cs typeface="Courier New" pitchFamily="34" charset="-120"/>
              </a:rPr>
              <a:t>inside the prompt</a:t>
            </a:r>
            <a:endParaRPr lang="en-US" sz="950" dirty="0"/>
          </a:p>
        </p:txBody>
      </p:sp>
      <p:sp>
        <p:nvSpPr>
          <p:cNvPr id="20" name="Text 18"/>
          <p:cNvSpPr/>
          <p:nvPr/>
        </p:nvSpPr>
        <p:spPr>
          <a:xfrm>
            <a:off x="9358335" y="2221992"/>
            <a:ext cx="274320" cy="292608"/>
          </a:xfrm>
          <a:prstGeom prst="rect">
            <a:avLst/>
          </a:prstGeom>
          <a:noFill/>
          <a:ln/>
        </p:spPr>
        <p:txBody>
          <a:bodyPr wrap="square" rtlCol="0" anchor="ctr"/>
          <a:lstStyle/>
          <a:p>
            <a:pPr algn="ctr" indent="0" marL="0">
              <a:buNone/>
            </a:pPr>
            <a:r>
              <a:rPr lang="en-US" sz="1600" b="1" dirty="0">
                <a:solidFill>
                  <a:srgbClr val="1D4ED8"/>
                </a:solidFill>
                <a:latin typeface="Arial" pitchFamily="34" charset="0"/>
                <a:ea typeface="Arial" pitchFamily="34" charset="-122"/>
                <a:cs typeface="Arial" pitchFamily="34" charset="-120"/>
              </a:rPr>
              <a:t>▸</a:t>
            </a:r>
            <a:endParaRPr lang="en-US" sz="1600" dirty="0"/>
          </a:p>
        </p:txBody>
      </p:sp>
      <p:sp>
        <p:nvSpPr>
          <p:cNvPr id="21" name="Shape 19"/>
          <p:cNvSpPr/>
          <p:nvPr/>
        </p:nvSpPr>
        <p:spPr>
          <a:xfrm>
            <a:off x="9632655" y="1682496"/>
            <a:ext cx="1992112" cy="1371600"/>
          </a:xfrm>
          <a:prstGeom prst="rect">
            <a:avLst/>
          </a:prstGeom>
          <a:solidFill>
            <a:srgbClr val="F5F7FA"/>
          </a:solidFill>
          <a:ln w="12700">
            <a:solidFill>
              <a:srgbClr val="DFE4EA"/>
            </a:solidFill>
            <a:prstDash val="solid"/>
          </a:ln>
        </p:spPr>
      </p:sp>
      <p:sp>
        <p:nvSpPr>
          <p:cNvPr id="22" name="Text 20"/>
          <p:cNvSpPr/>
          <p:nvPr/>
        </p:nvSpPr>
        <p:spPr>
          <a:xfrm>
            <a:off x="9760671" y="1865376"/>
            <a:ext cx="1736080" cy="310896"/>
          </a:xfrm>
          <a:prstGeom prst="rect">
            <a:avLst/>
          </a:prstGeom>
          <a:noFill/>
          <a:ln/>
        </p:spPr>
        <p:txBody>
          <a:bodyPr wrap="square" rtlCol="0" anchor="ctr"/>
          <a:lstStyle/>
          <a:p>
            <a:pPr algn="ctr" indent="0" marL="0">
              <a:buNone/>
            </a:pPr>
            <a:r>
              <a:rPr lang="en-US" sz="1350" b="1" dirty="0">
                <a:solidFill>
                  <a:srgbClr val="14161A"/>
                </a:solidFill>
                <a:latin typeface="Arial" pitchFamily="34" charset="0"/>
                <a:ea typeface="Arial" pitchFamily="34" charset="-122"/>
                <a:cs typeface="Arial" pitchFamily="34" charset="-120"/>
              </a:rPr>
              <a:t>Next question</a:t>
            </a:r>
            <a:endParaRPr lang="en-US" sz="1350" dirty="0"/>
          </a:p>
        </p:txBody>
      </p:sp>
      <p:sp>
        <p:nvSpPr>
          <p:cNvPr id="23" name="Text 21"/>
          <p:cNvSpPr/>
          <p:nvPr/>
        </p:nvSpPr>
        <p:spPr>
          <a:xfrm>
            <a:off x="9724095" y="2212848"/>
            <a:ext cx="1809232" cy="713232"/>
          </a:xfrm>
          <a:prstGeom prst="rect">
            <a:avLst/>
          </a:prstGeom>
          <a:noFill/>
          <a:ln/>
        </p:spPr>
        <p:txBody>
          <a:bodyPr wrap="square" rtlCol="0" anchor="t"/>
          <a:lstStyle/>
          <a:p>
            <a:pPr algn="ctr" indent="0" marL="0">
              <a:lnSpc>
                <a:spcPts val="1300"/>
              </a:lnSpc>
              <a:buNone/>
            </a:pPr>
            <a:r>
              <a:rPr lang="en-US" sz="950" dirty="0">
                <a:solidFill>
                  <a:srgbClr val="7A8593"/>
                </a:solidFill>
                <a:latin typeface="Courier New" pitchFamily="34" charset="0"/>
                <a:ea typeface="Courier New" pitchFamily="34" charset="-122"/>
                <a:cs typeface="Courier New" pitchFamily="34" charset="-120"/>
              </a:rPr>
              <a:t>streamed back</a:t>
            </a:r>
            <a:endParaRPr lang="en-US" sz="950" dirty="0"/>
          </a:p>
        </p:txBody>
      </p:sp>
      <p:sp>
        <p:nvSpPr>
          <p:cNvPr id="24" name="Shape 22"/>
          <p:cNvSpPr/>
          <p:nvPr/>
        </p:nvSpPr>
        <p:spPr>
          <a:xfrm>
            <a:off x="566928" y="3273552"/>
            <a:ext cx="5373472" cy="969264"/>
          </a:xfrm>
          <a:prstGeom prst="rect">
            <a:avLst/>
          </a:prstGeom>
          <a:solidFill>
            <a:srgbClr val="FDF4E7"/>
          </a:solidFill>
          <a:ln w="12700">
            <a:solidFill>
              <a:srgbClr val="FDF4E7"/>
            </a:solidFill>
            <a:prstDash val="solid"/>
          </a:ln>
        </p:spPr>
      </p:sp>
      <p:sp>
        <p:nvSpPr>
          <p:cNvPr id="25" name="Shape 23"/>
          <p:cNvSpPr/>
          <p:nvPr/>
        </p:nvSpPr>
        <p:spPr>
          <a:xfrm>
            <a:off x="566928" y="3273552"/>
            <a:ext cx="50292" cy="969264"/>
          </a:xfrm>
          <a:prstGeom prst="rect">
            <a:avLst/>
          </a:prstGeom>
          <a:solidFill>
            <a:srgbClr val="9A5B08"/>
          </a:solidFill>
          <a:ln w="12700">
            <a:solidFill>
              <a:srgbClr val="333333"/>
            </a:solidFill>
            <a:prstDash val="solid"/>
          </a:ln>
        </p:spPr>
      </p:sp>
      <p:sp>
        <p:nvSpPr>
          <p:cNvPr id="26" name="Text 24"/>
          <p:cNvSpPr/>
          <p:nvPr/>
        </p:nvSpPr>
        <p:spPr>
          <a:xfrm>
            <a:off x="841248" y="3383280"/>
            <a:ext cx="4916272" cy="768096"/>
          </a:xfrm>
          <a:prstGeom prst="rect">
            <a:avLst/>
          </a:prstGeom>
          <a:noFill/>
          <a:ln/>
        </p:spPr>
        <p:txBody>
          <a:bodyPr wrap="square" rtlCol="0" anchor="t"/>
          <a:lstStyle/>
          <a:p>
            <a:pPr indent="0" marL="0">
              <a:lnSpc>
                <a:spcPts val="1600"/>
              </a:lnSpc>
              <a:buNone/>
            </a:pPr>
            <a:r>
              <a:rPr lang="en-US" sz="1150" b="1" dirty="0">
                <a:solidFill>
                  <a:srgbClr val="9A5B08"/>
                </a:solidFill>
                <a:latin typeface="Arial" pitchFamily="34" charset="0"/>
                <a:ea typeface="Arial" pitchFamily="34" charset="-122"/>
                <a:cs typeface="Arial" pitchFamily="34" charset="-120"/>
              </a:rPr>
              <a:t>Bounded, not blocking.  </a:t>
            </a:r>
            <a:pPr indent="0" marL="0">
              <a:lnSpc>
                <a:spcPts val="1600"/>
              </a:lnSpc>
              <a:buNone/>
            </a:pPr>
            <a:r>
              <a:rPr lang="en-US" sz="1150" dirty="0">
                <a:solidFill>
                  <a:srgbClr val="3F4750"/>
                </a:solidFill>
                <a:latin typeface="Arial" pitchFamily="34" charset="0"/>
                <a:ea typeface="Arial" pitchFamily="34" charset="-122"/>
                <a:cs typeface="Arial" pitchFamily="34" charset="-120"/>
              </a:rPr>
              <a:t>Scoring gets 4 s (STEER_DEADLINE_MS). Past it the reply starts unsteered — the verdict is still collected and stored.</a:t>
            </a:r>
            <a:endParaRPr lang="en-US" sz="1150" dirty="0"/>
          </a:p>
        </p:txBody>
      </p:sp>
      <p:sp>
        <p:nvSpPr>
          <p:cNvPr id="27" name="Shape 25"/>
          <p:cNvSpPr/>
          <p:nvPr/>
        </p:nvSpPr>
        <p:spPr>
          <a:xfrm>
            <a:off x="6251296" y="3273552"/>
            <a:ext cx="5373472" cy="969264"/>
          </a:xfrm>
          <a:prstGeom prst="rect">
            <a:avLst/>
          </a:prstGeom>
          <a:solidFill>
            <a:srgbClr val="EAF5EE"/>
          </a:solidFill>
          <a:ln w="12700">
            <a:solidFill>
              <a:srgbClr val="EAF5EE"/>
            </a:solidFill>
            <a:prstDash val="solid"/>
          </a:ln>
        </p:spPr>
      </p:sp>
      <p:sp>
        <p:nvSpPr>
          <p:cNvPr id="28" name="Shape 26"/>
          <p:cNvSpPr/>
          <p:nvPr/>
        </p:nvSpPr>
        <p:spPr>
          <a:xfrm>
            <a:off x="6251296" y="3273552"/>
            <a:ext cx="50292" cy="969264"/>
          </a:xfrm>
          <a:prstGeom prst="rect">
            <a:avLst/>
          </a:prstGeom>
          <a:solidFill>
            <a:srgbClr val="15803D"/>
          </a:solidFill>
          <a:ln w="12700">
            <a:solidFill>
              <a:srgbClr val="333333"/>
            </a:solidFill>
            <a:prstDash val="solid"/>
          </a:ln>
        </p:spPr>
      </p:sp>
      <p:sp>
        <p:nvSpPr>
          <p:cNvPr id="29" name="Text 27"/>
          <p:cNvSpPr/>
          <p:nvPr/>
        </p:nvSpPr>
        <p:spPr>
          <a:xfrm>
            <a:off x="6525616" y="3383280"/>
            <a:ext cx="4916272" cy="768096"/>
          </a:xfrm>
          <a:prstGeom prst="rect">
            <a:avLst/>
          </a:prstGeom>
          <a:noFill/>
          <a:ln/>
        </p:spPr>
        <p:txBody>
          <a:bodyPr wrap="square" rtlCol="0" anchor="t"/>
          <a:lstStyle/>
          <a:p>
            <a:pPr indent="0" marL="0">
              <a:lnSpc>
                <a:spcPts val="1600"/>
              </a:lnSpc>
              <a:buNone/>
            </a:pPr>
            <a:r>
              <a:rPr lang="en-US" sz="1150" b="1" dirty="0">
                <a:solidFill>
                  <a:srgbClr val="15803D"/>
                </a:solidFill>
                <a:latin typeface="Arial" pitchFamily="34" charset="0"/>
                <a:ea typeface="Arial" pitchFamily="34" charset="-122"/>
                <a:cs typeface="Arial" pitchFamily="34" charset="-120"/>
              </a:rPr>
              <a:t>One transaction.  </a:t>
            </a:r>
            <a:pPr indent="0" marL="0">
              <a:lnSpc>
                <a:spcPts val="1600"/>
              </a:lnSpc>
              <a:buNone/>
            </a:pPr>
            <a:r>
              <a:rPr lang="en-US" sz="1150" dirty="0">
                <a:solidFill>
                  <a:srgbClr val="3F4750"/>
                </a:solidFill>
                <a:latin typeface="Arial" pitchFamily="34" charset="0"/>
                <a:ea typeface="Arial" pitchFamily="34" charset="-122"/>
                <a:cs typeface="Arial" pitchFamily="34" charset="-120"/>
              </a:rPr>
              <a:t>append_interview_turn locks the session row and writes both messages, the analysis and the turn count atomically.</a:t>
            </a:r>
            <a:endParaRPr lang="en-US" sz="1150" dirty="0"/>
          </a:p>
        </p:txBody>
      </p:sp>
      <p:sp>
        <p:nvSpPr>
          <p:cNvPr id="30" name="Shape 28"/>
          <p:cNvSpPr/>
          <p:nvPr/>
        </p:nvSpPr>
        <p:spPr>
          <a:xfrm>
            <a:off x="566928" y="4498848"/>
            <a:ext cx="11057839" cy="786384"/>
          </a:xfrm>
          <a:prstGeom prst="rect">
            <a:avLst/>
          </a:prstGeom>
          <a:solidFill>
            <a:srgbClr val="EAF0FE"/>
          </a:solidFill>
          <a:ln w="12700">
            <a:solidFill>
              <a:srgbClr val="EAF0FE"/>
            </a:solidFill>
            <a:prstDash val="solid"/>
          </a:ln>
        </p:spPr>
      </p:sp>
      <p:sp>
        <p:nvSpPr>
          <p:cNvPr id="31" name="Shape 29"/>
          <p:cNvSpPr/>
          <p:nvPr/>
        </p:nvSpPr>
        <p:spPr>
          <a:xfrm>
            <a:off x="566928" y="4498848"/>
            <a:ext cx="50292" cy="786384"/>
          </a:xfrm>
          <a:prstGeom prst="rect">
            <a:avLst/>
          </a:prstGeom>
          <a:solidFill>
            <a:srgbClr val="1D4ED8"/>
          </a:solidFill>
          <a:ln w="12700">
            <a:solidFill>
              <a:srgbClr val="333333"/>
            </a:solidFill>
            <a:prstDash val="solid"/>
          </a:ln>
        </p:spPr>
      </p:sp>
      <p:sp>
        <p:nvSpPr>
          <p:cNvPr id="32" name="Text 30"/>
          <p:cNvSpPr/>
          <p:nvPr/>
        </p:nvSpPr>
        <p:spPr>
          <a:xfrm>
            <a:off x="877824" y="4498848"/>
            <a:ext cx="10509199" cy="786384"/>
          </a:xfrm>
          <a:prstGeom prst="rect">
            <a:avLst/>
          </a:prstGeom>
          <a:noFill/>
          <a:ln/>
        </p:spPr>
        <p:txBody>
          <a:bodyPr wrap="square" rtlCol="0" anchor="ctr"/>
          <a:lstStyle/>
          <a:p>
            <a:pPr indent="0" marL="0">
              <a:buNone/>
            </a:pPr>
            <a:r>
              <a:rPr lang="en-US" sz="1700" b="1" dirty="0">
                <a:solidFill>
                  <a:srgbClr val="14161A"/>
                </a:solidFill>
                <a:latin typeface="Arial" pitchFamily="34" charset="0"/>
                <a:ea typeface="Arial" pitchFamily="34" charset="-122"/>
                <a:cs typeface="Arial" pitchFamily="34" charset="-120"/>
              </a:rPr>
              <a:t>The score is not just reported at the end. It is an input to the next question.</a:t>
            </a:r>
            <a:endParaRPr lang="en-US" sz="1700" dirty="0"/>
          </a:p>
        </p:txBody>
      </p:sp>
      <p:sp>
        <p:nvSpPr>
          <p:cNvPr id="33" name="Text 31"/>
          <p:cNvSpPr/>
          <p:nvPr/>
        </p:nvSpPr>
        <p:spPr>
          <a:xfrm>
            <a:off x="566928" y="5394960"/>
            <a:ext cx="11057839" cy="256032"/>
          </a:xfrm>
          <a:prstGeom prst="rect">
            <a:avLst/>
          </a:prstGeom>
          <a:noFill/>
          <a:ln/>
        </p:spPr>
        <p:txBody>
          <a:bodyPr wrap="square" rtlCol="0" anchor="ctr"/>
          <a:lstStyle/>
          <a:p>
            <a:pPr indent="0" marL="0">
              <a:buNone/>
            </a:pPr>
            <a:r>
              <a:rPr lang="en-US" sz="950" dirty="0">
                <a:solidFill>
                  <a:srgbClr val="7A8593"/>
                </a:solidFill>
                <a:latin typeface="Courier New" pitchFamily="34" charset="0"/>
                <a:ea typeface="Courier New" pitchFamily="34" charset="-122"/>
                <a:cs typeface="Courier New" pitchFamily="34" charset="-120"/>
              </a:rPr>
              <a:t>src/app/api/chat/route.ts  ·  src/lib/response-analyzer.ts  ·  src/lib/decision-engine.ts  ·  migration 0005</a:t>
            </a:r>
            <a:endParaRPr lang="en-US" sz="950" dirty="0"/>
          </a:p>
        </p:txBody>
      </p:sp>
      <p:sp>
        <p:nvSpPr>
          <p:cNvPr id="35" name="Text 32"/>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6" name="Text 33"/>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THE CLAIM I CAN PROVE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The interviewer's persona changes the questioning — arithmetically.</a:t>
            </a:r>
            <a:endParaRPr lang="en-US" sz="3000" dirty="0"/>
          </a:p>
        </p:txBody>
      </p:sp>
      <p:sp>
        <p:nvSpPr>
          <p:cNvPr id="5" name="Text 3"/>
          <p:cNvSpPr/>
          <p:nvPr/>
        </p:nvSpPr>
        <p:spPr>
          <a:xfrm>
            <a:off x="566928" y="1627632"/>
            <a:ext cx="5577840" cy="274320"/>
          </a:xfrm>
          <a:prstGeom prst="rect">
            <a:avLst/>
          </a:prstGeom>
          <a:noFill/>
          <a:ln/>
        </p:spPr>
        <p:txBody>
          <a:bodyPr wrap="square" rtlCol="0" anchor="ctr"/>
          <a:lstStyle/>
          <a:p>
            <a:pPr indent="0" marL="0">
              <a:buNone/>
            </a:pPr>
            <a:r>
              <a:rPr lang="en-US" sz="1300" b="1" dirty="0">
                <a:solidFill>
                  <a:srgbClr val="14161A"/>
                </a:solidFill>
                <a:latin typeface="Arial" pitchFamily="34" charset="0"/>
                <a:ea typeface="Arial" pitchFamily="34" charset="-122"/>
                <a:cs typeface="Arial" pitchFamily="34" charset="-120"/>
              </a:rPr>
              <a:t>A persona reaches the model down two paths.</a:t>
            </a:r>
            <a:endParaRPr lang="en-US" sz="1300" dirty="0"/>
          </a:p>
        </p:txBody>
      </p:sp>
      <p:sp>
        <p:nvSpPr>
          <p:cNvPr id="6" name="Shape 4"/>
          <p:cNvSpPr/>
          <p:nvPr/>
        </p:nvSpPr>
        <p:spPr>
          <a:xfrm>
            <a:off x="566928" y="1975104"/>
            <a:ext cx="5577840" cy="841248"/>
          </a:xfrm>
          <a:prstGeom prst="rect">
            <a:avLst/>
          </a:prstGeom>
          <a:solidFill>
            <a:srgbClr val="F5F7FA"/>
          </a:solidFill>
          <a:ln w="12700">
            <a:solidFill>
              <a:srgbClr val="F5F7FA"/>
            </a:solidFill>
            <a:prstDash val="solid"/>
          </a:ln>
        </p:spPr>
      </p:sp>
      <p:sp>
        <p:nvSpPr>
          <p:cNvPr id="7" name="Shape 5"/>
          <p:cNvSpPr/>
          <p:nvPr/>
        </p:nvSpPr>
        <p:spPr>
          <a:xfrm>
            <a:off x="566928" y="1975104"/>
            <a:ext cx="50292" cy="841248"/>
          </a:xfrm>
          <a:prstGeom prst="rect">
            <a:avLst/>
          </a:prstGeom>
          <a:solidFill>
            <a:srgbClr val="7A8593"/>
          </a:solidFill>
          <a:ln w="12700">
            <a:solidFill>
              <a:srgbClr val="333333"/>
            </a:solidFill>
            <a:prstDash val="solid"/>
          </a:ln>
        </p:spPr>
      </p:sp>
      <p:sp>
        <p:nvSpPr>
          <p:cNvPr id="8" name="Text 6"/>
          <p:cNvSpPr/>
          <p:nvPr/>
        </p:nvSpPr>
        <p:spPr>
          <a:xfrm>
            <a:off x="822960" y="2066544"/>
            <a:ext cx="5157216" cy="658368"/>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Textual</a:t>
            </a:r>
            <a:pPr indent="0" marL="0">
              <a:lnSpc>
                <a:spcPts val="1600"/>
              </a:lnSpc>
              <a:buNone/>
            </a:pPr>
            <a:r>
              <a:rPr lang="en-US" sz="1150" dirty="0">
                <a:solidFill>
                  <a:srgbClr val="3F4750"/>
                </a:solidFill>
                <a:latin typeface="Arial" pitchFamily="34" charset="0"/>
                <a:ea typeface="Arial" pitchFamily="34" charset="-122"/>
                <a:cs typeface="Arial" pitchFamily="34" charset="-120"/>
              </a:rPr>
              <a:t>  — each dial becomes a sentence in the system prompt. Provable only by measuring the output.</a:t>
            </a:r>
            <a:endParaRPr lang="en-US" sz="1150" dirty="0"/>
          </a:p>
        </p:txBody>
      </p:sp>
      <p:sp>
        <p:nvSpPr>
          <p:cNvPr id="9" name="Shape 7"/>
          <p:cNvSpPr/>
          <p:nvPr/>
        </p:nvSpPr>
        <p:spPr>
          <a:xfrm>
            <a:off x="566928" y="2889504"/>
            <a:ext cx="5577840" cy="1627632"/>
          </a:xfrm>
          <a:prstGeom prst="rect">
            <a:avLst/>
          </a:prstGeom>
          <a:solidFill>
            <a:srgbClr val="EAF0FE"/>
          </a:solidFill>
          <a:ln w="12700">
            <a:solidFill>
              <a:srgbClr val="EAF0FE"/>
            </a:solidFill>
            <a:prstDash val="solid"/>
          </a:ln>
        </p:spPr>
      </p:sp>
      <p:sp>
        <p:nvSpPr>
          <p:cNvPr id="10" name="Shape 8"/>
          <p:cNvSpPr/>
          <p:nvPr/>
        </p:nvSpPr>
        <p:spPr>
          <a:xfrm>
            <a:off x="566928" y="2889504"/>
            <a:ext cx="50292" cy="1627632"/>
          </a:xfrm>
          <a:prstGeom prst="rect">
            <a:avLst/>
          </a:prstGeom>
          <a:solidFill>
            <a:srgbClr val="1D4ED8"/>
          </a:solidFill>
          <a:ln w="12700">
            <a:solidFill>
              <a:srgbClr val="333333"/>
            </a:solidFill>
            <a:prstDash val="solid"/>
          </a:ln>
        </p:spPr>
      </p:sp>
      <p:sp>
        <p:nvSpPr>
          <p:cNvPr id="11" name="Text 9"/>
          <p:cNvSpPr/>
          <p:nvPr/>
        </p:nvSpPr>
        <p:spPr>
          <a:xfrm>
            <a:off x="822960" y="2962656"/>
            <a:ext cx="5157216" cy="457200"/>
          </a:xfrm>
          <a:prstGeom prst="rect">
            <a:avLst/>
          </a:prstGeom>
          <a:noFill/>
          <a:ln/>
        </p:spPr>
        <p:txBody>
          <a:bodyPr wrap="square" rtlCol="0" anchor="t"/>
          <a:lstStyle/>
          <a:p>
            <a:pPr indent="0" marL="0">
              <a:lnSpc>
                <a:spcPts val="1600"/>
              </a:lnSpc>
              <a:buNone/>
            </a:pPr>
            <a:r>
              <a:rPr lang="en-US" sz="1150" b="1" dirty="0">
                <a:solidFill>
                  <a:srgbClr val="1D4ED8"/>
                </a:solidFill>
                <a:latin typeface="Arial" pitchFamily="34" charset="0"/>
                <a:ea typeface="Arial" pitchFamily="34" charset="-122"/>
                <a:cs typeface="Arial" pitchFamily="34" charset="-120"/>
              </a:rPr>
              <a:t>Numeric</a:t>
            </a:r>
            <a:pPr indent="0" marL="0">
              <a:lnSpc>
                <a:spcPts val="1600"/>
              </a:lnSpc>
              <a:buNone/>
            </a:pPr>
            <a:r>
              <a:rPr lang="en-US" sz="1150" dirty="0">
                <a:solidFill>
                  <a:srgbClr val="3F4750"/>
                </a:solidFill>
                <a:latin typeface="Arial" pitchFamily="34" charset="0"/>
                <a:ea typeface="Arial" pitchFamily="34" charset="-122"/>
                <a:cs typeface="Arial" pitchFamily="34" charset="-120"/>
              </a:rPr>
              <a:t>  — the dials feed a formula whose result is injected as an explicit instruction:</a:t>
            </a:r>
            <a:endParaRPr lang="en-US" sz="1150" dirty="0"/>
          </a:p>
        </p:txBody>
      </p:sp>
      <p:sp>
        <p:nvSpPr>
          <p:cNvPr id="12" name="Text 10"/>
          <p:cNvSpPr/>
          <p:nvPr/>
        </p:nvSpPr>
        <p:spPr>
          <a:xfrm>
            <a:off x="822960" y="3438144"/>
            <a:ext cx="5157216" cy="457200"/>
          </a:xfrm>
          <a:prstGeom prst="rect">
            <a:avLst/>
          </a:prstGeom>
          <a:noFill/>
          <a:ln/>
        </p:spPr>
        <p:txBody>
          <a:bodyPr wrap="square" rtlCol="0" anchor="t"/>
          <a:lstStyle/>
          <a:p>
            <a:pPr indent="0" marL="0">
              <a:lnSpc>
                <a:spcPts val="1400"/>
              </a:lnSpc>
              <a:buNone/>
            </a:pPr>
            <a:r>
              <a:rPr lang="en-US" sz="1050" b="1" dirty="0">
                <a:solidFill>
                  <a:srgbClr val="14161A"/>
                </a:solidFill>
                <a:latin typeface="Courier New" pitchFamily="34" charset="0"/>
                <a:ea typeface="Courier New" pitchFamily="34" charset="-122"/>
                <a:cs typeface="Courier New" pitchFamily="34" charset="-120"/>
              </a:rPr>
              <a:t>difficulty = clamp 1..10 of</a:t>
            </a:r>
            <a:endParaRPr lang="en-US" sz="1050" dirty="0"/>
          </a:p>
          <a:p>
            <a:pPr indent="0" marL="0">
              <a:lnSpc>
                <a:spcPts val="1400"/>
              </a:lnSpc>
              <a:buNone/>
            </a:pPr>
            <a:r>
              <a:rPr lang="en-US" sz="1050" b="1" dirty="0">
                <a:solidFill>
                  <a:srgbClr val="14161A"/>
                </a:solidFill>
                <a:latin typeface="Courier New" pitchFamily="34" charset="0"/>
                <a:ea typeface="Courier New" pitchFamily="34" charset="-122"/>
                <a:cs typeface="Courier New" pitchFamily="34" charset="-120"/>
              </a:rPr>
              <a:t>  round( base + repetitionBoost + (strictness − warmth) / 4 )</a:t>
            </a:r>
            <a:endParaRPr lang="en-US" sz="1050" dirty="0"/>
          </a:p>
        </p:txBody>
      </p:sp>
      <p:sp>
        <p:nvSpPr>
          <p:cNvPr id="13" name="Text 11"/>
          <p:cNvSpPr/>
          <p:nvPr/>
        </p:nvSpPr>
        <p:spPr>
          <a:xfrm>
            <a:off x="822960" y="3895344"/>
            <a:ext cx="5157216" cy="237744"/>
          </a:xfrm>
          <a:prstGeom prst="rect">
            <a:avLst/>
          </a:prstGeom>
          <a:noFill/>
          <a:ln/>
        </p:spPr>
        <p:txBody>
          <a:bodyPr wrap="square" rtlCol="0" anchor="ctr"/>
          <a:lstStyle/>
          <a:p>
            <a:pPr indent="0" marL="0">
              <a:buNone/>
            </a:pPr>
            <a:r>
              <a:rPr lang="en-US" sz="1100" dirty="0">
                <a:solidFill>
                  <a:srgbClr val="1D4ED8"/>
                </a:solidFill>
                <a:latin typeface="Courier New" pitchFamily="34" charset="0"/>
                <a:ea typeface="Courier New" pitchFamily="34" charset="-122"/>
                <a:cs typeface="Courier New" pitchFamily="34" charset="-120"/>
              </a:rPr>
              <a:t>→  “Aim for difficulty N/10”</a:t>
            </a:r>
            <a:endParaRPr lang="en-US" sz="1100" dirty="0"/>
          </a:p>
        </p:txBody>
      </p:sp>
      <p:sp>
        <p:nvSpPr>
          <p:cNvPr id="14" name="Text 12"/>
          <p:cNvSpPr/>
          <p:nvPr/>
        </p:nvSpPr>
        <p:spPr>
          <a:xfrm>
            <a:off x="822960" y="4114800"/>
            <a:ext cx="5157216" cy="237744"/>
          </a:xfrm>
          <a:prstGeom prst="rect">
            <a:avLst/>
          </a:prstGeom>
          <a:noFill/>
          <a:ln/>
        </p:spPr>
        <p:txBody>
          <a:bodyPr wrap="square" rtlCol="0" anchor="ctr"/>
          <a:lstStyle/>
          <a:p>
            <a:pPr indent="0" marL="0">
              <a:buNone/>
            </a:pPr>
            <a:r>
              <a:rPr lang="en-US" sz="1100" i="1" dirty="0">
                <a:solidFill>
                  <a:srgbClr val="3F4750"/>
                </a:solidFill>
                <a:latin typeface="Arial" pitchFamily="34" charset="0"/>
                <a:ea typeface="Arial" pitchFamily="34" charset="-122"/>
                <a:cs typeface="Arial" pitchFamily="34" charset="-120"/>
              </a:rPr>
              <a:t>No model call. Reproduces exactly, offline, every run.</a:t>
            </a:r>
            <a:endParaRPr lang="en-US" sz="1100" dirty="0"/>
          </a:p>
        </p:txBody>
      </p:sp>
      <p:sp>
        <p:nvSpPr>
          <p:cNvPr id="15" name="Text 13"/>
          <p:cNvSpPr/>
          <p:nvPr/>
        </p:nvSpPr>
        <p:spPr>
          <a:xfrm>
            <a:off x="6510528" y="1627632"/>
            <a:ext cx="5114239" cy="274320"/>
          </a:xfrm>
          <a:prstGeom prst="rect">
            <a:avLst/>
          </a:prstGeom>
          <a:noFill/>
          <a:ln/>
        </p:spPr>
        <p:txBody>
          <a:bodyPr wrap="square" rtlCol="0" anchor="ctr"/>
          <a:lstStyle/>
          <a:p>
            <a:pPr indent="0" marL="0">
              <a:buNone/>
            </a:pPr>
            <a:r>
              <a:rPr lang="en-US" sz="1200" b="1" dirty="0">
                <a:solidFill>
                  <a:srgbClr val="14161A"/>
                </a:solidFill>
                <a:latin typeface="Courier New" pitchFamily="34" charset="0"/>
                <a:ea typeface="Courier New" pitchFamily="34" charset="-122"/>
                <a:cs typeface="Courier New" pitchFamily="34" charset="-120"/>
              </a:rPr>
              <a:t>npm run eval:persona</a:t>
            </a:r>
            <a:endParaRPr lang="en-US" sz="1200" dirty="0"/>
          </a:p>
        </p:txBody>
      </p:sp>
      <p:sp>
        <p:nvSpPr>
          <p:cNvPr id="16" name="Shape 14"/>
          <p:cNvSpPr/>
          <p:nvPr/>
        </p:nvSpPr>
        <p:spPr>
          <a:xfrm>
            <a:off x="6510528" y="1975104"/>
            <a:ext cx="5114239" cy="2468880"/>
          </a:xfrm>
          <a:prstGeom prst="rect">
            <a:avLst/>
          </a:prstGeom>
          <a:solidFill>
            <a:srgbClr val="111418"/>
          </a:solidFill>
          <a:ln w="12700">
            <a:solidFill>
              <a:srgbClr val="333333"/>
            </a:solidFill>
            <a:prstDash val="solid"/>
          </a:ln>
        </p:spPr>
      </p:sp>
      <p:sp>
        <p:nvSpPr>
          <p:cNvPr id="17" name="Text 15"/>
          <p:cNvSpPr/>
          <p:nvPr/>
        </p:nvSpPr>
        <p:spPr>
          <a:xfrm>
            <a:off x="6675120" y="2084832"/>
            <a:ext cx="4785055" cy="2249424"/>
          </a:xfrm>
          <a:prstGeom prst="rect">
            <a:avLst/>
          </a:prstGeom>
          <a:noFill/>
          <a:ln/>
        </p:spPr>
        <p:txBody>
          <a:bodyPr wrap="square" rtlCol="0" anchor="t"/>
          <a:lstStyle/>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Held constant: same question, same answer,</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same round type. Only the persona differs.</a:t>
            </a:r>
            <a:endParaRPr lang="en-US" sz="1100" dirty="0"/>
          </a:p>
          <a:p>
            <a:pPr indent="0" marL="0">
              <a:lnSpc>
                <a:spcPts val="1474"/>
              </a:lnSpc>
              <a:buNone/>
            </a:pP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follow-up difficulty on the SAME answer ---</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Yuki Tanaka            7/10</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strictness 9 · warmth 4 · pushback 9</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Isabella Rodriguez     5/10</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strictness 6 · warmth 9 · pushback 4</a:t>
            </a:r>
            <a:endParaRPr lang="en-US" sz="1100" dirty="0"/>
          </a:p>
          <a:p>
            <a:pPr indent="0" marL="0">
              <a:lnSpc>
                <a:spcPts val="1474"/>
              </a:lnSpc>
              <a:buNone/>
            </a:pPr>
            <a:r>
              <a:rPr lang="en-US" sz="1100" dirty="0">
                <a:solidFill>
                  <a:srgbClr val="E6EAF0"/>
                </a:solidFill>
                <a:latin typeface="Courier New" pitchFamily="34" charset="0"/>
                <a:ea typeface="Courier New" pitchFamily="34" charset="-122"/>
                <a:cs typeface="Courier New" pitchFamily="34" charset="-120"/>
              </a:rPr>
              <a:t>  difference             2 points</a:t>
            </a:r>
            <a:endParaRPr lang="en-US" sz="1100" dirty="0"/>
          </a:p>
        </p:txBody>
      </p:sp>
      <p:sp>
        <p:nvSpPr>
          <p:cNvPr id="18" name="Shape 16"/>
          <p:cNvSpPr/>
          <p:nvPr/>
        </p:nvSpPr>
        <p:spPr>
          <a:xfrm>
            <a:off x="566928" y="4590288"/>
            <a:ext cx="11057839" cy="713232"/>
          </a:xfrm>
          <a:prstGeom prst="rect">
            <a:avLst/>
          </a:prstGeom>
          <a:solidFill>
            <a:srgbClr val="EAF0FE"/>
          </a:solidFill>
          <a:ln w="12700">
            <a:solidFill>
              <a:srgbClr val="EAF0FE"/>
            </a:solidFill>
            <a:prstDash val="solid"/>
          </a:ln>
        </p:spPr>
      </p:sp>
      <p:sp>
        <p:nvSpPr>
          <p:cNvPr id="19" name="Shape 17"/>
          <p:cNvSpPr/>
          <p:nvPr/>
        </p:nvSpPr>
        <p:spPr>
          <a:xfrm>
            <a:off x="566928" y="4590288"/>
            <a:ext cx="50292" cy="713232"/>
          </a:xfrm>
          <a:prstGeom prst="rect">
            <a:avLst/>
          </a:prstGeom>
          <a:solidFill>
            <a:srgbClr val="1D4ED8"/>
          </a:solidFill>
          <a:ln w="12700">
            <a:solidFill>
              <a:srgbClr val="333333"/>
            </a:solidFill>
            <a:prstDash val="solid"/>
          </a:ln>
        </p:spPr>
      </p:sp>
      <p:sp>
        <p:nvSpPr>
          <p:cNvPr id="20" name="Text 18"/>
          <p:cNvSpPr/>
          <p:nvPr/>
        </p:nvSpPr>
        <p:spPr>
          <a:xfrm>
            <a:off x="877824" y="4590288"/>
            <a:ext cx="10509199" cy="713232"/>
          </a:xfrm>
          <a:prstGeom prst="rect">
            <a:avLst/>
          </a:prstGeom>
          <a:noFill/>
          <a:ln/>
        </p:spPr>
        <p:txBody>
          <a:bodyPr wrap="square" rtlCol="0" anchor="ctr"/>
          <a:lstStyle/>
          <a:p>
            <a:pPr indent="0" marL="0">
              <a:buNone/>
            </a:pPr>
            <a:r>
              <a:rPr lang="en-US" sz="1550" b="1" dirty="0">
                <a:solidFill>
                  <a:srgbClr val="14161A"/>
                </a:solidFill>
                <a:latin typeface="Arial" pitchFamily="34" charset="0"/>
                <a:ea typeface="Arial" pitchFamily="34" charset="-122"/>
                <a:cs typeface="Arial" pitchFamily="34" charset="-120"/>
              </a:rPr>
              <a:t>Not a sample from a stochastic model — a computation. You can do the arithmetic by hand and get the same number.</a:t>
            </a:r>
            <a:endParaRPr lang="en-US" sz="1550" dirty="0"/>
          </a:p>
        </p:txBody>
      </p:sp>
      <p:sp>
        <p:nvSpPr>
          <p:cNvPr id="21" name="Text 19"/>
          <p:cNvSpPr/>
          <p:nvPr/>
        </p:nvSpPr>
        <p:spPr>
          <a:xfrm>
            <a:off x="566928" y="5431536"/>
            <a:ext cx="11057839" cy="566928"/>
          </a:xfrm>
          <a:prstGeom prst="rect">
            <a:avLst/>
          </a:prstGeom>
          <a:noFill/>
          <a:ln/>
        </p:spPr>
        <p:txBody>
          <a:bodyPr wrap="square" rtlCol="0" anchor="t"/>
          <a:lstStyle/>
          <a:p>
            <a:pPr indent="0" marL="0">
              <a:lnSpc>
                <a:spcPts val="1450"/>
              </a:lnSpc>
              <a:buNone/>
            </a:pPr>
            <a:r>
              <a:rPr lang="en-US" sz="1050" b="1" dirty="0">
                <a:solidFill>
                  <a:srgbClr val="9A5B08"/>
                </a:solidFill>
                <a:latin typeface="Arial" pitchFamily="34" charset="0"/>
                <a:ea typeface="Arial" pitchFamily="34" charset="-122"/>
                <a:cs typeface="Arial" pitchFamily="34" charset="-120"/>
              </a:rPr>
              <a:t>Stated limits:  </a:t>
            </a:r>
            <a:pPr indent="0" marL="0">
              <a:lnSpc>
                <a:spcPts val="1450"/>
              </a:lnSpc>
              <a:buNone/>
            </a:pPr>
            <a:r>
              <a:rPr lang="en-US" sz="1050" dirty="0">
                <a:solidFill>
                  <a:srgbClr val="3F4750"/>
                </a:solidFill>
                <a:latin typeface="Arial" pitchFamily="34" charset="0"/>
                <a:ea typeface="Arial" pitchFamily="34" charset="-122"/>
                <a:cs typeface="Arial" pitchFamily="34" charset="-120"/>
              </a:rPr>
              <a:t>the dials are coarse — strictness 1→10 moves difficulty only 5→7, and 5/6/7 emit byte-identical prompts. Scoring is persona-blind by design: a strict interviewer and a warm one grade the same answer identically.</a:t>
            </a:r>
            <a:endParaRPr lang="en-US" sz="1050" dirty="0"/>
          </a:p>
        </p:txBody>
      </p:sp>
      <p:sp>
        <p:nvSpPr>
          <p:cNvPr id="23" name="Text 20"/>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24" name="Text 21"/>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ENGINEERING RIGOUR</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Every model call is instrumented, so cost is a query — not a claim.</a:t>
            </a:r>
            <a:endParaRPr lang="en-US" sz="3000" dirty="0"/>
          </a:p>
        </p:txBody>
      </p:sp>
      <p:sp>
        <p:nvSpPr>
          <p:cNvPr id="5" name="Shape 3"/>
          <p:cNvSpPr/>
          <p:nvPr/>
        </p:nvSpPr>
        <p:spPr>
          <a:xfrm>
            <a:off x="566928" y="1645920"/>
            <a:ext cx="2021373" cy="603504"/>
          </a:xfrm>
          <a:prstGeom prst="rect">
            <a:avLst/>
          </a:prstGeom>
          <a:solidFill>
            <a:srgbClr val="F5F7FA"/>
          </a:solidFill>
          <a:ln w="12700">
            <a:solidFill>
              <a:srgbClr val="DFE4EA"/>
            </a:solidFill>
            <a:prstDash val="solid"/>
          </a:ln>
        </p:spPr>
      </p:sp>
      <p:sp>
        <p:nvSpPr>
          <p:cNvPr id="6" name="Text 4"/>
          <p:cNvSpPr/>
          <p:nvPr/>
        </p:nvSpPr>
        <p:spPr>
          <a:xfrm>
            <a:off x="640080"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Every OpenAI call</a:t>
            </a:r>
            <a:endParaRPr lang="en-US" sz="950" dirty="0"/>
          </a:p>
        </p:txBody>
      </p:sp>
      <p:sp>
        <p:nvSpPr>
          <p:cNvPr id="7" name="Text 5"/>
          <p:cNvSpPr/>
          <p:nvPr/>
        </p:nvSpPr>
        <p:spPr>
          <a:xfrm>
            <a:off x="2588301"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8" name="Shape 6"/>
          <p:cNvSpPr/>
          <p:nvPr/>
        </p:nvSpPr>
        <p:spPr>
          <a:xfrm>
            <a:off x="2826045" y="1645920"/>
            <a:ext cx="2021373" cy="603504"/>
          </a:xfrm>
          <a:prstGeom prst="rect">
            <a:avLst/>
          </a:prstGeom>
          <a:solidFill>
            <a:srgbClr val="F5F7FA"/>
          </a:solidFill>
          <a:ln w="12700">
            <a:solidFill>
              <a:srgbClr val="DFE4EA"/>
            </a:solidFill>
            <a:prstDash val="solid"/>
          </a:ln>
        </p:spPr>
      </p:sp>
      <p:sp>
        <p:nvSpPr>
          <p:cNvPr id="9" name="Text 7"/>
          <p:cNvSpPr/>
          <p:nvPr/>
        </p:nvSpPr>
        <p:spPr>
          <a:xfrm>
            <a:off x="2899197"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UsageCollector.record()</a:t>
            </a:r>
            <a:endParaRPr lang="en-US" sz="950" dirty="0"/>
          </a:p>
        </p:txBody>
      </p:sp>
      <p:sp>
        <p:nvSpPr>
          <p:cNvPr id="10" name="Text 8"/>
          <p:cNvSpPr/>
          <p:nvPr/>
        </p:nvSpPr>
        <p:spPr>
          <a:xfrm>
            <a:off x="4847417"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1" name="Shape 9"/>
          <p:cNvSpPr/>
          <p:nvPr/>
        </p:nvSpPr>
        <p:spPr>
          <a:xfrm>
            <a:off x="5085161" y="1645920"/>
            <a:ext cx="2021373" cy="603504"/>
          </a:xfrm>
          <a:prstGeom prst="rect">
            <a:avLst/>
          </a:prstGeom>
          <a:solidFill>
            <a:srgbClr val="F5F7FA"/>
          </a:solidFill>
          <a:ln w="12700">
            <a:solidFill>
              <a:srgbClr val="DFE4EA"/>
            </a:solidFill>
            <a:prstDash val="solid"/>
          </a:ln>
        </p:spPr>
      </p:sp>
      <p:sp>
        <p:nvSpPr>
          <p:cNvPr id="12" name="Text 10"/>
          <p:cNvSpPr/>
          <p:nvPr/>
        </p:nvSpPr>
        <p:spPr>
          <a:xfrm>
            <a:off x="5158313"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one row in llm_usage</a:t>
            </a:r>
            <a:endParaRPr lang="en-US" sz="950" dirty="0"/>
          </a:p>
        </p:txBody>
      </p:sp>
      <p:sp>
        <p:nvSpPr>
          <p:cNvPr id="13" name="Text 11"/>
          <p:cNvSpPr/>
          <p:nvPr/>
        </p:nvSpPr>
        <p:spPr>
          <a:xfrm>
            <a:off x="7106534"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4" name="Shape 12"/>
          <p:cNvSpPr/>
          <p:nvPr/>
        </p:nvSpPr>
        <p:spPr>
          <a:xfrm>
            <a:off x="7344278" y="1645920"/>
            <a:ext cx="2021373" cy="603504"/>
          </a:xfrm>
          <a:prstGeom prst="rect">
            <a:avLst/>
          </a:prstGeom>
          <a:solidFill>
            <a:srgbClr val="F5F7FA"/>
          </a:solidFill>
          <a:ln w="12700">
            <a:solidFill>
              <a:srgbClr val="DFE4EA"/>
            </a:solidFill>
            <a:prstDash val="solid"/>
          </a:ln>
        </p:spPr>
      </p:sp>
      <p:sp>
        <p:nvSpPr>
          <p:cNvPr id="15" name="Text 13"/>
          <p:cNvSpPr/>
          <p:nvPr/>
        </p:nvSpPr>
        <p:spPr>
          <a:xfrm>
            <a:off x="7417430" y="1645920"/>
            <a:ext cx="1875069" cy="603504"/>
          </a:xfrm>
          <a:prstGeom prst="rect">
            <a:avLst/>
          </a:prstGeom>
          <a:noFill/>
          <a:ln/>
        </p:spPr>
        <p:txBody>
          <a:bodyPr wrap="square" rtlCol="0" anchor="ctr"/>
          <a:lstStyle/>
          <a:p>
            <a:pPr algn="ctr" indent="0" marL="0">
              <a:lnSpc>
                <a:spcPts val="1200"/>
              </a:lnSpc>
              <a:buNone/>
            </a:pPr>
            <a:r>
              <a:rPr lang="en-US" sz="950" dirty="0">
                <a:solidFill>
                  <a:srgbClr val="3F4750"/>
                </a:solidFill>
                <a:latin typeface="Courier New" pitchFamily="34" charset="0"/>
                <a:ea typeface="Courier New" pitchFamily="34" charset="-122"/>
                <a:cs typeface="Courier New" pitchFamily="34" charset="-120"/>
              </a:rPr>
              <a:t>npm run cost-report</a:t>
            </a:r>
            <a:endParaRPr lang="en-US" sz="950" dirty="0"/>
          </a:p>
        </p:txBody>
      </p:sp>
      <p:sp>
        <p:nvSpPr>
          <p:cNvPr id="16" name="Text 14"/>
          <p:cNvSpPr/>
          <p:nvPr/>
        </p:nvSpPr>
        <p:spPr>
          <a:xfrm>
            <a:off x="9365651" y="1792224"/>
            <a:ext cx="237744" cy="310896"/>
          </a:xfrm>
          <a:prstGeom prst="rect">
            <a:avLst/>
          </a:prstGeom>
          <a:noFill/>
          <a:ln/>
        </p:spPr>
        <p:txBody>
          <a:bodyPr wrap="square" rtlCol="0" anchor="ctr"/>
          <a:lstStyle/>
          <a:p>
            <a:pPr algn="ctr" indent="0" marL="0">
              <a:buNone/>
            </a:pPr>
            <a:r>
              <a:rPr lang="en-US" sz="1400" dirty="0">
                <a:solidFill>
                  <a:srgbClr val="7A8593"/>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603395" y="1645920"/>
            <a:ext cx="2021373" cy="603504"/>
          </a:xfrm>
          <a:prstGeom prst="rect">
            <a:avLst/>
          </a:prstGeom>
          <a:solidFill>
            <a:srgbClr val="EAF0FE"/>
          </a:solidFill>
          <a:ln w="12700">
            <a:solidFill>
              <a:srgbClr val="1D4ED8"/>
            </a:solidFill>
            <a:prstDash val="solid"/>
          </a:ln>
        </p:spPr>
      </p:sp>
      <p:sp>
        <p:nvSpPr>
          <p:cNvPr id="18" name="Text 16"/>
          <p:cNvSpPr/>
          <p:nvPr/>
        </p:nvSpPr>
        <p:spPr>
          <a:xfrm>
            <a:off x="9676547" y="1645920"/>
            <a:ext cx="1875069" cy="603504"/>
          </a:xfrm>
          <a:prstGeom prst="rect">
            <a:avLst/>
          </a:prstGeom>
          <a:noFill/>
          <a:ln/>
        </p:spPr>
        <p:txBody>
          <a:bodyPr wrap="square" rtlCol="0" anchor="ctr"/>
          <a:lstStyle/>
          <a:p>
            <a:pPr algn="ctr" indent="0" marL="0">
              <a:lnSpc>
                <a:spcPts val="1200"/>
              </a:lnSpc>
              <a:buNone/>
            </a:pPr>
            <a:r>
              <a:rPr lang="en-US" sz="950" dirty="0">
                <a:solidFill>
                  <a:srgbClr val="1D4ED8"/>
                </a:solidFill>
                <a:latin typeface="Courier New" pitchFamily="34" charset="0"/>
                <a:ea typeface="Courier New" pitchFamily="34" charset="-122"/>
                <a:cs typeface="Courier New" pitchFamily="34" charset="-120"/>
              </a:rPr>
              <a:t>tokens · cache hits · $</a:t>
            </a:r>
            <a:endParaRPr lang="en-US" sz="950" dirty="0"/>
          </a:p>
        </p:txBody>
      </p:sp>
      <p:sp>
        <p:nvSpPr>
          <p:cNvPr id="19" name="Shape 17"/>
          <p:cNvSpPr/>
          <p:nvPr/>
        </p:nvSpPr>
        <p:spPr>
          <a:xfrm>
            <a:off x="566928" y="2487168"/>
            <a:ext cx="11057839" cy="1755648"/>
          </a:xfrm>
          <a:prstGeom prst="rect">
            <a:avLst/>
          </a:prstGeom>
          <a:solidFill>
            <a:srgbClr val="FDF4E7"/>
          </a:solidFill>
          <a:ln w="12700">
            <a:solidFill>
              <a:srgbClr val="FDF4E7"/>
            </a:solidFill>
            <a:prstDash val="solid"/>
          </a:ln>
        </p:spPr>
      </p:sp>
      <p:sp>
        <p:nvSpPr>
          <p:cNvPr id="20" name="Shape 18"/>
          <p:cNvSpPr/>
          <p:nvPr/>
        </p:nvSpPr>
        <p:spPr>
          <a:xfrm>
            <a:off x="566928" y="2487168"/>
            <a:ext cx="50292" cy="1755648"/>
          </a:xfrm>
          <a:prstGeom prst="rect">
            <a:avLst/>
          </a:prstGeom>
          <a:solidFill>
            <a:srgbClr val="9A5B08"/>
          </a:solidFill>
          <a:ln w="12700">
            <a:solidFill>
              <a:srgbClr val="333333"/>
            </a:solidFill>
            <a:prstDash val="solid"/>
          </a:ln>
        </p:spPr>
      </p:sp>
      <p:sp>
        <p:nvSpPr>
          <p:cNvPr id="21" name="Text 19"/>
          <p:cNvSpPr/>
          <p:nvPr/>
        </p:nvSpPr>
        <p:spPr>
          <a:xfrm>
            <a:off x="877824" y="2633472"/>
            <a:ext cx="10417759" cy="292608"/>
          </a:xfrm>
          <a:prstGeom prst="rect">
            <a:avLst/>
          </a:prstGeom>
          <a:noFill/>
          <a:ln/>
        </p:spPr>
        <p:txBody>
          <a:bodyPr wrap="square" rtlCol="0" anchor="ctr"/>
          <a:lstStyle/>
          <a:p>
            <a:pPr indent="0" marL="0">
              <a:buNone/>
            </a:pPr>
            <a:r>
              <a:rPr lang="en-US" sz="1500" b="1" dirty="0">
                <a:solidFill>
                  <a:srgbClr val="9A5B08"/>
                </a:solidFill>
                <a:latin typeface="Arial" pitchFamily="34" charset="0"/>
                <a:ea typeface="Arial" pitchFamily="34" charset="-122"/>
                <a:cs typeface="Arial" pitchFamily="34" charset="-120"/>
              </a:rPr>
              <a:t>The most useful result is a negative one</a:t>
            </a:r>
            <a:endParaRPr lang="en-US" sz="1500" dirty="0"/>
          </a:p>
        </p:txBody>
      </p:sp>
      <p:sp>
        <p:nvSpPr>
          <p:cNvPr id="22" name="Text 20"/>
          <p:cNvSpPr/>
          <p:nvPr/>
        </p:nvSpPr>
        <p:spPr>
          <a:xfrm>
            <a:off x="877824" y="2962656"/>
            <a:ext cx="10417759" cy="786384"/>
          </a:xfrm>
          <a:prstGeom prst="rect">
            <a:avLst/>
          </a:prstGeom>
          <a:noFill/>
          <a:ln/>
        </p:spPr>
        <p:txBody>
          <a:bodyPr wrap="square" rtlCol="0" anchor="t"/>
          <a:lstStyle/>
          <a:p>
            <a:pPr indent="0" marL="0">
              <a:lnSpc>
                <a:spcPts val="1800"/>
              </a:lnSpc>
              <a:buNone/>
            </a:pPr>
            <a:r>
              <a:rPr lang="en-US" sz="1250" dirty="0">
                <a:solidFill>
                  <a:srgbClr val="3F4750"/>
                </a:solidFill>
                <a:latin typeface="Arial" pitchFamily="34" charset="0"/>
                <a:ea typeface="Arial" pitchFamily="34" charset="-122"/>
                <a:cs typeface="Arial" pitchFamily="34" charset="-120"/>
              </a:rPr>
              <a:t>OpenAI caches a prompt prefix only when it reaches 1,024 tokens. I ordered the prompt into a stable layer and a volatile layer so caching </a:t>
            </a:r>
            <a:pPr indent="0" marL="0">
              <a:lnSpc>
                <a:spcPts val="1800"/>
              </a:lnSpc>
              <a:buNone/>
            </a:pPr>
            <a:r>
              <a:rPr lang="en-US" sz="1250" b="1" i="1" dirty="0">
                <a:solidFill>
                  <a:srgbClr val="14161A"/>
                </a:solidFill>
                <a:latin typeface="Arial" pitchFamily="34" charset="0"/>
                <a:ea typeface="Arial" pitchFamily="34" charset="-122"/>
                <a:cs typeface="Arial" pitchFamily="34" charset="-120"/>
              </a:rPr>
              <a:t>can</a:t>
            </a:r>
            <a:pPr indent="0" marL="0">
              <a:lnSpc>
                <a:spcPts val="1800"/>
              </a:lnSpc>
              <a:buNone/>
            </a:pPr>
            <a:r>
              <a:rPr lang="en-US" sz="1250" dirty="0">
                <a:solidFill>
                  <a:srgbClr val="3F4750"/>
                </a:solidFill>
                <a:latin typeface="Arial" pitchFamily="34" charset="0"/>
                <a:ea typeface="Arial" pitchFamily="34" charset="-122"/>
                <a:cs typeface="Arial" pitchFamily="34" charset="-120"/>
              </a:rPr>
              <a:t> engage. On a bare session the stable prefix is about 590 tokens — under the floor — so it does not fire at all. The tool reports that in words rather than printing a zero for me to spin.</a:t>
            </a:r>
            <a:endParaRPr lang="en-US" sz="1250" dirty="0"/>
          </a:p>
        </p:txBody>
      </p:sp>
      <p:sp>
        <p:nvSpPr>
          <p:cNvPr id="23" name="Text 21"/>
          <p:cNvSpPr/>
          <p:nvPr/>
        </p:nvSpPr>
        <p:spPr>
          <a:xfrm>
            <a:off x="877824" y="3749040"/>
            <a:ext cx="10417759" cy="402336"/>
          </a:xfrm>
          <a:prstGeom prst="rect">
            <a:avLst/>
          </a:prstGeom>
          <a:noFill/>
          <a:ln/>
        </p:spPr>
        <p:txBody>
          <a:bodyPr wrap="square" rtlCol="0" anchor="t"/>
          <a:lstStyle/>
          <a:p>
            <a:pPr indent="0" marL="0">
              <a:lnSpc>
                <a:spcPts val="1500"/>
              </a:lnSpc>
              <a:buNone/>
            </a:pPr>
            <a:r>
              <a:rPr lang="en-US" sz="1100" i="1" dirty="0">
                <a:solidFill>
                  <a:srgbClr val="7A8593"/>
                </a:solidFill>
                <a:latin typeface="Arial" pitchFamily="34" charset="0"/>
                <a:ea typeface="Arial" pitchFamily="34" charset="-122"/>
                <a:cs typeface="Arial" pitchFamily="34" charset="-120"/>
              </a:rPr>
              <a:t>Attach a job description and the prompt clears the floor — which is exactly when caching is worth having. Padding the prompt to reach it would cost more than the discount returns.</a:t>
            </a:r>
            <a:endParaRPr lang="en-US" sz="1100" dirty="0"/>
          </a:p>
        </p:txBody>
      </p:sp>
      <p:sp>
        <p:nvSpPr>
          <p:cNvPr id="24" name="Shape 22"/>
          <p:cNvSpPr/>
          <p:nvPr/>
        </p:nvSpPr>
        <p:spPr>
          <a:xfrm>
            <a:off x="566928" y="4407408"/>
            <a:ext cx="5373472" cy="914400"/>
          </a:xfrm>
          <a:prstGeom prst="rect">
            <a:avLst/>
          </a:prstGeom>
          <a:solidFill>
            <a:srgbClr val="F5F7FA"/>
          </a:solidFill>
          <a:ln w="12700">
            <a:solidFill>
              <a:srgbClr val="F5F7FA"/>
            </a:solidFill>
            <a:prstDash val="solid"/>
          </a:ln>
        </p:spPr>
      </p:sp>
      <p:sp>
        <p:nvSpPr>
          <p:cNvPr id="25" name="Text 23"/>
          <p:cNvSpPr/>
          <p:nvPr/>
        </p:nvSpPr>
        <p:spPr>
          <a:xfrm>
            <a:off x="822960" y="4517136"/>
            <a:ext cx="4916272" cy="731520"/>
          </a:xfrm>
          <a:prstGeom prst="rect">
            <a:avLst/>
          </a:prstGeom>
          <a:noFill/>
          <a:ln/>
        </p:spPr>
        <p:txBody>
          <a:bodyPr wrap="square" rtlCol="0" anchor="t"/>
          <a:lstStyle/>
          <a:p>
            <a:pPr indent="0" marL="0">
              <a:lnSpc>
                <a:spcPts val="1500"/>
              </a:lnSpc>
              <a:buNone/>
            </a:pPr>
            <a:r>
              <a:rPr lang="en-US" sz="1100" b="1" dirty="0">
                <a:solidFill>
                  <a:srgbClr val="14161A"/>
                </a:solidFill>
                <a:latin typeface="Arial" pitchFamily="34" charset="0"/>
                <a:ea typeface="Arial" pitchFamily="34" charset="-122"/>
                <a:cs typeface="Arial" pitchFamily="34" charset="-120"/>
              </a:rPr>
              <a:t>Also cut, and measured:</a:t>
            </a: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trivial answers skip analysis · six countable fields moved out of the model into plain code · coach answers cached in Postgres</a:t>
            </a:r>
            <a:endParaRPr lang="en-US" sz="1100" dirty="0"/>
          </a:p>
        </p:txBody>
      </p:sp>
      <p:sp>
        <p:nvSpPr>
          <p:cNvPr id="26" name="Shape 24"/>
          <p:cNvSpPr/>
          <p:nvPr/>
        </p:nvSpPr>
        <p:spPr>
          <a:xfrm>
            <a:off x="6251296" y="4407408"/>
            <a:ext cx="5373472" cy="914400"/>
          </a:xfrm>
          <a:prstGeom prst="rect">
            <a:avLst/>
          </a:prstGeom>
          <a:solidFill>
            <a:srgbClr val="EAF0FE"/>
          </a:solidFill>
          <a:ln w="12700">
            <a:solidFill>
              <a:srgbClr val="EAF0FE"/>
            </a:solidFill>
            <a:prstDash val="solid"/>
          </a:ln>
        </p:spPr>
      </p:sp>
      <p:sp>
        <p:nvSpPr>
          <p:cNvPr id="27" name="Shape 25"/>
          <p:cNvSpPr/>
          <p:nvPr/>
        </p:nvSpPr>
        <p:spPr>
          <a:xfrm>
            <a:off x="6251296" y="4407408"/>
            <a:ext cx="50292" cy="914400"/>
          </a:xfrm>
          <a:prstGeom prst="rect">
            <a:avLst/>
          </a:prstGeom>
          <a:solidFill>
            <a:srgbClr val="1D4ED8"/>
          </a:solidFill>
          <a:ln w="12700">
            <a:solidFill>
              <a:srgbClr val="333333"/>
            </a:solidFill>
            <a:prstDash val="solid"/>
          </a:ln>
        </p:spPr>
      </p:sp>
      <p:sp>
        <p:nvSpPr>
          <p:cNvPr id="28" name="Text 26"/>
          <p:cNvSpPr/>
          <p:nvPr/>
        </p:nvSpPr>
        <p:spPr>
          <a:xfrm>
            <a:off x="6507328" y="4517136"/>
            <a:ext cx="4916272" cy="731520"/>
          </a:xfrm>
          <a:prstGeom prst="rect">
            <a:avLst/>
          </a:prstGeom>
          <a:noFill/>
          <a:ln/>
        </p:spPr>
        <p:txBody>
          <a:bodyPr wrap="square" rtlCol="0" anchor="t"/>
          <a:lstStyle/>
          <a:p>
            <a:pPr indent="0" marL="0">
              <a:lnSpc>
                <a:spcPts val="1600"/>
              </a:lnSpc>
              <a:buNone/>
            </a:pPr>
            <a:r>
              <a:rPr lang="en-US" sz="1150" b="1" dirty="0">
                <a:solidFill>
                  <a:srgbClr val="1D4ED8"/>
                </a:solidFill>
                <a:latin typeface="Arial" pitchFamily="34" charset="0"/>
                <a:ea typeface="Arial" pitchFamily="34" charset="-122"/>
                <a:cs typeface="Arial" pitchFamily="34" charset="-120"/>
              </a:rPr>
              <a:t>The claim is not “this is cheap.”</a:t>
            </a:r>
            <a:endParaRPr lang="en-US" sz="1150" dirty="0"/>
          </a:p>
          <a:p>
            <a:pPr indent="0" marL="0">
              <a:lnSpc>
                <a:spcPts val="1600"/>
              </a:lnSpc>
              <a:buNone/>
            </a:pPr>
            <a:r>
              <a:rPr lang="en-US" sz="1150" dirty="0">
                <a:solidFill>
                  <a:srgbClr val="14161A"/>
                </a:solidFill>
                <a:latin typeface="Arial" pitchFamily="34" charset="0"/>
                <a:ea typeface="Arial" pitchFamily="34" charset="-122"/>
                <a:cs typeface="Arial" pitchFamily="34" charset="-120"/>
              </a:rPr>
              <a:t>It is that every call is instrumented, priced and checkable — including the optimisation that provably does not fire.</a:t>
            </a:r>
            <a:endParaRPr lang="en-US" sz="1150" dirty="0"/>
          </a:p>
        </p:txBody>
      </p:sp>
      <p:sp>
        <p:nvSpPr>
          <p:cNvPr id="30" name="Text 27"/>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1" name="Text 28"/>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WHERE IT STANDS</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Built, measured, and not yet — stated separately.</a:t>
            </a:r>
            <a:endParaRPr lang="en-US" sz="3000" dirty="0"/>
          </a:p>
        </p:txBody>
      </p:sp>
      <p:sp>
        <p:nvSpPr>
          <p:cNvPr id="5" name="Shape 3"/>
          <p:cNvSpPr/>
          <p:nvPr/>
        </p:nvSpPr>
        <p:spPr>
          <a:xfrm>
            <a:off x="566928" y="1645920"/>
            <a:ext cx="3478682" cy="3108960"/>
          </a:xfrm>
          <a:prstGeom prst="rect">
            <a:avLst/>
          </a:prstGeom>
          <a:solidFill>
            <a:srgbClr val="EAF5EE"/>
          </a:solidFill>
          <a:ln w="12700">
            <a:solidFill>
              <a:srgbClr val="EAF5EE"/>
            </a:solidFill>
            <a:prstDash val="solid"/>
          </a:ln>
        </p:spPr>
      </p:sp>
      <p:sp>
        <p:nvSpPr>
          <p:cNvPr id="6" name="Shape 4"/>
          <p:cNvSpPr/>
          <p:nvPr/>
        </p:nvSpPr>
        <p:spPr>
          <a:xfrm>
            <a:off x="566928" y="1645920"/>
            <a:ext cx="50292" cy="3108960"/>
          </a:xfrm>
          <a:prstGeom prst="rect">
            <a:avLst/>
          </a:prstGeom>
          <a:solidFill>
            <a:srgbClr val="15803D"/>
          </a:solidFill>
          <a:ln w="12700">
            <a:solidFill>
              <a:srgbClr val="333333"/>
            </a:solidFill>
            <a:prstDash val="solid"/>
          </a:ln>
        </p:spPr>
      </p:sp>
      <p:sp>
        <p:nvSpPr>
          <p:cNvPr id="7" name="Text 5"/>
          <p:cNvSpPr/>
          <p:nvPr/>
        </p:nvSpPr>
        <p:spPr>
          <a:xfrm>
            <a:off x="822960" y="1773936"/>
            <a:ext cx="3058058" cy="292608"/>
          </a:xfrm>
          <a:prstGeom prst="rect">
            <a:avLst/>
          </a:prstGeom>
          <a:noFill/>
          <a:ln/>
        </p:spPr>
        <p:txBody>
          <a:bodyPr wrap="square" rtlCol="0" anchor="ctr"/>
          <a:lstStyle/>
          <a:p>
            <a:pPr indent="0" marL="0">
              <a:buNone/>
            </a:pPr>
            <a:r>
              <a:rPr lang="en-US" sz="1350" b="1" dirty="0">
                <a:solidFill>
                  <a:srgbClr val="15803D"/>
                </a:solidFill>
                <a:latin typeface="Arial" pitchFamily="34" charset="0"/>
                <a:ea typeface="Arial" pitchFamily="34" charset="-122"/>
                <a:cs typeface="Arial" pitchFamily="34" charset="-120"/>
              </a:rPr>
              <a:t>✔  Built and verified</a:t>
            </a:r>
            <a:endParaRPr lang="en-US" sz="1350" dirty="0"/>
          </a:p>
        </p:txBody>
      </p:sp>
      <p:sp>
        <p:nvSpPr>
          <p:cNvPr id="8" name="Text 6"/>
          <p:cNvSpPr/>
          <p:nvPr/>
        </p:nvSpPr>
        <p:spPr>
          <a:xfrm>
            <a:off x="822960" y="2139696"/>
            <a:ext cx="3058058" cy="2523744"/>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299 tests across 31 files, all passing</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CI: typecheck + lint + test on every push</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10 migrations; RLS on every table</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Six round types, text and voice</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Multi-round loops with handover</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JD + CV grounding via pgvector</a:t>
            </a:r>
            <a:endParaRPr lang="en-US" sz="1100" dirty="0"/>
          </a:p>
        </p:txBody>
      </p:sp>
      <p:sp>
        <p:nvSpPr>
          <p:cNvPr id="9" name="Shape 7"/>
          <p:cNvSpPr/>
          <p:nvPr/>
        </p:nvSpPr>
        <p:spPr>
          <a:xfrm>
            <a:off x="4356506" y="1645920"/>
            <a:ext cx="3478682" cy="3108960"/>
          </a:xfrm>
          <a:prstGeom prst="rect">
            <a:avLst/>
          </a:prstGeom>
          <a:solidFill>
            <a:srgbClr val="FDF4E7"/>
          </a:solidFill>
          <a:ln w="12700">
            <a:solidFill>
              <a:srgbClr val="FDF4E7"/>
            </a:solidFill>
            <a:prstDash val="solid"/>
          </a:ln>
        </p:spPr>
      </p:sp>
      <p:sp>
        <p:nvSpPr>
          <p:cNvPr id="10" name="Shape 8"/>
          <p:cNvSpPr/>
          <p:nvPr/>
        </p:nvSpPr>
        <p:spPr>
          <a:xfrm>
            <a:off x="4356506" y="1645920"/>
            <a:ext cx="50292" cy="3108960"/>
          </a:xfrm>
          <a:prstGeom prst="rect">
            <a:avLst/>
          </a:prstGeom>
          <a:solidFill>
            <a:srgbClr val="9A5B08"/>
          </a:solidFill>
          <a:ln w="12700">
            <a:solidFill>
              <a:srgbClr val="333333"/>
            </a:solidFill>
            <a:prstDash val="solid"/>
          </a:ln>
        </p:spPr>
      </p:sp>
      <p:sp>
        <p:nvSpPr>
          <p:cNvPr id="11" name="Text 9"/>
          <p:cNvSpPr/>
          <p:nvPr/>
        </p:nvSpPr>
        <p:spPr>
          <a:xfrm>
            <a:off x="4612538" y="1773936"/>
            <a:ext cx="3058058" cy="292608"/>
          </a:xfrm>
          <a:prstGeom prst="rect">
            <a:avLst/>
          </a:prstGeom>
          <a:noFill/>
          <a:ln/>
        </p:spPr>
        <p:txBody>
          <a:bodyPr wrap="square" rtlCol="0" anchor="ctr"/>
          <a:lstStyle/>
          <a:p>
            <a:pPr indent="0" marL="0">
              <a:buNone/>
            </a:pPr>
            <a:r>
              <a:rPr lang="en-US" sz="1350" b="1" dirty="0">
                <a:solidFill>
                  <a:srgbClr val="9A5B08"/>
                </a:solidFill>
                <a:latin typeface="Arial" pitchFamily="34" charset="0"/>
                <a:ea typeface="Arial" pitchFamily="34" charset="-122"/>
                <a:cs typeface="Arial" pitchFamily="34" charset="-120"/>
              </a:rPr>
              <a:t>◑  Built, not yet measured</a:t>
            </a:r>
            <a:endParaRPr lang="en-US" sz="1350" dirty="0"/>
          </a:p>
        </p:txBody>
      </p:sp>
      <p:sp>
        <p:nvSpPr>
          <p:cNvPr id="12" name="Text 10"/>
          <p:cNvSpPr/>
          <p:nvPr/>
        </p:nvSpPr>
        <p:spPr>
          <a:xfrm>
            <a:off x="4612538" y="2139696"/>
            <a:ext cx="3058058" cy="2523744"/>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Scoring-accuracy eval — harness and 18 fixtures written, results not yet collected</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UAT — plan, handout and exit criteria written, no participants run yet</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The blind-judge arm of the persona eval has not been run live</a:t>
            </a:r>
            <a:endParaRPr lang="en-US" sz="1100" dirty="0"/>
          </a:p>
        </p:txBody>
      </p:sp>
      <p:sp>
        <p:nvSpPr>
          <p:cNvPr id="13" name="Shape 11"/>
          <p:cNvSpPr/>
          <p:nvPr/>
        </p:nvSpPr>
        <p:spPr>
          <a:xfrm>
            <a:off x="8146085" y="1645920"/>
            <a:ext cx="3478682" cy="3108960"/>
          </a:xfrm>
          <a:prstGeom prst="rect">
            <a:avLst/>
          </a:prstGeom>
          <a:solidFill>
            <a:srgbClr val="F5F7FA"/>
          </a:solidFill>
          <a:ln w="12700">
            <a:solidFill>
              <a:srgbClr val="F5F7FA"/>
            </a:solidFill>
            <a:prstDash val="solid"/>
          </a:ln>
        </p:spPr>
      </p:sp>
      <p:sp>
        <p:nvSpPr>
          <p:cNvPr id="14" name="Shape 12"/>
          <p:cNvSpPr/>
          <p:nvPr/>
        </p:nvSpPr>
        <p:spPr>
          <a:xfrm>
            <a:off x="8146085" y="1645920"/>
            <a:ext cx="50292" cy="3108960"/>
          </a:xfrm>
          <a:prstGeom prst="rect">
            <a:avLst/>
          </a:prstGeom>
          <a:solidFill>
            <a:srgbClr val="7A8593"/>
          </a:solidFill>
          <a:ln w="12700">
            <a:solidFill>
              <a:srgbClr val="333333"/>
            </a:solidFill>
            <a:prstDash val="solid"/>
          </a:ln>
        </p:spPr>
      </p:sp>
      <p:sp>
        <p:nvSpPr>
          <p:cNvPr id="15" name="Text 13"/>
          <p:cNvSpPr/>
          <p:nvPr/>
        </p:nvSpPr>
        <p:spPr>
          <a:xfrm>
            <a:off x="8402117" y="1773936"/>
            <a:ext cx="3058058" cy="292608"/>
          </a:xfrm>
          <a:prstGeom prst="rect">
            <a:avLst/>
          </a:prstGeom>
          <a:noFill/>
          <a:ln/>
        </p:spPr>
        <p:txBody>
          <a:bodyPr wrap="square" rtlCol="0" anchor="ctr"/>
          <a:lstStyle/>
          <a:p>
            <a:pPr indent="0" marL="0">
              <a:buNone/>
            </a:pPr>
            <a:r>
              <a:rPr lang="en-US" sz="1350" b="1" dirty="0">
                <a:solidFill>
                  <a:srgbClr val="7A8593"/>
                </a:solidFill>
                <a:latin typeface="Arial" pitchFamily="34" charset="0"/>
                <a:ea typeface="Arial" pitchFamily="34" charset="-122"/>
                <a:cs typeface="Arial" pitchFamily="34" charset="-120"/>
              </a:rPr>
              <a:t>✖  Out of scope, on purpose</a:t>
            </a:r>
            <a:endParaRPr lang="en-US" sz="1350" dirty="0"/>
          </a:p>
        </p:txBody>
      </p:sp>
      <p:sp>
        <p:nvSpPr>
          <p:cNvPr id="16" name="Text 14"/>
          <p:cNvSpPr/>
          <p:nvPr/>
        </p:nvSpPr>
        <p:spPr>
          <a:xfrm>
            <a:off x="8402117" y="2139696"/>
            <a:ext cx="3058058" cy="2523744"/>
          </a:xfrm>
          <a:prstGeom prst="rect">
            <a:avLst/>
          </a:prstGeom>
          <a:noFill/>
          <a:ln/>
        </p:spPr>
        <p:txBody>
          <a:bodyPr wrap="square" rtlCol="0" anchor="t"/>
          <a:lstStyle/>
          <a:p>
            <a:pPr indent="0" marL="0">
              <a:lnSpc>
                <a:spcPts val="1500"/>
              </a:lnSpc>
              <a:buNone/>
            </a:pPr>
            <a:r>
              <a:rPr lang="en-US" sz="1100" dirty="0">
                <a:solidFill>
                  <a:srgbClr val="3F4750"/>
                </a:solidFill>
                <a:latin typeface="Arial" pitchFamily="34" charset="0"/>
                <a:ea typeface="Arial" pitchFamily="34" charset="-122"/>
                <a:cs typeface="Arial" pitchFamily="34" charset="-120"/>
              </a:rPr>
              <a:t>Code is reviewed, never executed</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English only</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No CSP yet — pending an audit of the speech websocket origins</a:t>
            </a:r>
            <a:endParaRPr lang="en-US" sz="1100" dirty="0"/>
          </a:p>
          <a:p>
            <a:pPr indent="0" marL="0">
              <a:lnSpc>
                <a:spcPts val="1500"/>
              </a:lnSpc>
              <a:buNone/>
            </a:pPr>
            <a:endParaRPr lang="en-US" sz="1100" dirty="0"/>
          </a:p>
          <a:p>
            <a:pPr indent="0" marL="0">
              <a:lnSpc>
                <a:spcPts val="1500"/>
              </a:lnSpc>
              <a:buNone/>
            </a:pPr>
            <a:r>
              <a:rPr lang="en-US" sz="1100" dirty="0">
                <a:solidFill>
                  <a:srgbClr val="3F4750"/>
                </a:solidFill>
                <a:latin typeface="Arial" pitchFamily="34" charset="0"/>
                <a:ea typeface="Arial" pitchFamily="34" charset="-122"/>
                <a:cs typeface="Arial" pitchFamily="34" charset="-120"/>
              </a:rPr>
              <a:t>Rate limiter is in-process, so not correct across serverless instances</a:t>
            </a:r>
            <a:endParaRPr lang="en-US" sz="1100" dirty="0"/>
          </a:p>
        </p:txBody>
      </p:sp>
      <p:sp>
        <p:nvSpPr>
          <p:cNvPr id="17" name="Shape 15"/>
          <p:cNvSpPr/>
          <p:nvPr/>
        </p:nvSpPr>
        <p:spPr>
          <a:xfrm>
            <a:off x="566928" y="4956048"/>
            <a:ext cx="11057839" cy="749808"/>
          </a:xfrm>
          <a:prstGeom prst="rect">
            <a:avLst/>
          </a:prstGeom>
          <a:solidFill>
            <a:srgbClr val="EAF0FE"/>
          </a:solidFill>
          <a:ln w="12700">
            <a:solidFill>
              <a:srgbClr val="EAF0FE"/>
            </a:solidFill>
            <a:prstDash val="solid"/>
          </a:ln>
        </p:spPr>
      </p:sp>
      <p:sp>
        <p:nvSpPr>
          <p:cNvPr id="18" name="Shape 16"/>
          <p:cNvSpPr/>
          <p:nvPr/>
        </p:nvSpPr>
        <p:spPr>
          <a:xfrm>
            <a:off x="566928" y="4956048"/>
            <a:ext cx="50292" cy="749808"/>
          </a:xfrm>
          <a:prstGeom prst="rect">
            <a:avLst/>
          </a:prstGeom>
          <a:solidFill>
            <a:srgbClr val="1D4ED8"/>
          </a:solidFill>
          <a:ln w="12700">
            <a:solidFill>
              <a:srgbClr val="333333"/>
            </a:solidFill>
            <a:prstDash val="solid"/>
          </a:ln>
        </p:spPr>
      </p:sp>
      <p:sp>
        <p:nvSpPr>
          <p:cNvPr id="19" name="Text 17"/>
          <p:cNvSpPr/>
          <p:nvPr/>
        </p:nvSpPr>
        <p:spPr>
          <a:xfrm>
            <a:off x="877824" y="4956048"/>
            <a:ext cx="10509199" cy="749808"/>
          </a:xfrm>
          <a:prstGeom prst="rect">
            <a:avLst/>
          </a:prstGeom>
          <a:noFill/>
          <a:ln/>
        </p:spPr>
        <p:txBody>
          <a:bodyPr wrap="square" rtlCol="0" anchor="ctr"/>
          <a:lstStyle/>
          <a:p>
            <a:pPr indent="0" marL="0">
              <a:lnSpc>
                <a:spcPts val="1800"/>
              </a:lnSpc>
              <a:buNone/>
            </a:pPr>
            <a:r>
              <a:rPr lang="en-US" sz="1300" b="1" dirty="0">
                <a:solidFill>
                  <a:srgbClr val="1D4ED8"/>
                </a:solidFill>
                <a:latin typeface="Arial" pitchFamily="34" charset="0"/>
                <a:ea typeface="Arial" pitchFamily="34" charset="-122"/>
                <a:cs typeface="Arial" pitchFamily="34" charset="-120"/>
              </a:rPr>
              <a:t>The rule I held to:  </a:t>
            </a:r>
            <a:pPr indent="0" marL="0">
              <a:lnSpc>
                <a:spcPts val="1800"/>
              </a:lnSpc>
              <a:buNone/>
            </a:pPr>
            <a:r>
              <a:rPr lang="en-US" sz="1300" dirty="0">
                <a:solidFill>
                  <a:srgbClr val="14161A"/>
                </a:solidFill>
                <a:latin typeface="Arial" pitchFamily="34" charset="0"/>
                <a:ea typeface="Arial" pitchFamily="34" charset="-122"/>
                <a:cs typeface="Arial" pitchFamily="34" charset="-120"/>
              </a:rPr>
              <a:t>never claim a number I have not run. Everything on the left is a command you can execute; everything in the middle is a command I have not executed yet.</a:t>
            </a:r>
            <a:endParaRPr lang="en-US" sz="1300" dirty="0"/>
          </a:p>
        </p:txBody>
      </p:sp>
      <p:sp>
        <p:nvSpPr>
          <p:cNvPr id="21" name="Text 18"/>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22" name="Text 19"/>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DEMONSTRATION</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Three things, in increasing order of what can go wrong.</a:t>
            </a:r>
            <a:endParaRPr lang="en-US" sz="3000" dirty="0"/>
          </a:p>
        </p:txBody>
      </p:sp>
      <p:sp>
        <p:nvSpPr>
          <p:cNvPr id="5" name="Shape 3"/>
          <p:cNvSpPr/>
          <p:nvPr/>
        </p:nvSpPr>
        <p:spPr>
          <a:xfrm>
            <a:off x="566928" y="1682496"/>
            <a:ext cx="11057839" cy="1005840"/>
          </a:xfrm>
          <a:prstGeom prst="rect">
            <a:avLst/>
          </a:prstGeom>
          <a:solidFill>
            <a:srgbClr val="F5F7FA"/>
          </a:solidFill>
          <a:ln w="12700">
            <a:solidFill>
              <a:srgbClr val="F5F7FA"/>
            </a:solidFill>
            <a:prstDash val="solid"/>
          </a:ln>
        </p:spPr>
      </p:sp>
      <p:sp>
        <p:nvSpPr>
          <p:cNvPr id="6" name="Shape 4"/>
          <p:cNvSpPr/>
          <p:nvPr/>
        </p:nvSpPr>
        <p:spPr>
          <a:xfrm>
            <a:off x="566928" y="1682496"/>
            <a:ext cx="50292" cy="1005840"/>
          </a:xfrm>
          <a:prstGeom prst="rect">
            <a:avLst/>
          </a:prstGeom>
          <a:solidFill>
            <a:srgbClr val="1D4ED8"/>
          </a:solidFill>
          <a:ln w="12700">
            <a:solidFill>
              <a:srgbClr val="333333"/>
            </a:solidFill>
            <a:prstDash val="solid"/>
          </a:ln>
        </p:spPr>
      </p:sp>
      <p:sp>
        <p:nvSpPr>
          <p:cNvPr id="7" name="Text 5"/>
          <p:cNvSpPr/>
          <p:nvPr/>
        </p:nvSpPr>
        <p:spPr>
          <a:xfrm>
            <a:off x="841248" y="1682496"/>
            <a:ext cx="640080" cy="1005840"/>
          </a:xfrm>
          <a:prstGeom prst="rect">
            <a:avLst/>
          </a:prstGeom>
          <a:noFill/>
          <a:ln/>
        </p:spPr>
        <p:txBody>
          <a:bodyPr wrap="square" rtlCol="0" anchor="ctr"/>
          <a:lstStyle/>
          <a:p>
            <a:pPr indent="0" marL="0">
              <a:buNone/>
            </a:pPr>
            <a:r>
              <a:rPr lang="en-US" sz="2400" b="1" dirty="0">
                <a:solidFill>
                  <a:srgbClr val="1D4ED8"/>
                </a:solidFill>
                <a:latin typeface="Arial" pitchFamily="34" charset="0"/>
                <a:ea typeface="Arial" pitchFamily="34" charset="-122"/>
                <a:cs typeface="Arial" pitchFamily="34" charset="-120"/>
              </a:rPr>
              <a:t>01</a:t>
            </a:r>
            <a:endParaRPr lang="en-US" sz="2400" dirty="0"/>
          </a:p>
        </p:txBody>
      </p:sp>
      <p:sp>
        <p:nvSpPr>
          <p:cNvPr id="8" name="Text 6"/>
          <p:cNvSpPr/>
          <p:nvPr/>
        </p:nvSpPr>
        <p:spPr>
          <a:xfrm>
            <a:off x="1527048" y="1847088"/>
            <a:ext cx="3840480" cy="329184"/>
          </a:xfrm>
          <a:prstGeom prst="rect">
            <a:avLst/>
          </a:prstGeom>
          <a:noFill/>
          <a:ln/>
        </p:spPr>
        <p:txBody>
          <a:bodyPr wrap="square" rtlCol="0" anchor="ctr"/>
          <a:lstStyle/>
          <a:p>
            <a:pPr indent="0" marL="0">
              <a:buNone/>
            </a:pPr>
            <a:r>
              <a:rPr lang="en-US" sz="1550" b="1" dirty="0">
                <a:solidFill>
                  <a:srgbClr val="14161A"/>
                </a:solidFill>
                <a:latin typeface="Arial" pitchFamily="34" charset="0"/>
                <a:ea typeface="Arial" pitchFamily="34" charset="-122"/>
                <a:cs typeface="Arial" pitchFamily="34" charset="-120"/>
              </a:rPr>
              <a:t>Personas actually differ</a:t>
            </a:r>
            <a:endParaRPr lang="en-US" sz="1550" dirty="0"/>
          </a:p>
        </p:txBody>
      </p:sp>
      <p:sp>
        <p:nvSpPr>
          <p:cNvPr id="9" name="Text 7"/>
          <p:cNvSpPr/>
          <p:nvPr/>
        </p:nvSpPr>
        <p:spPr>
          <a:xfrm>
            <a:off x="1527048" y="2194560"/>
            <a:ext cx="3840480" cy="292608"/>
          </a:xfrm>
          <a:prstGeom prst="rect">
            <a:avLst/>
          </a:prstGeom>
          <a:noFill/>
          <a:ln/>
        </p:spPr>
        <p:txBody>
          <a:bodyPr wrap="square" rtlCol="0" anchor="ctr"/>
          <a:lstStyle/>
          <a:p>
            <a:pPr indent="0" marL="0">
              <a:buNone/>
            </a:pPr>
            <a:r>
              <a:rPr lang="en-US" sz="1150" dirty="0">
                <a:solidFill>
                  <a:srgbClr val="1D4ED8"/>
                </a:solidFill>
                <a:latin typeface="Courier New" pitchFamily="34" charset="0"/>
                <a:ea typeface="Courier New" pitchFamily="34" charset="-122"/>
                <a:cs typeface="Courier New" pitchFamily="34" charset="-120"/>
              </a:rPr>
              <a:t>npm run eval:persona</a:t>
            </a:r>
            <a:endParaRPr lang="en-US" sz="1150" dirty="0"/>
          </a:p>
        </p:txBody>
      </p:sp>
      <p:sp>
        <p:nvSpPr>
          <p:cNvPr id="10" name="Text 8"/>
          <p:cNvSpPr/>
          <p:nvPr/>
        </p:nvSpPr>
        <p:spPr>
          <a:xfrm>
            <a:off x="5550408" y="1865376"/>
            <a:ext cx="4206240" cy="640080"/>
          </a:xfrm>
          <a:prstGeom prst="rect">
            <a:avLst/>
          </a:prstGeom>
          <a:noFill/>
          <a:ln/>
        </p:spPr>
        <p:txBody>
          <a:bodyPr wrap="square" rtlCol="0" anchor="ctr"/>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Deterministic. No API calls, no network, byte-identical every run.</a:t>
            </a:r>
            <a:endParaRPr lang="en-US" sz="1150" dirty="0"/>
          </a:p>
        </p:txBody>
      </p:sp>
      <p:sp>
        <p:nvSpPr>
          <p:cNvPr id="11" name="Shape 9"/>
          <p:cNvSpPr/>
          <p:nvPr/>
        </p:nvSpPr>
        <p:spPr>
          <a:xfrm>
            <a:off x="9939528" y="2011680"/>
            <a:ext cx="1463040" cy="347472"/>
          </a:xfrm>
          <a:prstGeom prst="rect">
            <a:avLst/>
          </a:prstGeom>
          <a:solidFill>
            <a:srgbClr val="EAF5EE"/>
          </a:solidFill>
          <a:ln w="12700">
            <a:solidFill>
              <a:srgbClr val="15803D"/>
            </a:solidFill>
            <a:prstDash val="solid"/>
          </a:ln>
        </p:spPr>
      </p:sp>
      <p:sp>
        <p:nvSpPr>
          <p:cNvPr id="12" name="Text 10"/>
          <p:cNvSpPr/>
          <p:nvPr/>
        </p:nvSpPr>
        <p:spPr>
          <a:xfrm>
            <a:off x="9939528" y="2011680"/>
            <a:ext cx="1463040" cy="347472"/>
          </a:xfrm>
          <a:prstGeom prst="rect">
            <a:avLst/>
          </a:prstGeom>
          <a:noFill/>
          <a:ln/>
        </p:spPr>
        <p:txBody>
          <a:bodyPr wrap="square" rtlCol="0" anchor="ctr"/>
          <a:lstStyle/>
          <a:p>
            <a:pPr algn="ctr" indent="0" marL="0">
              <a:buNone/>
            </a:pPr>
            <a:r>
              <a:rPr lang="en-US" sz="950" b="1" dirty="0">
                <a:solidFill>
                  <a:srgbClr val="15803D"/>
                </a:solidFill>
                <a:latin typeface="Arial" pitchFamily="34" charset="0"/>
                <a:ea typeface="Arial" pitchFamily="34" charset="-122"/>
                <a:cs typeface="Arial" pitchFamily="34" charset="-120"/>
              </a:rPr>
              <a:t>Cannot fail</a:t>
            </a:r>
            <a:endParaRPr lang="en-US" sz="950" dirty="0"/>
          </a:p>
        </p:txBody>
      </p:sp>
      <p:sp>
        <p:nvSpPr>
          <p:cNvPr id="13" name="Shape 11"/>
          <p:cNvSpPr/>
          <p:nvPr/>
        </p:nvSpPr>
        <p:spPr>
          <a:xfrm>
            <a:off x="566928" y="2852928"/>
            <a:ext cx="11057839" cy="1005840"/>
          </a:xfrm>
          <a:prstGeom prst="rect">
            <a:avLst/>
          </a:prstGeom>
          <a:solidFill>
            <a:srgbClr val="F5F7FA"/>
          </a:solidFill>
          <a:ln w="12700">
            <a:solidFill>
              <a:srgbClr val="F5F7FA"/>
            </a:solidFill>
            <a:prstDash val="solid"/>
          </a:ln>
        </p:spPr>
      </p:sp>
      <p:sp>
        <p:nvSpPr>
          <p:cNvPr id="14" name="Shape 12"/>
          <p:cNvSpPr/>
          <p:nvPr/>
        </p:nvSpPr>
        <p:spPr>
          <a:xfrm>
            <a:off x="566928" y="2852928"/>
            <a:ext cx="50292" cy="1005840"/>
          </a:xfrm>
          <a:prstGeom prst="rect">
            <a:avLst/>
          </a:prstGeom>
          <a:solidFill>
            <a:srgbClr val="1D4ED8"/>
          </a:solidFill>
          <a:ln w="12700">
            <a:solidFill>
              <a:srgbClr val="333333"/>
            </a:solidFill>
            <a:prstDash val="solid"/>
          </a:ln>
        </p:spPr>
      </p:sp>
      <p:sp>
        <p:nvSpPr>
          <p:cNvPr id="15" name="Text 13"/>
          <p:cNvSpPr/>
          <p:nvPr/>
        </p:nvSpPr>
        <p:spPr>
          <a:xfrm>
            <a:off x="841248" y="2852928"/>
            <a:ext cx="640080" cy="1005840"/>
          </a:xfrm>
          <a:prstGeom prst="rect">
            <a:avLst/>
          </a:prstGeom>
          <a:noFill/>
          <a:ln/>
        </p:spPr>
        <p:txBody>
          <a:bodyPr wrap="square" rtlCol="0" anchor="ctr"/>
          <a:lstStyle/>
          <a:p>
            <a:pPr indent="0" marL="0">
              <a:buNone/>
            </a:pPr>
            <a:r>
              <a:rPr lang="en-US" sz="2400" b="1" dirty="0">
                <a:solidFill>
                  <a:srgbClr val="1D4ED8"/>
                </a:solidFill>
                <a:latin typeface="Arial" pitchFamily="34" charset="0"/>
                <a:ea typeface="Arial" pitchFamily="34" charset="-122"/>
                <a:cs typeface="Arial" pitchFamily="34" charset="-120"/>
              </a:rPr>
              <a:t>02</a:t>
            </a:r>
            <a:endParaRPr lang="en-US" sz="2400" dirty="0"/>
          </a:p>
        </p:txBody>
      </p:sp>
      <p:sp>
        <p:nvSpPr>
          <p:cNvPr id="16" name="Text 14"/>
          <p:cNvSpPr/>
          <p:nvPr/>
        </p:nvSpPr>
        <p:spPr>
          <a:xfrm>
            <a:off x="1527048" y="3017520"/>
            <a:ext cx="3840480" cy="329184"/>
          </a:xfrm>
          <a:prstGeom prst="rect">
            <a:avLst/>
          </a:prstGeom>
          <a:noFill/>
          <a:ln/>
        </p:spPr>
        <p:txBody>
          <a:bodyPr wrap="square" rtlCol="0" anchor="ctr"/>
          <a:lstStyle/>
          <a:p>
            <a:pPr indent="0" marL="0">
              <a:buNone/>
            </a:pPr>
            <a:r>
              <a:rPr lang="en-US" sz="1550" b="1" dirty="0">
                <a:solidFill>
                  <a:srgbClr val="14161A"/>
                </a:solidFill>
                <a:latin typeface="Arial" pitchFamily="34" charset="0"/>
                <a:ea typeface="Arial" pitchFamily="34" charset="-122"/>
                <a:cs typeface="Arial" pitchFamily="34" charset="-120"/>
              </a:rPr>
              <a:t>What it has cost</a:t>
            </a:r>
            <a:endParaRPr lang="en-US" sz="1550" dirty="0"/>
          </a:p>
        </p:txBody>
      </p:sp>
      <p:sp>
        <p:nvSpPr>
          <p:cNvPr id="17" name="Text 15"/>
          <p:cNvSpPr/>
          <p:nvPr/>
        </p:nvSpPr>
        <p:spPr>
          <a:xfrm>
            <a:off x="1527048" y="3364992"/>
            <a:ext cx="3840480" cy="292608"/>
          </a:xfrm>
          <a:prstGeom prst="rect">
            <a:avLst/>
          </a:prstGeom>
          <a:noFill/>
          <a:ln/>
        </p:spPr>
        <p:txBody>
          <a:bodyPr wrap="square" rtlCol="0" anchor="ctr"/>
          <a:lstStyle/>
          <a:p>
            <a:pPr indent="0" marL="0">
              <a:buNone/>
            </a:pPr>
            <a:r>
              <a:rPr lang="en-US" sz="1150" dirty="0">
                <a:solidFill>
                  <a:srgbClr val="1D4ED8"/>
                </a:solidFill>
                <a:latin typeface="Courier New" pitchFamily="34" charset="0"/>
                <a:ea typeface="Courier New" pitchFamily="34" charset="-122"/>
                <a:cs typeface="Courier New" pitchFamily="34" charset="-120"/>
              </a:rPr>
              <a:t>npm run cost-report</a:t>
            </a:r>
            <a:endParaRPr lang="en-US" sz="1150" dirty="0"/>
          </a:p>
        </p:txBody>
      </p:sp>
      <p:sp>
        <p:nvSpPr>
          <p:cNvPr id="18" name="Text 16"/>
          <p:cNvSpPr/>
          <p:nvPr/>
        </p:nvSpPr>
        <p:spPr>
          <a:xfrm>
            <a:off x="5550408" y="3035808"/>
            <a:ext cx="4206240" cy="640080"/>
          </a:xfrm>
          <a:prstGeom prst="rect">
            <a:avLst/>
          </a:prstGeom>
          <a:noFill/>
          <a:ln/>
        </p:spPr>
        <p:txBody>
          <a:bodyPr wrap="square" rtlCol="0" anchor="ctr"/>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Reads every recorded model call and prices it. Includes the caching counterfactual.</a:t>
            </a:r>
            <a:endParaRPr lang="en-US" sz="1150" dirty="0"/>
          </a:p>
        </p:txBody>
      </p:sp>
      <p:sp>
        <p:nvSpPr>
          <p:cNvPr id="19" name="Shape 17"/>
          <p:cNvSpPr/>
          <p:nvPr/>
        </p:nvSpPr>
        <p:spPr>
          <a:xfrm>
            <a:off x="9939528" y="3182112"/>
            <a:ext cx="1463040" cy="347472"/>
          </a:xfrm>
          <a:prstGeom prst="rect">
            <a:avLst/>
          </a:prstGeom>
          <a:solidFill>
            <a:srgbClr val="FDF4E7"/>
          </a:solidFill>
          <a:ln w="12700">
            <a:solidFill>
              <a:srgbClr val="9A5B08"/>
            </a:solidFill>
            <a:prstDash val="solid"/>
          </a:ln>
        </p:spPr>
      </p:sp>
      <p:sp>
        <p:nvSpPr>
          <p:cNvPr id="20" name="Text 18"/>
          <p:cNvSpPr/>
          <p:nvPr/>
        </p:nvSpPr>
        <p:spPr>
          <a:xfrm>
            <a:off x="9939528" y="3182112"/>
            <a:ext cx="1463040" cy="347472"/>
          </a:xfrm>
          <a:prstGeom prst="rect">
            <a:avLst/>
          </a:prstGeom>
          <a:noFill/>
          <a:ln/>
        </p:spPr>
        <p:txBody>
          <a:bodyPr wrap="square" rtlCol="0" anchor="ctr"/>
          <a:lstStyle/>
          <a:p>
            <a:pPr algn="ctr" indent="0" marL="0">
              <a:buNone/>
            </a:pPr>
            <a:r>
              <a:rPr lang="en-US" sz="950" b="1" dirty="0">
                <a:solidFill>
                  <a:srgbClr val="9A5B08"/>
                </a:solidFill>
                <a:latin typeface="Arial" pitchFamily="34" charset="0"/>
                <a:ea typeface="Arial" pitchFamily="34" charset="-122"/>
                <a:cs typeface="Arial" pitchFamily="34" charset="-120"/>
              </a:rPr>
              <a:t>Needs the database</a:t>
            </a:r>
            <a:endParaRPr lang="en-US" sz="950" dirty="0"/>
          </a:p>
        </p:txBody>
      </p:sp>
      <p:sp>
        <p:nvSpPr>
          <p:cNvPr id="21" name="Shape 19"/>
          <p:cNvSpPr/>
          <p:nvPr/>
        </p:nvSpPr>
        <p:spPr>
          <a:xfrm>
            <a:off x="566928" y="4023360"/>
            <a:ext cx="11057839" cy="1005840"/>
          </a:xfrm>
          <a:prstGeom prst="rect">
            <a:avLst/>
          </a:prstGeom>
          <a:solidFill>
            <a:srgbClr val="F5F7FA"/>
          </a:solidFill>
          <a:ln w="12700">
            <a:solidFill>
              <a:srgbClr val="F5F7FA"/>
            </a:solidFill>
            <a:prstDash val="solid"/>
          </a:ln>
        </p:spPr>
      </p:sp>
      <p:sp>
        <p:nvSpPr>
          <p:cNvPr id="22" name="Shape 20"/>
          <p:cNvSpPr/>
          <p:nvPr/>
        </p:nvSpPr>
        <p:spPr>
          <a:xfrm>
            <a:off x="566928" y="4023360"/>
            <a:ext cx="50292" cy="1005840"/>
          </a:xfrm>
          <a:prstGeom prst="rect">
            <a:avLst/>
          </a:prstGeom>
          <a:solidFill>
            <a:srgbClr val="1D4ED8"/>
          </a:solidFill>
          <a:ln w="12700">
            <a:solidFill>
              <a:srgbClr val="333333"/>
            </a:solidFill>
            <a:prstDash val="solid"/>
          </a:ln>
        </p:spPr>
      </p:sp>
      <p:sp>
        <p:nvSpPr>
          <p:cNvPr id="23" name="Text 21"/>
          <p:cNvSpPr/>
          <p:nvPr/>
        </p:nvSpPr>
        <p:spPr>
          <a:xfrm>
            <a:off x="841248" y="4023360"/>
            <a:ext cx="640080" cy="1005840"/>
          </a:xfrm>
          <a:prstGeom prst="rect">
            <a:avLst/>
          </a:prstGeom>
          <a:noFill/>
          <a:ln/>
        </p:spPr>
        <p:txBody>
          <a:bodyPr wrap="square" rtlCol="0" anchor="ctr"/>
          <a:lstStyle/>
          <a:p>
            <a:pPr indent="0" marL="0">
              <a:buNone/>
            </a:pPr>
            <a:r>
              <a:rPr lang="en-US" sz="2400" b="1" dirty="0">
                <a:solidFill>
                  <a:srgbClr val="1D4ED8"/>
                </a:solidFill>
                <a:latin typeface="Arial" pitchFamily="34" charset="0"/>
                <a:ea typeface="Arial" pitchFamily="34" charset="-122"/>
                <a:cs typeface="Arial" pitchFamily="34" charset="-120"/>
              </a:rPr>
              <a:t>03</a:t>
            </a:r>
            <a:endParaRPr lang="en-US" sz="2400" dirty="0"/>
          </a:p>
        </p:txBody>
      </p:sp>
      <p:sp>
        <p:nvSpPr>
          <p:cNvPr id="24" name="Text 22"/>
          <p:cNvSpPr/>
          <p:nvPr/>
        </p:nvSpPr>
        <p:spPr>
          <a:xfrm>
            <a:off x="1527048" y="4187952"/>
            <a:ext cx="3840480" cy="329184"/>
          </a:xfrm>
          <a:prstGeom prst="rect">
            <a:avLst/>
          </a:prstGeom>
          <a:noFill/>
          <a:ln/>
        </p:spPr>
        <p:txBody>
          <a:bodyPr wrap="square" rtlCol="0" anchor="ctr"/>
          <a:lstStyle/>
          <a:p>
            <a:pPr indent="0" marL="0">
              <a:buNone/>
            </a:pPr>
            <a:r>
              <a:rPr lang="en-US" sz="1550" b="1" dirty="0">
                <a:solidFill>
                  <a:srgbClr val="14161A"/>
                </a:solidFill>
                <a:latin typeface="Arial" pitchFamily="34" charset="0"/>
                <a:ea typeface="Arial" pitchFamily="34" charset="-122"/>
                <a:cs typeface="Arial" pitchFamily="34" charset="-120"/>
              </a:rPr>
              <a:t>A live interview</a:t>
            </a:r>
            <a:endParaRPr lang="en-US" sz="1550" dirty="0"/>
          </a:p>
        </p:txBody>
      </p:sp>
      <p:sp>
        <p:nvSpPr>
          <p:cNvPr id="25" name="Text 23"/>
          <p:cNvSpPr/>
          <p:nvPr/>
        </p:nvSpPr>
        <p:spPr>
          <a:xfrm>
            <a:off x="1527048" y="4535424"/>
            <a:ext cx="3840480" cy="292608"/>
          </a:xfrm>
          <a:prstGeom prst="rect">
            <a:avLst/>
          </a:prstGeom>
          <a:noFill/>
          <a:ln/>
        </p:spPr>
        <p:txBody>
          <a:bodyPr wrap="square" rtlCol="0" anchor="ctr"/>
          <a:lstStyle/>
          <a:p>
            <a:pPr indent="0" marL="0">
              <a:buNone/>
            </a:pPr>
            <a:r>
              <a:rPr lang="en-US" sz="1150" dirty="0">
                <a:solidFill>
                  <a:srgbClr val="1D4ED8"/>
                </a:solidFill>
                <a:latin typeface="Courier New" pitchFamily="34" charset="0"/>
                <a:ea typeface="Courier New" pitchFamily="34" charset="-122"/>
                <a:cs typeface="Courier New" pitchFamily="34" charset="-120"/>
              </a:rPr>
              <a:t>npm run dev</a:t>
            </a:r>
            <a:endParaRPr lang="en-US" sz="1150" dirty="0"/>
          </a:p>
        </p:txBody>
      </p:sp>
      <p:sp>
        <p:nvSpPr>
          <p:cNvPr id="26" name="Text 24"/>
          <p:cNvSpPr/>
          <p:nvPr/>
        </p:nvSpPr>
        <p:spPr>
          <a:xfrm>
            <a:off x="5550408" y="4206240"/>
            <a:ext cx="4206240" cy="640080"/>
          </a:xfrm>
          <a:prstGeom prst="rect">
            <a:avLst/>
          </a:prstGeom>
          <a:noFill/>
          <a:ln/>
        </p:spPr>
        <p:txBody>
          <a:bodyPr wrap="square" rtlCol="0" anchor="ctr"/>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Short round with the strict persona, so the pushback is visible. Then the report.</a:t>
            </a:r>
            <a:endParaRPr lang="en-US" sz="1150" dirty="0"/>
          </a:p>
        </p:txBody>
      </p:sp>
      <p:sp>
        <p:nvSpPr>
          <p:cNvPr id="27" name="Shape 25"/>
          <p:cNvSpPr/>
          <p:nvPr/>
        </p:nvSpPr>
        <p:spPr>
          <a:xfrm>
            <a:off x="9939528" y="4352544"/>
            <a:ext cx="1463040" cy="347472"/>
          </a:xfrm>
          <a:prstGeom prst="rect">
            <a:avLst/>
          </a:prstGeom>
          <a:solidFill>
            <a:srgbClr val="FDF4E7"/>
          </a:solidFill>
          <a:ln w="12700">
            <a:solidFill>
              <a:srgbClr val="9A5B08"/>
            </a:solidFill>
            <a:prstDash val="solid"/>
          </a:ln>
        </p:spPr>
      </p:sp>
      <p:sp>
        <p:nvSpPr>
          <p:cNvPr id="28" name="Text 26"/>
          <p:cNvSpPr/>
          <p:nvPr/>
        </p:nvSpPr>
        <p:spPr>
          <a:xfrm>
            <a:off x="9939528" y="4352544"/>
            <a:ext cx="1463040" cy="347472"/>
          </a:xfrm>
          <a:prstGeom prst="rect">
            <a:avLst/>
          </a:prstGeom>
          <a:noFill/>
          <a:ln/>
        </p:spPr>
        <p:txBody>
          <a:bodyPr wrap="square" rtlCol="0" anchor="ctr"/>
          <a:lstStyle/>
          <a:p>
            <a:pPr algn="ctr" indent="0" marL="0">
              <a:buNone/>
            </a:pPr>
            <a:r>
              <a:rPr lang="en-US" sz="950" b="1" dirty="0">
                <a:solidFill>
                  <a:srgbClr val="9A5B08"/>
                </a:solidFill>
                <a:latin typeface="Arial" pitchFamily="34" charset="0"/>
                <a:ea typeface="Arial" pitchFamily="34" charset="-122"/>
                <a:cs typeface="Arial" pitchFamily="34" charset="-120"/>
              </a:rPr>
              <a:t>Live model calls</a:t>
            </a:r>
            <a:endParaRPr lang="en-US" sz="950" dirty="0"/>
          </a:p>
        </p:txBody>
      </p:sp>
      <p:sp>
        <p:nvSpPr>
          <p:cNvPr id="29" name="Text 27"/>
          <p:cNvSpPr/>
          <p:nvPr/>
        </p:nvSpPr>
        <p:spPr>
          <a:xfrm>
            <a:off x="566928" y="5321808"/>
            <a:ext cx="11057839" cy="329184"/>
          </a:xfrm>
          <a:prstGeom prst="rect">
            <a:avLst/>
          </a:prstGeom>
          <a:noFill/>
          <a:ln/>
        </p:spPr>
        <p:txBody>
          <a:bodyPr wrap="square" rtlCol="0" anchor="ctr"/>
          <a:lstStyle/>
          <a:p>
            <a:pPr indent="0" marL="0">
              <a:buNone/>
            </a:pPr>
            <a:r>
              <a:rPr lang="en-US" sz="1200" i="1" dirty="0">
                <a:solidFill>
                  <a:srgbClr val="7A8593"/>
                </a:solidFill>
                <a:latin typeface="Arial" pitchFamily="34" charset="0"/>
                <a:ea typeface="Arial" pitchFamily="34" charset="-122"/>
                <a:cs typeface="Arial" pitchFamily="34" charset="-120"/>
              </a:rPr>
              <a:t>If anything live fails I will switch to the committed output in docs/artifacts/ and say so.</a:t>
            </a:r>
            <a:endParaRPr lang="en-US" sz="1200" dirty="0"/>
          </a:p>
        </p:txBody>
      </p:sp>
      <p:sp>
        <p:nvSpPr>
          <p:cNvPr id="31" name="Text 28"/>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32" name="Text 29"/>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61A"/>
        </a:solidFill>
      </p:bgPr>
    </p:bg>
    <p:spTree>
      <p:nvGrpSpPr>
        <p:cNvPr id="1" name=""/>
        <p:cNvGrpSpPr/>
        <p:nvPr/>
      </p:nvGrpSpPr>
      <p:grpSpPr>
        <a:xfrm>
          <a:off x="0" y="0"/>
          <a:ext cx="0" cy="0"/>
          <a:chOff x="0" y="0"/>
          <a:chExt cx="0" cy="0"/>
        </a:xfrm>
      </p:grpSpPr>
      <p:sp>
        <p:nvSpPr>
          <p:cNvPr id="2" name="Text 0"/>
          <p:cNvSpPr/>
          <p:nvPr/>
        </p:nvSpPr>
        <p:spPr>
          <a:xfrm>
            <a:off x="566928" y="2743200"/>
            <a:ext cx="11057839" cy="731520"/>
          </a:xfrm>
          <a:prstGeom prst="rect">
            <a:avLst/>
          </a:prstGeom>
          <a:noFill/>
          <a:ln/>
        </p:spPr>
        <p:txBody>
          <a:bodyPr wrap="square" rtlCol="0" anchor="ctr"/>
          <a:lstStyle/>
          <a:p>
            <a:pPr indent="0" marL="0">
              <a:buNone/>
            </a:pPr>
            <a:r>
              <a:rPr lang="en-US" sz="4000" b="1" dirty="0">
                <a:solidFill>
                  <a:srgbClr val="FFFFFF"/>
                </a:solidFill>
                <a:latin typeface="Arial" pitchFamily="34" charset="0"/>
                <a:ea typeface="Arial" pitchFamily="34" charset="-122"/>
                <a:cs typeface="Arial" pitchFamily="34" charset="-120"/>
              </a:rPr>
              <a:t>Appendix</a:t>
            </a:r>
            <a:endParaRPr lang="en-US" sz="4000" dirty="0"/>
          </a:p>
        </p:txBody>
      </p:sp>
      <p:sp>
        <p:nvSpPr>
          <p:cNvPr id="3" name="Text 1"/>
          <p:cNvSpPr/>
          <p:nvPr/>
        </p:nvSpPr>
        <p:spPr>
          <a:xfrm>
            <a:off x="566928" y="3529584"/>
            <a:ext cx="11057839" cy="365760"/>
          </a:xfrm>
          <a:prstGeom prst="rect">
            <a:avLst/>
          </a:prstGeom>
          <a:noFill/>
          <a:ln/>
        </p:spPr>
        <p:txBody>
          <a:bodyPr wrap="square" rtlCol="0" anchor="ctr"/>
          <a:lstStyle/>
          <a:p>
            <a:pPr indent="0" marL="0">
              <a:buNone/>
            </a:pPr>
            <a:r>
              <a:rPr lang="en-US" sz="1500" dirty="0">
                <a:solidFill>
                  <a:srgbClr val="9AA5B4"/>
                </a:solidFill>
                <a:latin typeface="Arial" pitchFamily="34" charset="0"/>
                <a:ea typeface="Arial" pitchFamily="34" charset="-122"/>
                <a:cs typeface="Arial" pitchFamily="34" charset="-120"/>
              </a:rPr>
              <a:t>Not presented — held for questions.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A</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Full architecture</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Layers</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Proxy</a:t>
            </a:r>
            <a:pPr indent="0" marL="0">
              <a:lnSpc>
                <a:spcPts val="1600"/>
              </a:lnSpc>
              <a:buNone/>
            </a:pPr>
            <a:r>
              <a:rPr lang="en-US" sz="1150" dirty="0">
                <a:solidFill>
                  <a:srgbClr val="3F4750"/>
                </a:solidFill>
                <a:latin typeface="Arial" pitchFamily="34" charset="0"/>
                <a:ea typeface="Arial" pitchFamily="34" charset="-122"/>
                <a:cs typeface="Arial" pitchFamily="34" charset="-120"/>
              </a:rPr>
              <a:t>  refreshes the Supabase session cookie on every request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Pages</a:t>
            </a:r>
            <a:pPr indent="0" marL="0">
              <a:lnSpc>
                <a:spcPts val="1600"/>
              </a:lnSpc>
              <a:buNone/>
            </a:pPr>
            <a:r>
              <a:rPr lang="en-US" sz="1150" dirty="0">
                <a:solidFill>
                  <a:srgbClr val="3F4750"/>
                </a:solidFill>
                <a:latin typeface="Arial" pitchFamily="34" charset="0"/>
                <a:ea typeface="Arial" pitchFamily="34" charset="-122"/>
                <a:cs typeface="Arial" pitchFamily="34" charset="-120"/>
              </a:rPr>
              <a:t>  marketing, auth, dashboard, and the two interview surfaces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API</a:t>
            </a:r>
            <a:pPr indent="0" marL="0">
              <a:lnSpc>
                <a:spcPts val="1600"/>
              </a:lnSpc>
              <a:buNone/>
            </a:pPr>
            <a:r>
              <a:rPr lang="en-US" sz="1150" dirty="0">
                <a:solidFill>
                  <a:srgbClr val="3F4750"/>
                </a:solidFill>
                <a:latin typeface="Arial" pitchFamily="34" charset="0"/>
                <a:ea typeface="Arial" pitchFamily="34" charset="-122"/>
                <a:cs typeface="Arial" pitchFamily="34" charset="-120"/>
              </a:rPr>
              <a:t>  18 route files — auth-gated, rate-limited, RLS-backed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Domain</a:t>
            </a:r>
            <a:pPr indent="0" marL="0">
              <a:lnSpc>
                <a:spcPts val="1600"/>
              </a:lnSpc>
              <a:buNone/>
            </a:pPr>
            <a:r>
              <a:rPr lang="en-US" sz="1150" dirty="0">
                <a:solidFill>
                  <a:srgbClr val="3F4750"/>
                </a:solidFill>
                <a:latin typeface="Arial" pitchFamily="34" charset="0"/>
                <a:ea typeface="Arial" pitchFamily="34" charset="-122"/>
                <a:cs typeface="Arial" pitchFamily="34" charset="-120"/>
              </a:rPr>
              <a:t>  pure, unit-tested logic: analyzer, decision engine, rounds, competencies, summary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Data</a:t>
            </a:r>
            <a:pPr indent="0" marL="0">
              <a:lnSpc>
                <a:spcPts val="1600"/>
              </a:lnSpc>
              <a:buNone/>
            </a:pPr>
            <a:r>
              <a:rPr lang="en-US" sz="1150" dirty="0">
                <a:solidFill>
                  <a:srgbClr val="3F4750"/>
                </a:solidFill>
                <a:latin typeface="Arial" pitchFamily="34" charset="0"/>
                <a:ea typeface="Arial" pitchFamily="34" charset="-122"/>
                <a:cs typeface="Arial" pitchFamily="34" charset="-120"/>
              </a:rPr>
              <a:t>  src/lib/db — the only place SQL shapes live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Operator</a:t>
            </a:r>
            <a:pPr indent="0" marL="0">
              <a:lnSpc>
                <a:spcPts val="1600"/>
              </a:lnSpc>
              <a:buNone/>
            </a:pPr>
            <a:r>
              <a:rPr lang="en-US" sz="1150" dirty="0">
                <a:solidFill>
                  <a:srgbClr val="3F4750"/>
                </a:solidFill>
                <a:latin typeface="Arial" pitchFamily="34" charset="0"/>
                <a:ea typeface="Arial" pitchFamily="34" charset="-122"/>
                <a:cs typeface="Arial" pitchFamily="34" charset="-120"/>
              </a:rPr>
              <a:t>  src/eval — CLI only, never bundled</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it is shaped this way</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Domain logic is pure</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can be tested without a network or a database. That is why there are 299 tests and no mocking framework.</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One model for every interviewer turn</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different model is a different cache, so mixing them means never reusing a prefix.</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Retrieval lives inside Postgres</a:t>
            </a:r>
            <a:pPr indent="0" marL="0">
              <a:lnSpc>
                <a:spcPts val="1600"/>
              </a:lnSpc>
              <a:buNone/>
            </a:pPr>
            <a:r>
              <a:rPr lang="en-US" sz="1150" dirty="0">
                <a:solidFill>
                  <a:srgbClr val="3F4750"/>
                </a:solidFill>
                <a:latin typeface="Arial" pitchFamily="34" charset="0"/>
                <a:ea typeface="Arial" pitchFamily="34" charset="-122"/>
                <a:cs typeface="Arial" pitchFamily="34" charset="-120"/>
              </a:rPr>
              <a:t>  pgvector rather than an external vector DB, so retrieval inherits the same row-level security as everything else.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No global state library</a:t>
            </a:r>
            <a:pPr indent="0" marL="0">
              <a:lnSpc>
                <a:spcPts val="1600"/>
              </a:lnSpc>
              <a:buNone/>
            </a:pPr>
            <a:r>
              <a:rPr lang="en-US" sz="1150" dirty="0">
                <a:solidFill>
                  <a:srgbClr val="3F4750"/>
                </a:solidFill>
                <a:latin typeface="Arial" pitchFamily="34" charset="0"/>
                <a:ea typeface="Arial" pitchFamily="34" charset="-122"/>
                <a:cs typeface="Arial" pitchFamily="34" charset="-120"/>
              </a:rPr>
              <a:t>  hook-owned state with a single owner per concern.</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B</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Data, access control and grounding</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Storage</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10 migrations</a:t>
            </a:r>
            <a:pPr indent="0" marL="0">
              <a:lnSpc>
                <a:spcPts val="1600"/>
              </a:lnSpc>
              <a:buNone/>
            </a:pPr>
            <a:r>
              <a:rPr lang="en-US" sz="1150" dirty="0">
                <a:solidFill>
                  <a:srgbClr val="3F4750"/>
                </a:solidFill>
                <a:latin typeface="Arial" pitchFamily="34" charset="0"/>
                <a:ea typeface="Arial" pitchFamily="34" charset="-122"/>
                <a:cs typeface="Arial" pitchFamily="34" charset="-120"/>
              </a:rPr>
              <a:t>  sessions, messages, personas, job descriptions, resumes, usage, coach answers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RLS on every table</a:t>
            </a:r>
            <a:pPr indent="0" marL="0">
              <a:lnSpc>
                <a:spcPts val="1600"/>
              </a:lnSpc>
              <a:buNone/>
            </a:pPr>
            <a:r>
              <a:rPr lang="en-US" sz="1150" dirty="0">
                <a:solidFill>
                  <a:srgbClr val="3F4750"/>
                </a:solidFill>
                <a:latin typeface="Arial" pitchFamily="34" charset="0"/>
                <a:ea typeface="Arial" pitchFamily="34" charset="-122"/>
                <a:cs typeface="Arial" pitchFamily="34" charset="-120"/>
              </a:rPr>
              <a:t>  user_id = auth.uid(), enforced in the database, not the application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pgvector</a:t>
            </a:r>
            <a:pPr indent="0" marL="0">
              <a:lnSpc>
                <a:spcPts val="1600"/>
              </a:lnSpc>
              <a:buNone/>
            </a:pPr>
            <a:r>
              <a:rPr lang="en-US" sz="1150" dirty="0">
                <a:solidFill>
                  <a:srgbClr val="3F4750"/>
                </a:solidFill>
                <a:latin typeface="Arial" pitchFamily="34" charset="0"/>
                <a:ea typeface="Arial" pitchFamily="34" charset="-122"/>
                <a:cs typeface="Arial" pitchFamily="34" charset="-120"/>
              </a:rPr>
              <a:t>  job description chunks — 1,200 chars with 180 overlap, embedded with text-embedding-3-small</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retrieval RPC filters on auth.uid()</a:t>
            </a:r>
            <a:pPr indent="0" marL="0">
              <a:lnSpc>
                <a:spcPts val="1600"/>
              </a:lnSpc>
              <a:buNone/>
            </a:pPr>
            <a:r>
              <a:rPr lang="en-US" sz="1150" dirty="0">
                <a:solidFill>
                  <a:srgbClr val="3F4750"/>
                </a:solidFill>
                <a:latin typeface="Arial" pitchFamily="34" charset="0"/>
                <a:ea typeface="Arial" pitchFamily="34" charset="-122"/>
                <a:cs typeface="Arial" pitchFamily="34" charset="-120"/>
              </a:rPr>
              <a:t>  inside Postgres, so a bug in application code cannot leak another user's document</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Grounding decisions</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Small job descriptions are not embedded</a:t>
            </a:r>
            <a:pPr indent="0" marL="0">
              <a:lnSpc>
                <a:spcPts val="1600"/>
              </a:lnSpc>
              <a:buNone/>
            </a:pPr>
            <a:r>
              <a:rPr lang="en-US" sz="1150" dirty="0">
                <a:solidFill>
                  <a:srgbClr val="3F4750"/>
                </a:solidFill>
                <a:latin typeface="Arial" pitchFamily="34" charset="0"/>
                <a:ea typeface="Arial" pitchFamily="34" charset="-122"/>
                <a:cs typeface="Arial" pitchFamily="34" charset="-120"/>
              </a:rPr>
              <a:t>  four chunks or fewer get inlined whole into the cacheable prefix — retrieval would cost more than it saves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retrieval query is not the raw answer</a:t>
            </a:r>
            <a:pPr indent="0" marL="0">
              <a:lnSpc>
                <a:spcPts val="1600"/>
              </a:lnSpc>
              <a:buNone/>
            </a:pPr>
            <a:r>
              <a:rPr lang="en-US" sz="1150" dirty="0">
                <a:solidFill>
                  <a:srgbClr val="3F4750"/>
                </a:solidFill>
                <a:latin typeface="Arial" pitchFamily="34" charset="0"/>
                <a:ea typeface="Arial" pitchFamily="34" charset="-122"/>
                <a:cs typeface="Arial" pitchFamily="34" charset="-120"/>
              </a:rPr>
              <a:t>  it is the previous turn's nextFocus, so retrieval follows where the interview is going</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 CV is distilled once at upload</a:t>
            </a:r>
            <a:pPr indent="0" marL="0">
              <a:lnSpc>
                <a:spcPts val="1600"/>
              </a:lnSpc>
              <a:buNone/>
            </a:pPr>
            <a:r>
              <a:rPr lang="en-US" sz="1150" dirty="0">
                <a:solidFill>
                  <a:srgbClr val="3F4750"/>
                </a:solidFill>
                <a:latin typeface="Arial" pitchFamily="34" charset="0"/>
                <a:ea typeface="Arial" pitchFamily="34" charset="-122"/>
                <a:cs typeface="Arial" pitchFamily="34" charset="-120"/>
              </a:rPr>
              <a:t>  into a compact profile, capped at 400 tokens, rather than re-read every turn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Speech keys never reach the browser</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server route mints a short-lived token</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C</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Why nationality is biography — and culture is not in the vector database</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What nationality does</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It is one adjective in one sentence of the persona's self-description, and it is read nowhere else in the codebase.</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The instruction immediately after it tells the model never to infer directness, formality, deference or expectations from it.</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A test asserts that two personas differing only in nationality produce prompts that differ by exactly the demonym.</a:t>
            </a:r>
            <a:endParaRPr lang="en-US" sz="1150" dirty="0"/>
          </a:p>
        </p:txBody>
      </p:sp>
      <p:sp>
        <p:nvSpPr>
          <p:cNvPr id="9" name="Shape 7"/>
          <p:cNvSpPr/>
          <p:nvPr/>
        </p:nvSpPr>
        <p:spPr>
          <a:xfrm>
            <a:off x="6251296" y="1627632"/>
            <a:ext cx="5373472" cy="3657600"/>
          </a:xfrm>
          <a:prstGeom prst="rect">
            <a:avLst/>
          </a:prstGeom>
          <a:solidFill>
            <a:srgbClr val="FDF4E7"/>
          </a:solidFill>
          <a:ln w="12700">
            <a:solidFill>
              <a:srgbClr val="FDF4E7"/>
            </a:solidFill>
            <a:prstDash val="solid"/>
          </a:ln>
        </p:spPr>
      </p:sp>
      <p:sp>
        <p:nvSpPr>
          <p:cNvPr id="10" name="Shape 8"/>
          <p:cNvSpPr/>
          <p:nvPr/>
        </p:nvSpPr>
        <p:spPr>
          <a:xfrm>
            <a:off x="6251296" y="1627632"/>
            <a:ext cx="50292" cy="3657600"/>
          </a:xfrm>
          <a:prstGeom prst="rect">
            <a:avLst/>
          </a:prstGeom>
          <a:solidFill>
            <a:srgbClr val="9A5B0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9A5B08"/>
                </a:solidFill>
                <a:latin typeface="Arial" pitchFamily="34" charset="0"/>
                <a:ea typeface="Arial" pitchFamily="34" charset="-122"/>
                <a:cs typeface="Arial" pitchFamily="34" charset="-120"/>
              </a:rPr>
              <a:t>Why there is no culture corpus</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is national-origin stereotyping with extra steps.</a:t>
            </a:r>
            <a:pPr indent="0" marL="0">
              <a:lnSpc>
                <a:spcPts val="1600"/>
              </a:lnSpc>
              <a:buNone/>
            </a:pPr>
            <a:r>
              <a:rPr lang="en-US" sz="1150" dirty="0">
                <a:solidFill>
                  <a:srgbClr val="3F4750"/>
                </a:solidFill>
                <a:latin typeface="Arial" pitchFamily="34" charset="0"/>
                <a:ea typeface="Arial" pitchFamily="34" charset="-122"/>
                <a:cs typeface="Arial" pitchFamily="34" charset="-120"/>
              </a:rPr>
              <a:t>  A retrieval store keyed on nationality that returns behavioural claims makes the model generate behaviour from national origin, deterministically. That is what a stereotype is.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cannot be sourced at the granularity it needs.</a:t>
            </a:r>
            <a:pPr indent="0" marL="0">
              <a:lnSpc>
                <a:spcPts val="1600"/>
              </a:lnSpc>
              <a:buNone/>
            </a:pPr>
            <a:r>
              <a:rPr lang="en-US" sz="1150" dirty="0">
                <a:solidFill>
                  <a:srgbClr val="3F4750"/>
                </a:solidFill>
                <a:latin typeface="Arial" pitchFamily="34" charset="0"/>
                <a:ea typeface="Arial" pitchFamily="34" charset="-122"/>
                <a:cs typeface="Arial" pitchFamily="34" charset="-120"/>
              </a:rPr>
              <a:t>  Hofstede and GLOBE are national aggregates whose own authors warn against applying them to individuals — the ecological fallacy.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It is not needed.</a:t>
            </a:r>
            <a:pPr indent="0" marL="0">
              <a:lnSpc>
                <a:spcPts val="1600"/>
              </a:lnSpc>
              <a:buNone/>
            </a:pPr>
            <a:r>
              <a:rPr lang="en-US" sz="1150" dirty="0">
                <a:solidFill>
                  <a:srgbClr val="3F4750"/>
                </a:solidFill>
                <a:latin typeface="Arial" pitchFamily="34" charset="0"/>
                <a:ea typeface="Arial" pitchFamily="34" charset="-122"/>
                <a:cs typeface="Arial" pitchFamily="34" charset="-120"/>
              </a:rPr>
              <a:t>  Strictness, warmth, pace and pushback are explicit and measurable. They make the claim falsifiable; nationality would make it arguable.</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D</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Two design decisions worth defending</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scoring ignores the persona</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The analyzer takes no persona argument at all, and its cache key is keyed only on round type.</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A strict interviewer and a warm one score the same answer identically.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Why:</a:t>
            </a:r>
            <a:pPr indent="0" marL="0">
              <a:lnSpc>
                <a:spcPts val="1600"/>
              </a:lnSpc>
              <a:buNone/>
            </a:pPr>
            <a:r>
              <a:rPr lang="en-US" sz="1150" dirty="0">
                <a:solidFill>
                  <a:srgbClr val="3F4750"/>
                </a:solidFill>
                <a:latin typeface="Arial" pitchFamily="34" charset="0"/>
                <a:ea typeface="Arial" pitchFamily="34" charset="-122"/>
                <a:cs typeface="Arial" pitchFamily="34" charset="-120"/>
              </a:rPr>
              <a:t>  grading should not depend on who asked. An answer is worth what it is worth. The persona controls what gets probed next and how hard — which is where interviewer variation belongs.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Side benefit:</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analyzer's prompt prefix is then shared across all users, which is the one place caching has a real chance of firing.</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Why the question bank is not in the vector database</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Retrieval saves tokens when it replaces stuffing a large corpus into the prompt. That is exactly why it is used for job descriptions, which run to 30,000 characters.</a:t>
            </a:r>
            <a:endParaRPr lang="en-US" sz="1150" dirty="0"/>
          </a:p>
          <a:p>
            <a:pPr indent="0" marL="0">
              <a:lnSpc>
                <a:spcPts val="1600"/>
              </a:lnSpc>
              <a:buNone/>
            </a:pPr>
            <a:endParaRPr lang="en-US" sz="1150" dirty="0"/>
          </a:p>
          <a:p>
            <a:pPr indent="0" marL="0">
              <a:lnSpc>
                <a:spcPts val="1600"/>
              </a:lnSpc>
              <a:buNone/>
            </a:pPr>
            <a:r>
              <a:rPr lang="en-US" sz="1150" dirty="0">
                <a:solidFill>
                  <a:srgbClr val="3F4750"/>
                </a:solidFill>
                <a:latin typeface="Arial" pitchFamily="34" charset="0"/>
                <a:ea typeface="Arial" pitchFamily="34" charset="-122"/>
                <a:cs typeface="Arial" pitchFamily="34" charset="-120"/>
              </a:rPr>
              <a:t>The interviewer prompt has no question corpus to slim down — questions are generated, not looked up.</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whole 39-question bank is about 800 tokens.</a:t>
            </a:r>
            <a:pPr indent="0" marL="0">
              <a:lnSpc>
                <a:spcPts val="1600"/>
              </a:lnSpc>
              <a:buNone/>
            </a:pPr>
            <a:r>
              <a:rPr lang="en-US" sz="1150" dirty="0">
                <a:solidFill>
                  <a:srgbClr val="3F4750"/>
                </a:solidFill>
                <a:latin typeface="Arial" pitchFamily="34" charset="0"/>
                <a:ea typeface="Arial" pitchFamily="34" charset="-122"/>
                <a:cs typeface="Arial" pitchFamily="34" charset="-120"/>
              </a:rPr>
              <a:t>  Retrieval would add 60–150 input tokens per turn plus an embedding call. The corpus is smaller than the machinery needed to search it.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Honest caveat:</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there is a legitimate quality argument for a curated bank. There is no cost argument.</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E</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Testing, CI, and a lint rule used as an architectural boundary</a:t>
            </a:r>
            <a:endParaRPr lang="en-US" sz="3000" dirty="0"/>
          </a:p>
        </p:txBody>
      </p:sp>
      <p:sp>
        <p:nvSpPr>
          <p:cNvPr id="5" name="Shape 3"/>
          <p:cNvSpPr/>
          <p:nvPr/>
        </p:nvSpPr>
        <p:spPr>
          <a:xfrm>
            <a:off x="566928" y="1627632"/>
            <a:ext cx="5373472" cy="3657600"/>
          </a:xfrm>
          <a:prstGeom prst="rect">
            <a:avLst/>
          </a:prstGeom>
          <a:solidFill>
            <a:srgbClr val="EAF5EE"/>
          </a:solidFill>
          <a:ln w="12700">
            <a:solidFill>
              <a:srgbClr val="EAF5EE"/>
            </a:solidFill>
            <a:prstDash val="solid"/>
          </a:ln>
        </p:spPr>
      </p:sp>
      <p:sp>
        <p:nvSpPr>
          <p:cNvPr id="6" name="Shape 4"/>
          <p:cNvSpPr/>
          <p:nvPr/>
        </p:nvSpPr>
        <p:spPr>
          <a:xfrm>
            <a:off x="566928" y="1627632"/>
            <a:ext cx="50292" cy="3657600"/>
          </a:xfrm>
          <a:prstGeom prst="rect">
            <a:avLst/>
          </a:prstGeom>
          <a:solidFill>
            <a:srgbClr val="15803D"/>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5803D"/>
                </a:solidFill>
                <a:latin typeface="Arial" pitchFamily="34" charset="0"/>
                <a:ea typeface="Arial" pitchFamily="34" charset="-122"/>
                <a:cs typeface="Arial" pitchFamily="34" charset="-120"/>
              </a:rPr>
              <a:t>What is tested</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299 tests, 31 files, all passing.</a:t>
            </a:r>
            <a:pPr indent="0" marL="0">
              <a:lnSpc>
                <a:spcPts val="1600"/>
              </a:lnSpc>
              <a:buNone/>
            </a:pPr>
            <a:r>
              <a:rPr lang="en-US" sz="1150" dirty="0">
                <a:solidFill>
                  <a:srgbClr val="3F4750"/>
                </a:solidFill>
                <a:latin typeface="Arial" pitchFamily="34" charset="0"/>
                <a:ea typeface="Arial" pitchFamily="34" charset="-122"/>
                <a:cs typeface="Arial" pitchFamily="34" charset="-120"/>
              </a:rPr>
              <a:t>  Pure logic plus route handlers — the route tests cover authentication, input bounds and the prompt trust boundary.</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No network in the test suite.</a:t>
            </a:r>
            <a:pPr indent="0" marL="0">
              <a:lnSpc>
                <a:spcPts val="1600"/>
              </a:lnSpc>
              <a:buNone/>
            </a:pPr>
            <a:r>
              <a:rPr lang="en-US" sz="1150" dirty="0">
                <a:solidFill>
                  <a:srgbClr val="3F4750"/>
                </a:solidFill>
                <a:latin typeface="Arial" pitchFamily="34" charset="0"/>
                <a:ea typeface="Arial" pitchFamily="34" charset="-122"/>
                <a:cs typeface="Arial" pitchFamily="34" charset="-120"/>
              </a:rPr>
              <a:t>  Domain logic was kept pure specifically so this would be possible.</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speech queue test fakes the Azure SDK contract</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a regression that stops calling close() fails in CI the same way it failed in the browser.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CI runs typecheck, lint and tests</a:t>
            </a:r>
            <a:pPr indent="0" marL="0">
              <a:lnSpc>
                <a:spcPts val="1600"/>
              </a:lnSpc>
              <a:buNone/>
            </a:pPr>
            <a:r>
              <a:rPr lang="en-US" sz="1150" dirty="0">
                <a:solidFill>
                  <a:srgbClr val="3F4750"/>
                </a:solidFill>
                <a:latin typeface="Arial" pitchFamily="34" charset="0"/>
                <a:ea typeface="Arial" pitchFamily="34" charset="-122"/>
                <a:cs typeface="Arial" pitchFamily="34" charset="-120"/>
              </a:rPr>
              <a:t>  on every push and pull request.</a:t>
            </a:r>
            <a:endParaRPr lang="en-US" sz="1150" dirty="0"/>
          </a:p>
        </p:txBody>
      </p:sp>
      <p:sp>
        <p:nvSpPr>
          <p:cNvPr id="9" name="Shape 7"/>
          <p:cNvSpPr/>
          <p:nvPr/>
        </p:nvSpPr>
        <p:spPr>
          <a:xfrm>
            <a:off x="6251296" y="1627632"/>
            <a:ext cx="5373472" cy="3657600"/>
          </a:xfrm>
          <a:prstGeom prst="rect">
            <a:avLst/>
          </a:prstGeom>
          <a:solidFill>
            <a:srgbClr val="EAF0FE"/>
          </a:solidFill>
          <a:ln w="12700">
            <a:solidFill>
              <a:srgbClr val="EAF0FE"/>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D4ED8"/>
                </a:solidFill>
                <a:latin typeface="Arial" pitchFamily="34" charset="0"/>
                <a:ea typeface="Arial" pitchFamily="34" charset="-122"/>
                <a:cs typeface="Arial" pitchFamily="34" charset="-120"/>
              </a:rPr>
              <a:t>The boundary that is actually enforced</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dirty="0">
                <a:solidFill>
                  <a:srgbClr val="3F4750"/>
                </a:solidFill>
                <a:latin typeface="Arial" pitchFamily="34" charset="0"/>
                <a:ea typeface="Arial" pitchFamily="34" charset="-122"/>
                <a:cs typeface="Arial" pitchFamily="34" charset="-120"/>
              </a:rPr>
              <a:t>The developer tooling — the eval harnesses, the cost report, the OpenAI rate card — must never be bundled into the browser.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An ESLint rule forbids it.</a:t>
            </a:r>
            <a:pPr indent="0" marL="0">
              <a:lnSpc>
                <a:spcPts val="1600"/>
              </a:lnSpc>
              <a:buNone/>
            </a:pPr>
            <a:r>
              <a:rPr lang="en-US" sz="1150" dirty="0">
                <a:solidFill>
                  <a:srgbClr val="3F4750"/>
                </a:solidFill>
                <a:latin typeface="Arial" pitchFamily="34" charset="0"/>
                <a:ea typeface="Arial" pitchFamily="34" charset="-122"/>
                <a:cs typeface="Arial" pitchFamily="34" charset="-120"/>
              </a:rPr>
              <a:t>  Application code may not import the eval directory, the pricing table, or the test support helpers. A future mistake fails CI instead of silently shipping the price list to every user.</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The service-role key has no NEXT_PUBLIC_ prefix,</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evaluates to undefined in a browser even if it were imported by accident.</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Stated plainly:</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absence of a user interface is not access control. The enforced boundaries are the import graph, the key naming, and RLS.</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13</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20624"/>
            <a:ext cx="128016" cy="128016"/>
          </a:xfrm>
          <a:prstGeom prst="rect">
            <a:avLst/>
          </a:prstGeom>
          <a:solidFill>
            <a:srgbClr val="1D4ED8"/>
          </a:solidFill>
          <a:ln/>
        </p:spPr>
      </p:sp>
      <p:sp>
        <p:nvSpPr>
          <p:cNvPr id="3" name="Text 1"/>
          <p:cNvSpPr/>
          <p:nvPr/>
        </p:nvSpPr>
        <p:spPr>
          <a:xfrm>
            <a:off x="804672" y="365760"/>
            <a:ext cx="10820095" cy="237744"/>
          </a:xfrm>
          <a:prstGeom prst="rect">
            <a:avLst/>
          </a:prstGeom>
          <a:noFill/>
          <a:ln/>
        </p:spPr>
        <p:txBody>
          <a:bodyPr wrap="square" rtlCol="0" anchor="ctr"/>
          <a:lstStyle/>
          <a:p>
            <a:pPr indent="0" marL="0">
              <a:buNone/>
            </a:pPr>
            <a:r>
              <a:rPr lang="en-US" sz="1100" b="1" spc="160" kern="0" dirty="0">
                <a:solidFill>
                  <a:srgbClr val="1D4ED8"/>
                </a:solidFill>
                <a:latin typeface="Arial" pitchFamily="34" charset="0"/>
                <a:ea typeface="Arial" pitchFamily="34" charset="-122"/>
                <a:cs typeface="Arial" pitchFamily="34" charset="-120"/>
              </a:rPr>
              <a:t>APPENDIX F</a:t>
            </a:r>
            <a:endParaRPr lang="en-US" sz="1100" dirty="0"/>
          </a:p>
        </p:txBody>
      </p:sp>
      <p:sp>
        <p:nvSpPr>
          <p:cNvPr id="4" name="Text 2"/>
          <p:cNvSpPr/>
          <p:nvPr/>
        </p:nvSpPr>
        <p:spPr>
          <a:xfrm>
            <a:off x="566928" y="694944"/>
            <a:ext cx="11057839" cy="566928"/>
          </a:xfrm>
          <a:prstGeom prst="rect">
            <a:avLst/>
          </a:prstGeom>
          <a:noFill/>
          <a:ln/>
        </p:spPr>
        <p:txBody>
          <a:bodyPr wrap="square" rtlCol="0" anchor="ctr"/>
          <a:lstStyle/>
          <a:p>
            <a:pPr indent="0" marL="0">
              <a:buNone/>
            </a:pPr>
            <a:r>
              <a:rPr lang="en-US" sz="3000" b="1" dirty="0">
                <a:solidFill>
                  <a:srgbClr val="14161A"/>
                </a:solidFill>
                <a:latin typeface="Arial" pitchFamily="34" charset="0"/>
                <a:ea typeface="Arial" pitchFamily="34" charset="-122"/>
                <a:cs typeface="Arial" pitchFamily="34" charset="-120"/>
              </a:rPr>
              <a:t>What I would do next</a:t>
            </a:r>
            <a:endParaRPr lang="en-US" sz="3000" dirty="0"/>
          </a:p>
        </p:txBody>
      </p:sp>
      <p:sp>
        <p:nvSpPr>
          <p:cNvPr id="5" name="Shape 3"/>
          <p:cNvSpPr/>
          <p:nvPr/>
        </p:nvSpPr>
        <p:spPr>
          <a:xfrm>
            <a:off x="566928" y="1627632"/>
            <a:ext cx="5373472" cy="3657600"/>
          </a:xfrm>
          <a:prstGeom prst="rect">
            <a:avLst/>
          </a:prstGeom>
          <a:solidFill>
            <a:srgbClr val="F5F7FA"/>
          </a:solidFill>
          <a:ln w="12700">
            <a:solidFill>
              <a:srgbClr val="F5F7FA"/>
            </a:solidFill>
            <a:prstDash val="solid"/>
          </a:ln>
        </p:spPr>
      </p:sp>
      <p:sp>
        <p:nvSpPr>
          <p:cNvPr id="6" name="Shape 4"/>
          <p:cNvSpPr/>
          <p:nvPr/>
        </p:nvSpPr>
        <p:spPr>
          <a:xfrm>
            <a:off x="566928" y="1627632"/>
            <a:ext cx="50292" cy="3657600"/>
          </a:xfrm>
          <a:prstGeom prst="rect">
            <a:avLst/>
          </a:prstGeom>
          <a:solidFill>
            <a:srgbClr val="1D4ED8"/>
          </a:solidFill>
          <a:ln w="12700">
            <a:solidFill>
              <a:srgbClr val="333333"/>
            </a:solidFill>
            <a:prstDash val="solid"/>
          </a:ln>
        </p:spPr>
      </p:sp>
      <p:sp>
        <p:nvSpPr>
          <p:cNvPr id="7" name="Text 5"/>
          <p:cNvSpPr/>
          <p:nvPr/>
        </p:nvSpPr>
        <p:spPr>
          <a:xfrm>
            <a:off x="841248"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Immediately</a:t>
            </a:r>
            <a:endParaRPr lang="en-US" sz="1400" dirty="0"/>
          </a:p>
        </p:txBody>
      </p:sp>
      <p:sp>
        <p:nvSpPr>
          <p:cNvPr id="8" name="Text 6"/>
          <p:cNvSpPr/>
          <p:nvPr/>
        </p:nvSpPr>
        <p:spPr>
          <a:xfrm>
            <a:off x="841248"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scoring evaluation.</a:t>
            </a:r>
            <a:pPr indent="0" marL="0">
              <a:lnSpc>
                <a:spcPts val="1600"/>
              </a:lnSpc>
              <a:buNone/>
            </a:pPr>
            <a:r>
              <a:rPr lang="en-US" sz="1150" dirty="0">
                <a:solidFill>
                  <a:srgbClr val="3F4750"/>
                </a:solidFill>
                <a:latin typeface="Arial" pitchFamily="34" charset="0"/>
                <a:ea typeface="Arial" pitchFamily="34" charset="-122"/>
                <a:cs typeface="Arial" pitchFamily="34" charset="-120"/>
              </a:rPr>
              <a:t>  The harness, the fixtures and the metrics exist. It costs money to run, which is the only reason it has not been.</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UAT.</a:t>
            </a:r>
            <a:pPr indent="0" marL="0">
              <a:lnSpc>
                <a:spcPts val="1600"/>
              </a:lnSpc>
              <a:buNone/>
            </a:pPr>
            <a:r>
              <a:rPr lang="en-US" sz="1150" dirty="0">
                <a:solidFill>
                  <a:srgbClr val="3F4750"/>
                </a:solidFill>
                <a:latin typeface="Arial" pitchFamily="34" charset="0"/>
                <a:ea typeface="Arial" pitchFamily="34" charset="-122"/>
                <a:cs typeface="Arial" pitchFamily="34" charset="-120"/>
              </a:rPr>
              <a:t>  Plan, tester handout and exit criteria are written; it needs at least two non-developer testers to complete a full interview unaided.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Run the blind-judge arm of the persona evaluation</a:t>
            </a:r>
            <a:pPr indent="0" marL="0">
              <a:lnSpc>
                <a:spcPts val="1600"/>
              </a:lnSpc>
              <a:buNone/>
            </a:pPr>
            <a:r>
              <a:rPr lang="en-US" sz="1150" dirty="0">
                <a:solidFill>
                  <a:srgbClr val="3F4750"/>
                </a:solidFill>
                <a:latin typeface="Arial" pitchFamily="34" charset="0"/>
                <a:ea typeface="Arial" pitchFamily="34" charset="-122"/>
                <a:cs typeface="Arial" pitchFamily="34" charset="-120"/>
              </a:rPr>
              <a:t>  to measure the textual path, which cannot be proved by inspection.</a:t>
            </a:r>
            <a:endParaRPr lang="en-US" sz="1150" dirty="0"/>
          </a:p>
        </p:txBody>
      </p:sp>
      <p:sp>
        <p:nvSpPr>
          <p:cNvPr id="9" name="Shape 7"/>
          <p:cNvSpPr/>
          <p:nvPr/>
        </p:nvSpPr>
        <p:spPr>
          <a:xfrm>
            <a:off x="6251296" y="1627632"/>
            <a:ext cx="5373472" cy="3657600"/>
          </a:xfrm>
          <a:prstGeom prst="rect">
            <a:avLst/>
          </a:prstGeom>
          <a:solidFill>
            <a:srgbClr val="F5F7FA"/>
          </a:solidFill>
          <a:ln w="12700">
            <a:solidFill>
              <a:srgbClr val="F5F7FA"/>
            </a:solidFill>
            <a:prstDash val="solid"/>
          </a:ln>
        </p:spPr>
      </p:sp>
      <p:sp>
        <p:nvSpPr>
          <p:cNvPr id="10" name="Shape 8"/>
          <p:cNvSpPr/>
          <p:nvPr/>
        </p:nvSpPr>
        <p:spPr>
          <a:xfrm>
            <a:off x="6251296" y="1627632"/>
            <a:ext cx="50292" cy="3657600"/>
          </a:xfrm>
          <a:prstGeom prst="rect">
            <a:avLst/>
          </a:prstGeom>
          <a:solidFill>
            <a:srgbClr val="1D4ED8"/>
          </a:solidFill>
          <a:ln w="12700">
            <a:solidFill>
              <a:srgbClr val="333333"/>
            </a:solidFill>
            <a:prstDash val="solid"/>
          </a:ln>
        </p:spPr>
      </p:sp>
      <p:sp>
        <p:nvSpPr>
          <p:cNvPr id="11" name="Text 9"/>
          <p:cNvSpPr/>
          <p:nvPr/>
        </p:nvSpPr>
        <p:spPr>
          <a:xfrm>
            <a:off x="6525616" y="1755648"/>
            <a:ext cx="4916272" cy="310896"/>
          </a:xfrm>
          <a:prstGeom prst="rect">
            <a:avLst/>
          </a:prstGeom>
          <a:noFill/>
          <a:ln/>
        </p:spPr>
        <p:txBody>
          <a:bodyPr wrap="square" rtlCol="0" anchor="ctr"/>
          <a:lstStyle/>
          <a:p>
            <a:pPr indent="0" marL="0">
              <a:buNone/>
            </a:pPr>
            <a:r>
              <a:rPr lang="en-US" sz="1400" b="1" dirty="0">
                <a:solidFill>
                  <a:srgbClr val="14161A"/>
                </a:solidFill>
                <a:latin typeface="Arial" pitchFamily="34" charset="0"/>
                <a:ea typeface="Arial" pitchFamily="34" charset="-122"/>
                <a:cs typeface="Arial" pitchFamily="34" charset="-120"/>
              </a:rPr>
              <a:t>Then</a:t>
            </a:r>
            <a:endParaRPr lang="en-US" sz="1400" dirty="0"/>
          </a:p>
        </p:txBody>
      </p:sp>
      <p:sp>
        <p:nvSpPr>
          <p:cNvPr id="12" name="Text 10"/>
          <p:cNvSpPr/>
          <p:nvPr/>
        </p:nvSpPr>
        <p:spPr>
          <a:xfrm>
            <a:off x="6525616" y="2139696"/>
            <a:ext cx="4916272" cy="3054096"/>
          </a:xfrm>
          <a:prstGeom prst="rect">
            <a:avLst/>
          </a:prstGeom>
          <a:noFill/>
          <a:ln/>
        </p:spPr>
        <p:txBody>
          <a:bodyPr wrap="square" rtlCol="0" anchor="t"/>
          <a:lstStyle/>
          <a:p>
            <a:pPr indent="0" marL="0">
              <a:lnSpc>
                <a:spcPts val="1600"/>
              </a:lnSpc>
              <a:buNone/>
            </a:pPr>
            <a:r>
              <a:rPr lang="en-US" sz="1150" b="1" dirty="0">
                <a:solidFill>
                  <a:srgbClr val="14161A"/>
                </a:solidFill>
                <a:latin typeface="Arial" pitchFamily="34" charset="0"/>
                <a:ea typeface="Arial" pitchFamily="34" charset="-122"/>
                <a:cs typeface="Arial" pitchFamily="34" charset="-120"/>
              </a:rPr>
              <a:t>Move the rate limiter out of process</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it is correct across serverless instances.</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Add a content security policy</a:t>
            </a:r>
            <a:pPr indent="0" marL="0">
              <a:lnSpc>
                <a:spcPts val="1600"/>
              </a:lnSpc>
              <a:buNone/>
            </a:pPr>
            <a:r>
              <a:rPr lang="en-US" sz="1150" dirty="0">
                <a:solidFill>
                  <a:srgbClr val="3F4750"/>
                </a:solidFill>
                <a:latin typeface="Arial" pitchFamily="34" charset="0"/>
                <a:ea typeface="Arial" pitchFamily="34" charset="-122"/>
                <a:cs typeface="Arial" pitchFamily="34" charset="-120"/>
              </a:rPr>
              <a:t>  once the speech websocket origins are inventoried.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Write usage rows with a service-role path</a:t>
            </a:r>
            <a:pPr indent="0" marL="0">
              <a:lnSpc>
                <a:spcPts val="1600"/>
              </a:lnSpc>
              <a:buNone/>
            </a:pPr>
            <a:r>
              <a:rPr lang="en-US" sz="1150" dirty="0">
                <a:solidFill>
                  <a:srgbClr val="3F4750"/>
                </a:solidFill>
                <a:latin typeface="Arial" pitchFamily="34" charset="0"/>
                <a:ea typeface="Arial" pitchFamily="34" charset="-122"/>
                <a:cs typeface="Arial" pitchFamily="34" charset="-120"/>
              </a:rPr>
              <a:t>  so the grant to authenticated users can be revoked.</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Interview conventions by market</a:t>
            </a:r>
            <a:pPr indent="0" marL="0">
              <a:lnSpc>
                <a:spcPts val="1600"/>
              </a:lnSpc>
              <a:buNone/>
            </a:pPr>
            <a:r>
              <a:rPr lang="en-US" sz="1150" dirty="0">
                <a:solidFill>
                  <a:srgbClr val="3F4750"/>
                </a:solidFill>
                <a:latin typeface="Arial" pitchFamily="34" charset="0"/>
                <a:ea typeface="Arial" pitchFamily="34" charset="-122"/>
                <a:cs typeface="Arial" pitchFamily="34" charset="-120"/>
              </a:rPr>
              <a:t>  — process, not people — as the defensible version of the cultural-context idea.</a:t>
            </a:r>
            <a:endParaRPr lang="en-US" sz="1150" dirty="0"/>
          </a:p>
          <a:p>
            <a:pPr indent="0" marL="0">
              <a:lnSpc>
                <a:spcPts val="1600"/>
              </a:lnSpc>
              <a:buNone/>
            </a:pPr>
            <a:endParaRPr lang="en-US" sz="1150" dirty="0"/>
          </a:p>
          <a:p>
            <a:pPr indent="0" marL="0">
              <a:lnSpc>
                <a:spcPts val="1600"/>
              </a:lnSpc>
              <a:buNone/>
            </a:pPr>
            <a:r>
              <a:rPr lang="en-US" sz="1150" b="1" dirty="0">
                <a:solidFill>
                  <a:srgbClr val="14161A"/>
                </a:solidFill>
                <a:latin typeface="Arial" pitchFamily="34" charset="0"/>
                <a:ea typeface="Arial" pitchFamily="34" charset="-122"/>
                <a:cs typeface="Arial" pitchFamily="34" charset="-120"/>
              </a:rPr>
              <a:t>Persist the delivery metrics</a:t>
            </a:r>
            <a:pPr indent="0" marL="0">
              <a:lnSpc>
                <a:spcPts val="1600"/>
              </a:lnSpc>
              <a:buNone/>
            </a:pPr>
            <a:r>
              <a:rPr lang="en-US" sz="1150" dirty="0">
                <a:solidFill>
                  <a:srgbClr val="3F4750"/>
                </a:solidFill>
                <a:latin typeface="Arial" pitchFamily="34" charset="0"/>
                <a:ea typeface="Arial" pitchFamily="34" charset="-122"/>
                <a:cs typeface="Arial" pitchFamily="34" charset="-120"/>
              </a:rPr>
              <a:t>  already computed during voice rounds into the report.</a:t>
            </a:r>
            <a:endParaRPr lang="en-US" sz="1150" dirty="0"/>
          </a:p>
        </p:txBody>
      </p:sp>
      <p:sp>
        <p:nvSpPr>
          <p:cNvPr id="14" name="Text 11"/>
          <p:cNvSpPr/>
          <p:nvPr/>
        </p:nvSpPr>
        <p:spPr>
          <a:xfrm>
            <a:off x="566928" y="6382512"/>
            <a:ext cx="5486400" cy="274320"/>
          </a:xfrm>
          <a:prstGeom prst="rect">
            <a:avLst/>
          </a:prstGeom>
          <a:noFill/>
          <a:ln/>
        </p:spPr>
        <p:txBody>
          <a:bodyPr wrap="square" rtlCol="0" anchor="ctr"/>
          <a:lstStyle/>
          <a:p>
            <a:pPr indent="0" marL="0">
              <a:buNone/>
            </a:pPr>
            <a:r>
              <a:rPr lang="en-US" sz="1000" dirty="0">
                <a:solidFill>
                  <a:srgbClr val="7A8593"/>
                </a:solidFill>
                <a:latin typeface="Arial" pitchFamily="34" charset="0"/>
                <a:ea typeface="Arial" pitchFamily="34" charset="-122"/>
                <a:cs typeface="Arial" pitchFamily="34" charset="-120"/>
              </a:rPr>
              <a:t>ConvoTrainer  ·  Final Year Project</a:t>
            </a:r>
            <a:endParaRPr lang="en-US" sz="1000" dirty="0"/>
          </a:p>
        </p:txBody>
      </p:sp>
      <p:sp>
        <p:nvSpPr>
          <p:cNvPr id="15" name="Text 12"/>
          <p:cNvSpPr/>
          <p:nvPr/>
        </p:nvSpPr>
        <p:spPr>
          <a:xfrm>
            <a:off x="10710367" y="6382512"/>
            <a:ext cx="914400" cy="274320"/>
          </a:xfrm>
          <a:prstGeom prst="rect">
            <a:avLst/>
          </a:prstGeom>
          <a:noFill/>
          <a:ln/>
        </p:spPr>
        <p:txBody>
          <a:bodyPr wrap="square" rtlCol="0" anchor="ctr"/>
          <a:lstStyle/>
          <a:p>
            <a:pPr algn="r" indent="0" marL="0">
              <a:buNone/>
            </a:pPr>
            <a:r>
              <a:rPr lang="en-US" sz="1000" dirty="0">
                <a:solidFill>
                  <a:srgbClr val="7A8593"/>
                </a:solidFill>
                <a:latin typeface="Arial" pitchFamily="34" charset="0"/>
                <a:ea typeface="Arial" pitchFamily="34" charset="-122"/>
                <a:cs typeface="Arial"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ConvoTrainer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ConvoTrainer — FYP Demo</dc:title>
  <dc:subject>PptxGenJS Presentation</dc:subject>
  <dc:creator>Dylan Tan</dc:creator>
  <cp:lastModifiedBy>Dylan Tan</cp:lastModifiedBy>
  <cp:revision>1</cp:revision>
  <dcterms:created xsi:type="dcterms:W3CDTF">2026-08-10T14:23:00Z</dcterms:created>
  <dcterms:modified xsi:type="dcterms:W3CDTF">2026-08-10T14:23:00Z</dcterms:modified>
</cp:coreProperties>
</file>