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~198 words
Good morning. My final year project is called ConvoTrainer. It's a website
where you practise job interviews against an AI interviewer.
Why it exists: there are three ways to practise today, and all three have the
same hole. A list of practice questions asks the same things in the same
order, whatever you say. A real person reacts perfectly, but isn't available
at eleven at night. A chatbot will play along, but won't mark you or push back
when your answer is weak.
None of them connect how you answered to what you get asked next. Closing that
gap is the project.
So you tell it what job you're going for, and you can attach the real job
advert and your resume. You choose the kind of round, set what the interviewer
is like, and start. There are six kinds of round, and each is marked
differently — a coding answer isn't judged the way a "tell me about a time"
answer is. You can type or speak. At the end you get a report with a score,
feedback on every answer, and a better version of each one.
The next four slides are how that works underneath.
FILL IN before presenting: your supervisor's name and the date.
SHORT VERSION: "Practice question lists don't react to you, a real person can't be on call, and a chatbot won't mark you. This marks every answer and uses the mark to pick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  ~235 words  ★
Here's the core idea, and it's the one thing I'd like to land.
Four steps. You answer. The system marks that answer. It uses the mark to
decide what to ask next. Then it asks the follow-up.
The example at the bottom is a real question and answer from my test set.
Asked about a project with an unrealistic deadline, the candidate says: "We
had a launch date that was pretty tight. I worked with the team and we managed
to get most of it done on time."
A human interviewer would spot two things straight away. There's nothing
concrete — no dates, no numbers. And it's "we" all the way through, so you
can't tell what this person actually did.
That's exactly what the system checks for. So instead of moving on, the
follow-up presses for what they personally did.
Why mark it first, rather than at the end? Because a score that only turns up
at the end can't change the interview. Marking first is the whole reason the
questions react to you instead of running down a list.
And one word I want to be careful with: this isn't an AI agent. The AI writes
the questions and marks the answers, but it doesn't decide what happens next.
My code does. That's on purpose — it means the same answer leads to the same
decision every time, and I can test it.
KEY SLIDE — this is the whole idea.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  ~263 words
What it's built from. Four parts.
The AI that asks and marks: a model from OpenAI called GPT-4o-mini. One model
does all of it — asking, marking, writing feedback. Answers appear a word at a
time rather than after a long pause.
Speech: a service from Microsoft called Azure Speech. It turns what you say
into text while you're still talking, and reads the questions out in a natural
voice. The password for that service never reaches the browser — the page asks
my server for a short-lived pass instead.
Your documents: attach a job advert and it gets split into small pieces and
stored so the system can search it by meaning rather than by exact words. So
when it needs the part about required experience, it finds it even if that
phrase was never used. Short documents skip the search and go in whole,
because searching would cost more than it saves.
Storage: a database service called Supabase. Every record is locked to the
person it belongs to, and the database enforces that rather than my code
remembering to check.
That last point is the decision I'd defend hardest. The document search runs
inside that same database, so it's covered by the same lock. A separate search
product would have been a second place to get security right, and a second
place to get it wrong.
On progress: every time I change the code, an automatic check runs the tests
and builds the whole site. I haven't put it online yet — it runs on my machine
against the real services.
The stack slide. Keep it moving — the detail is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[4:38]  ~279 words  ★
This slide is about cost, because running an AI on every answer isn't free.
AI services charge by the amount of text, not per request. Rather than
estimate that, I record every call the moment it happens, and a small tool
adds it up and prices it. So when I tell you what a session costs, that's
something I can look up in front of you rather than a figure I worked out on
paper.
Once I could see where the money was going, some things were obvious to cut.
If you type "ok", there's nothing to mark. Anything that's just counting — how
many words, how often you hedged — is counted by ordinary code, because
counting isn't judgement and the AI charges for it. And feedback that's
already been written is reused rather than bought twice.
Then the result I didn't expect. OpenAI will charge half price for the opening
part of your instructions if it's identical every time — but only once that
part reaches one thousand and twenty-four tokens. That threshold is theirs,
not mine. So I arranged my instructions with the unchanging part first, to
qualify. Then I checked: mine comes to about five hundred and ninety. Too
short. The discount never applies.
I kept the arrangement, because it costs nothing and it does start working
once you attach a job advert — which is when there's enough text for it to
matter. But the tool reports that it didn't apply, in plain words, rather than
showing a saving I'm not getting.
So the claim isn't that this is cheap. It's that it's measured — including the
improvement that turned out not to work.
KEY SLIDE — the surprise result is the point, not an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~322 words  ★
Last slide: what's going on inside the marking and the question-picking, and
what you get to change.
Marking first. There's a different checklist for each kind of round. For a
"tell me about a time" question it checks whether you set the scene, said what
you personally did, and said how it turned out. For a coding question, whether
the answer is correct, whether it's efficient, and whether you handled the
awkward cases. And the marking never knows who asked — a tough interviewer and
a friendly one give the same answer the same mark, because your answer is
worth what it's worth.
Picking the next question is a list of rules over that mark, and the first one
that fits wins. No scene set, it asks you to start again with the background.
Nothing concrete, it asks for specifics. You said "we", it asks what you did.
Same tactic twice, it gets harder. It's also told what it has already asked,
so it doesn't repeat itself.
Now, do the settings on the right actually do anything? Here's the result I'd
like you to remember.
Take the same question and the same answer, and change nothing but the
interviewer. A strict one aims at seven out of ten for the next question. A
warm one aims at five. Same input, different interviewer, genuinely different
follow-up.
And that isn't the AI being moody. It's a sum: your score sets a starting
point, and the interviewer's strictness minus their warmth shifts it up or
down. You could do it on paper and get those same two numbers every time.
That's the trade I made. You set up the interview — the rounds, the
interviewer, your documents. You don't change the marking rules underneath;
those are fixed numbers in the code. And fixing them is exactly why the same
answer gets the same mark twice, and why I can test each rule on its own.
KEY SLIDE — the 5-versus-7 result is the thing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asked to expand on slide 4. The point to land: domain logic is pure and therefore testable, and retrieval was kept in Postgres so it inherits 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questions about the database, security, or RAG. Strongest line: retrieval is filtered by auth.uid() inside Postgres, so it is covered by the same rule as every other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It is a design decision, not an omission.
If asked what you would do instead: interview CONVENTIONS by market — competency frameworks, self-introduction openers, whether case rounds are used — keyed off the job description and cited to hiring guides. About process, not people. Defensible and sourceable. Scoped out deliberately, not overlooked.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questions most likely to come back after slide 5 and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answer to 'how do you know it works?' and to any question about developer tooling being reachable by end users.
On usage data: an earlier version let a signed-in user insert forged usage rows, because recording ran under their own session. That is now closed — usage is written server-side and attributed to the authenticated user, and the client no longer holds the insert grant. A user can still read their own token counts if they go looking; they cannot read anyone else's, cannot modify any, and cannot derive cost, because the price table is never sent 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ready for 'what's left?' — answering with a prioritised list, where the top item is 'run the measurement I already built', is much stronger than a feature wishlist.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D4ED8"/>
          </a:solidFill>
          <a:ln/>
        </p:spPr>
      </p:sp>
      <p:sp>
        <p:nvSpPr>
          <p:cNvPr id="3" name="Text 1"/>
          <p:cNvSpPr/>
          <p:nvPr/>
        </p:nvSpPr>
        <p:spPr>
          <a:xfrm>
            <a:off x="786384" y="347472"/>
            <a:ext cx="11057839" cy="256032"/>
          </a:xfrm>
          <a:prstGeom prst="rect">
            <a:avLst/>
          </a:prstGeom>
          <a:noFill/>
          <a:ln/>
        </p:spPr>
        <p:txBody>
          <a:bodyPr wrap="square" rtlCol="0" anchor="ctr"/>
          <a:lstStyle/>
          <a:p>
            <a:pPr indent="0" marL="0">
              <a:buNone/>
            </a:pPr>
            <a:r>
              <a:rPr lang="en-US" sz="1100" b="1" spc="200" kern="0" dirty="0">
                <a:solidFill>
                  <a:srgbClr val="1D4ED8"/>
                </a:solidFill>
                <a:latin typeface="Arial" pitchFamily="34" charset="0"/>
                <a:ea typeface="Arial" pitchFamily="34" charset="-122"/>
                <a:cs typeface="Arial" pitchFamily="34" charset="-120"/>
              </a:rPr>
              <a:t>FINAL YEAR PROJECT  ·  DEMONSTRATION</a:t>
            </a:r>
            <a:endParaRPr lang="en-US" sz="1100" dirty="0"/>
          </a:p>
        </p:txBody>
      </p:sp>
      <p:sp>
        <p:nvSpPr>
          <p:cNvPr id="4" name="Text 2"/>
          <p:cNvSpPr/>
          <p:nvPr/>
        </p:nvSpPr>
        <p:spPr>
          <a:xfrm>
            <a:off x="749808" y="658368"/>
            <a:ext cx="11057839" cy="530352"/>
          </a:xfrm>
          <a:prstGeom prst="rect">
            <a:avLst/>
          </a:prstGeom>
          <a:noFill/>
          <a:ln/>
        </p:spPr>
        <p:txBody>
          <a:bodyPr wrap="square" rtlCol="0" anchor="ctr"/>
          <a:lstStyle/>
          <a:p>
            <a:pPr indent="0" marL="0">
              <a:buNone/>
            </a:pPr>
            <a:r>
              <a:rPr lang="en-US" sz="3800" b="1" dirty="0">
                <a:solidFill>
                  <a:srgbClr val="14161A"/>
                </a:solidFill>
                <a:latin typeface="Arial" pitchFamily="34" charset="0"/>
                <a:ea typeface="Arial" pitchFamily="34" charset="-122"/>
                <a:cs typeface="Arial" pitchFamily="34" charset="-120"/>
              </a:rPr>
              <a:t>ConvoTrainer</a:t>
            </a:r>
            <a:endParaRPr lang="en-US" sz="3800" dirty="0"/>
          </a:p>
        </p:txBody>
      </p:sp>
      <p:sp>
        <p:nvSpPr>
          <p:cNvPr id="5" name="Text 3"/>
          <p:cNvSpPr/>
          <p:nvPr/>
        </p:nvSpPr>
        <p:spPr>
          <a:xfrm>
            <a:off x="786384" y="1225296"/>
            <a:ext cx="10600639" cy="329184"/>
          </a:xfrm>
          <a:prstGeom prst="rect">
            <a:avLst/>
          </a:prstGeom>
          <a:noFill/>
          <a:ln/>
        </p:spPr>
        <p:txBody>
          <a:bodyPr wrap="square" rtlCol="0" anchor="ctr"/>
          <a:lstStyle/>
          <a:p>
            <a:pPr indent="0" marL="0">
              <a:buNone/>
            </a:pPr>
            <a:r>
              <a:rPr lang="en-US" sz="1600" dirty="0">
                <a:solidFill>
                  <a:srgbClr val="3F4750"/>
                </a:solidFill>
                <a:latin typeface="Arial" pitchFamily="34" charset="0"/>
                <a:ea typeface="Arial" pitchFamily="34" charset="-122"/>
                <a:cs typeface="Arial" pitchFamily="34" charset="-120"/>
              </a:rPr>
              <a:t>Practise a job interview against an AI that marks every answer — and uses that mark to choose what to ask you next.</a:t>
            </a:r>
            <a:endParaRPr lang="en-US" sz="1600" dirty="0"/>
          </a:p>
        </p:txBody>
      </p:sp>
      <p:sp>
        <p:nvSpPr>
          <p:cNvPr id="6" name="Text 4"/>
          <p:cNvSpPr/>
          <p:nvPr/>
        </p:nvSpPr>
        <p:spPr>
          <a:xfrm>
            <a:off x="786384" y="1572768"/>
            <a:ext cx="10600639" cy="237744"/>
          </a:xfrm>
          <a:prstGeom prst="rect">
            <a:avLst/>
          </a:prstGeom>
          <a:noFill/>
          <a:ln/>
        </p:spPr>
        <p:txBody>
          <a:bodyPr wrap="square" rtlCol="0" anchor="ctr"/>
          <a:lstStyle/>
          <a:p>
            <a:pPr indent="0" marL="0">
              <a:buNone/>
            </a:pPr>
            <a:r>
              <a:rPr lang="en-US" sz="1200" b="1" dirty="0">
                <a:solidFill>
                  <a:srgbClr val="14161A"/>
                </a:solidFill>
                <a:latin typeface="Arial" pitchFamily="34" charset="0"/>
                <a:ea typeface="Arial" pitchFamily="34" charset="-122"/>
                <a:cs typeface="Arial" pitchFamily="34" charset="-120"/>
              </a:rPr>
              <a:t>Dylan Tan</a:t>
            </a:r>
            <a:pPr indent="0" marL="0">
              <a:buNone/>
            </a:pPr>
            <a:r>
              <a:rPr lang="en-US" sz="1200" dirty="0">
                <a:solidFill>
                  <a:srgbClr val="7A8593"/>
                </a:solidFill>
                <a:latin typeface="Arial" pitchFamily="34" charset="0"/>
                <a:ea typeface="Arial" pitchFamily="34" charset="-122"/>
                <a:cs typeface="Arial" pitchFamily="34" charset="-120"/>
              </a:rPr>
              <a:t>   ·   Supervisor: «name»   ·   «date»</a:t>
            </a:r>
            <a:endParaRPr lang="en-US" sz="1200" dirty="0"/>
          </a:p>
        </p:txBody>
      </p:sp>
      <p:sp>
        <p:nvSpPr>
          <p:cNvPr id="7" name="Shape 5"/>
          <p:cNvSpPr/>
          <p:nvPr/>
        </p:nvSpPr>
        <p:spPr>
          <a:xfrm>
            <a:off x="566928" y="2011680"/>
            <a:ext cx="11057839" cy="713232"/>
          </a:xfrm>
          <a:prstGeom prst="rect">
            <a:avLst/>
          </a:prstGeom>
          <a:solidFill>
            <a:srgbClr val="EAF0FE"/>
          </a:solidFill>
          <a:ln w="12700">
            <a:solidFill>
              <a:srgbClr val="EAF0FE"/>
            </a:solidFill>
            <a:prstDash val="solid"/>
          </a:ln>
        </p:spPr>
      </p:sp>
      <p:sp>
        <p:nvSpPr>
          <p:cNvPr id="8" name="Shape 6"/>
          <p:cNvSpPr/>
          <p:nvPr/>
        </p:nvSpPr>
        <p:spPr>
          <a:xfrm>
            <a:off x="566928" y="2011680"/>
            <a:ext cx="50292" cy="713232"/>
          </a:xfrm>
          <a:prstGeom prst="rect">
            <a:avLst/>
          </a:prstGeom>
          <a:solidFill>
            <a:srgbClr val="1D4ED8"/>
          </a:solidFill>
          <a:ln w="12700">
            <a:solidFill>
              <a:srgbClr val="333333"/>
            </a:solidFill>
            <a:prstDash val="solid"/>
          </a:ln>
        </p:spPr>
      </p:sp>
      <p:sp>
        <p:nvSpPr>
          <p:cNvPr id="9" name="Text 7"/>
          <p:cNvSpPr/>
          <p:nvPr/>
        </p:nvSpPr>
        <p:spPr>
          <a:xfrm>
            <a:off x="877824" y="2011680"/>
            <a:ext cx="10509199" cy="713232"/>
          </a:xfrm>
          <a:prstGeom prst="rect">
            <a:avLst/>
          </a:prstGeom>
          <a:noFill/>
          <a:ln/>
        </p:spPr>
        <p:txBody>
          <a:bodyPr wrap="square" rtlCol="0" anchor="ctr"/>
          <a:lstStyle/>
          <a:p>
            <a:pPr indent="0" marL="0">
              <a:lnSpc>
                <a:spcPts val="1900"/>
              </a:lnSpc>
              <a:buNone/>
            </a:pPr>
            <a:r>
              <a:rPr lang="en-US" sz="1300" dirty="0">
                <a:solidFill>
                  <a:srgbClr val="3F4750"/>
                </a:solidFill>
                <a:latin typeface="Arial" pitchFamily="34" charset="0"/>
                <a:ea typeface="Arial" pitchFamily="34" charset="-122"/>
                <a:cs typeface="Arial" pitchFamily="34" charset="-120"/>
              </a:rPr>
              <a:t>A list of practice questions never notices what you said. A real person can't be there at 11pm. A chatbot won't mark you.   </a:t>
            </a:r>
            <a:pPr indent="0" marL="0">
              <a:lnSpc>
                <a:spcPts val="1900"/>
              </a:lnSpc>
              <a:buNone/>
            </a:pPr>
            <a:r>
              <a:rPr lang="en-US" sz="1300" b="1" dirty="0">
                <a:solidFill>
                  <a:srgbClr val="14161A"/>
                </a:solidFill>
                <a:latin typeface="Arial" pitchFamily="34" charset="0"/>
                <a:ea typeface="Arial" pitchFamily="34" charset="-122"/>
                <a:cs typeface="Arial" pitchFamily="34" charset="-120"/>
              </a:rPr>
              <a:t>None of them connect how you answered to what you get asked next.</a:t>
            </a:r>
            <a:endParaRPr lang="en-US" sz="1300" dirty="0"/>
          </a:p>
        </p:txBody>
      </p:sp>
      <p:sp>
        <p:nvSpPr>
          <p:cNvPr id="10" name="Shape 8"/>
          <p:cNvSpPr/>
          <p:nvPr/>
        </p:nvSpPr>
        <p:spPr>
          <a:xfrm>
            <a:off x="566928" y="2871216"/>
            <a:ext cx="2558720" cy="1042416"/>
          </a:xfrm>
          <a:prstGeom prst="rect">
            <a:avLst/>
          </a:prstGeom>
          <a:solidFill>
            <a:srgbClr val="FFFFFF"/>
          </a:solidFill>
          <a:ln w="12700">
            <a:solidFill>
              <a:srgbClr val="DFE4EA"/>
            </a:solidFill>
            <a:prstDash val="solid"/>
          </a:ln>
        </p:spPr>
      </p:sp>
      <p:sp>
        <p:nvSpPr>
          <p:cNvPr id="11" name="Text 9"/>
          <p:cNvSpPr/>
          <p:nvPr/>
        </p:nvSpPr>
        <p:spPr>
          <a:xfrm>
            <a:off x="713232" y="2990088"/>
            <a:ext cx="2266112" cy="219456"/>
          </a:xfrm>
          <a:prstGeom prst="rect">
            <a:avLst/>
          </a:prstGeom>
          <a:noFill/>
          <a:ln/>
        </p:spPr>
        <p:txBody>
          <a:bodyPr wrap="square" rtlCol="0" anchor="ctr"/>
          <a:lstStyle/>
          <a:p>
            <a:pPr indent="0" marL="0">
              <a:buNone/>
            </a:pPr>
            <a:r>
              <a:rPr lang="en-US" sz="950" b="1" spc="120" kern="0" dirty="0">
                <a:solidFill>
                  <a:srgbClr val="1D4ED8"/>
                </a:solidFill>
                <a:latin typeface="Arial" pitchFamily="34" charset="0"/>
                <a:ea typeface="Arial" pitchFamily="34" charset="-122"/>
                <a:cs typeface="Arial" pitchFamily="34" charset="-120"/>
              </a:rPr>
              <a:t>STEP 1</a:t>
            </a:r>
            <a:endParaRPr lang="en-US" sz="950" dirty="0"/>
          </a:p>
        </p:txBody>
      </p:sp>
      <p:sp>
        <p:nvSpPr>
          <p:cNvPr id="12" name="Text 10"/>
          <p:cNvSpPr/>
          <p:nvPr/>
        </p:nvSpPr>
        <p:spPr>
          <a:xfrm>
            <a:off x="713232" y="3218688"/>
            <a:ext cx="226611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Say what you're preparing for</a:t>
            </a:r>
            <a:endParaRPr lang="en-US" sz="1400" dirty="0"/>
          </a:p>
        </p:txBody>
      </p:sp>
      <p:sp>
        <p:nvSpPr>
          <p:cNvPr id="13" name="Text 11"/>
          <p:cNvSpPr/>
          <p:nvPr/>
        </p:nvSpPr>
        <p:spPr>
          <a:xfrm>
            <a:off x="713232" y="3547872"/>
            <a:ext cx="2266112" cy="219456"/>
          </a:xfrm>
          <a:prstGeom prst="rect">
            <a:avLst/>
          </a:prstGeom>
          <a:noFill/>
          <a:ln/>
        </p:spPr>
        <p:txBody>
          <a:bodyPr wrap="square" rtlCol="0" anchor="t"/>
          <a:lstStyle/>
          <a:p>
            <a:pPr indent="0" marL="0">
              <a:lnSpc>
                <a:spcPts val="1500"/>
              </a:lnSpc>
              <a:buNone/>
            </a:pPr>
            <a:r>
              <a:rPr lang="en-US" sz="1100" dirty="0">
                <a:solidFill>
                  <a:srgbClr val="3F4750"/>
                </a:solidFill>
                <a:latin typeface="Arial" pitchFamily="34" charset="0"/>
                <a:ea typeface="Arial" pitchFamily="34" charset="-122"/>
                <a:cs typeface="Arial" pitchFamily="34" charset="-120"/>
              </a:rPr>
              <a:t>Attach the real job advert and your resume</a:t>
            </a:r>
            <a:endParaRPr lang="en-US" sz="1100" dirty="0"/>
          </a:p>
        </p:txBody>
      </p:sp>
      <p:sp>
        <p:nvSpPr>
          <p:cNvPr id="14" name="Text 12"/>
          <p:cNvSpPr/>
          <p:nvPr/>
        </p:nvSpPr>
        <p:spPr>
          <a:xfrm>
            <a:off x="3125648" y="3246120"/>
            <a:ext cx="274320" cy="292608"/>
          </a:xfrm>
          <a:prstGeom prst="rect">
            <a:avLst/>
          </a:prstGeom>
          <a:noFill/>
          <a:ln/>
        </p:spPr>
        <p:txBody>
          <a:bodyPr wrap="square" rtlCol="0" anchor="ctr"/>
          <a:lstStyle/>
          <a:p>
            <a:pPr algn="ctr" indent="0" marL="0">
              <a:buNone/>
            </a:pPr>
            <a:r>
              <a:rPr lang="en-US" sz="1500" dirty="0">
                <a:solidFill>
                  <a:srgbClr val="7A8593"/>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3399968" y="2871216"/>
            <a:ext cx="2558720" cy="1042416"/>
          </a:xfrm>
          <a:prstGeom prst="rect">
            <a:avLst/>
          </a:prstGeom>
          <a:solidFill>
            <a:srgbClr val="FFFFFF"/>
          </a:solidFill>
          <a:ln w="12700">
            <a:solidFill>
              <a:srgbClr val="DFE4EA"/>
            </a:solidFill>
            <a:prstDash val="solid"/>
          </a:ln>
        </p:spPr>
      </p:sp>
      <p:sp>
        <p:nvSpPr>
          <p:cNvPr id="16" name="Text 14"/>
          <p:cNvSpPr/>
          <p:nvPr/>
        </p:nvSpPr>
        <p:spPr>
          <a:xfrm>
            <a:off x="3546272" y="2990088"/>
            <a:ext cx="2266112" cy="219456"/>
          </a:xfrm>
          <a:prstGeom prst="rect">
            <a:avLst/>
          </a:prstGeom>
          <a:noFill/>
          <a:ln/>
        </p:spPr>
        <p:txBody>
          <a:bodyPr wrap="square" rtlCol="0" anchor="ctr"/>
          <a:lstStyle/>
          <a:p>
            <a:pPr indent="0" marL="0">
              <a:buNone/>
            </a:pPr>
            <a:r>
              <a:rPr lang="en-US" sz="950" b="1" spc="120" kern="0" dirty="0">
                <a:solidFill>
                  <a:srgbClr val="1D4ED8"/>
                </a:solidFill>
                <a:latin typeface="Arial" pitchFamily="34" charset="0"/>
                <a:ea typeface="Arial" pitchFamily="34" charset="-122"/>
                <a:cs typeface="Arial" pitchFamily="34" charset="-120"/>
              </a:rPr>
              <a:t>STEP 2</a:t>
            </a:r>
            <a:endParaRPr lang="en-US" sz="950" dirty="0"/>
          </a:p>
        </p:txBody>
      </p:sp>
      <p:sp>
        <p:nvSpPr>
          <p:cNvPr id="17" name="Text 15"/>
          <p:cNvSpPr/>
          <p:nvPr/>
        </p:nvSpPr>
        <p:spPr>
          <a:xfrm>
            <a:off x="3546272" y="3218688"/>
            <a:ext cx="226611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Pick the rounds</a:t>
            </a:r>
            <a:endParaRPr lang="en-US" sz="1400" dirty="0"/>
          </a:p>
        </p:txBody>
      </p:sp>
      <p:sp>
        <p:nvSpPr>
          <p:cNvPr id="18" name="Text 16"/>
          <p:cNvSpPr/>
          <p:nvPr/>
        </p:nvSpPr>
        <p:spPr>
          <a:xfrm>
            <a:off x="3546272" y="3547872"/>
            <a:ext cx="2266112" cy="219456"/>
          </a:xfrm>
          <a:prstGeom prst="rect">
            <a:avLst/>
          </a:prstGeom>
          <a:noFill/>
          <a:ln/>
        </p:spPr>
        <p:txBody>
          <a:bodyPr wrap="square" rtlCol="0" anchor="t"/>
          <a:lstStyle/>
          <a:p>
            <a:pPr indent="0" marL="0">
              <a:lnSpc>
                <a:spcPts val="1500"/>
              </a:lnSpc>
              <a:buNone/>
            </a:pPr>
            <a:r>
              <a:rPr lang="en-US" sz="1100" dirty="0">
                <a:solidFill>
                  <a:srgbClr val="3F4750"/>
                </a:solidFill>
                <a:latin typeface="Arial" pitchFamily="34" charset="0"/>
                <a:ea typeface="Arial" pitchFamily="34" charset="-122"/>
                <a:cs typeface="Arial" pitchFamily="34" charset="-120"/>
              </a:rPr>
              <a:t>One, or a whole interview day</a:t>
            </a:r>
            <a:endParaRPr lang="en-US" sz="1100" dirty="0"/>
          </a:p>
        </p:txBody>
      </p:sp>
      <p:sp>
        <p:nvSpPr>
          <p:cNvPr id="19" name="Text 17"/>
          <p:cNvSpPr/>
          <p:nvPr/>
        </p:nvSpPr>
        <p:spPr>
          <a:xfrm>
            <a:off x="5958688" y="3246120"/>
            <a:ext cx="274320" cy="292608"/>
          </a:xfrm>
          <a:prstGeom prst="rect">
            <a:avLst/>
          </a:prstGeom>
          <a:noFill/>
          <a:ln/>
        </p:spPr>
        <p:txBody>
          <a:bodyPr wrap="square" rtlCol="0" anchor="ctr"/>
          <a:lstStyle/>
          <a:p>
            <a:pPr algn="ctr" indent="0" marL="0">
              <a:buNone/>
            </a:pPr>
            <a:r>
              <a:rPr lang="en-US" sz="1500" dirty="0">
                <a:solidFill>
                  <a:srgbClr val="7A8593"/>
                </a:solidFill>
                <a:latin typeface="Arial" pitchFamily="34" charset="0"/>
                <a:ea typeface="Arial" pitchFamily="34" charset="-122"/>
                <a:cs typeface="Arial" pitchFamily="34" charset="-120"/>
              </a:rPr>
              <a:t>▸</a:t>
            </a:r>
            <a:endParaRPr lang="en-US" sz="1500" dirty="0"/>
          </a:p>
        </p:txBody>
      </p:sp>
      <p:sp>
        <p:nvSpPr>
          <p:cNvPr id="20" name="Shape 18"/>
          <p:cNvSpPr/>
          <p:nvPr/>
        </p:nvSpPr>
        <p:spPr>
          <a:xfrm>
            <a:off x="6233008" y="2871216"/>
            <a:ext cx="2558720" cy="1042416"/>
          </a:xfrm>
          <a:prstGeom prst="rect">
            <a:avLst/>
          </a:prstGeom>
          <a:solidFill>
            <a:srgbClr val="FFFFFF"/>
          </a:solidFill>
          <a:ln w="12700">
            <a:solidFill>
              <a:srgbClr val="DFE4EA"/>
            </a:solidFill>
            <a:prstDash val="solid"/>
          </a:ln>
        </p:spPr>
      </p:sp>
      <p:sp>
        <p:nvSpPr>
          <p:cNvPr id="21" name="Text 19"/>
          <p:cNvSpPr/>
          <p:nvPr/>
        </p:nvSpPr>
        <p:spPr>
          <a:xfrm>
            <a:off x="6379312" y="2990088"/>
            <a:ext cx="2266112" cy="219456"/>
          </a:xfrm>
          <a:prstGeom prst="rect">
            <a:avLst/>
          </a:prstGeom>
          <a:noFill/>
          <a:ln/>
        </p:spPr>
        <p:txBody>
          <a:bodyPr wrap="square" rtlCol="0" anchor="ctr"/>
          <a:lstStyle/>
          <a:p>
            <a:pPr indent="0" marL="0">
              <a:buNone/>
            </a:pPr>
            <a:r>
              <a:rPr lang="en-US" sz="950" b="1" spc="120" kern="0" dirty="0">
                <a:solidFill>
                  <a:srgbClr val="1D4ED8"/>
                </a:solidFill>
                <a:latin typeface="Arial" pitchFamily="34" charset="0"/>
                <a:ea typeface="Arial" pitchFamily="34" charset="-122"/>
                <a:cs typeface="Arial" pitchFamily="34" charset="-120"/>
              </a:rPr>
              <a:t>STEP 3</a:t>
            </a:r>
            <a:endParaRPr lang="en-US" sz="950" dirty="0"/>
          </a:p>
        </p:txBody>
      </p:sp>
      <p:sp>
        <p:nvSpPr>
          <p:cNvPr id="22" name="Text 20"/>
          <p:cNvSpPr/>
          <p:nvPr/>
        </p:nvSpPr>
        <p:spPr>
          <a:xfrm>
            <a:off x="6379312" y="3218688"/>
            <a:ext cx="226611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Set the interviewer</a:t>
            </a:r>
            <a:endParaRPr lang="en-US" sz="1400" dirty="0"/>
          </a:p>
        </p:txBody>
      </p:sp>
      <p:sp>
        <p:nvSpPr>
          <p:cNvPr id="23" name="Text 21"/>
          <p:cNvSpPr/>
          <p:nvPr/>
        </p:nvSpPr>
        <p:spPr>
          <a:xfrm>
            <a:off x="6379312" y="3547872"/>
            <a:ext cx="2266112" cy="219456"/>
          </a:xfrm>
          <a:prstGeom prst="rect">
            <a:avLst/>
          </a:prstGeom>
          <a:noFill/>
          <a:ln/>
        </p:spPr>
        <p:txBody>
          <a:bodyPr wrap="square" rtlCol="0" anchor="t"/>
          <a:lstStyle/>
          <a:p>
            <a:pPr indent="0" marL="0">
              <a:lnSpc>
                <a:spcPts val="1500"/>
              </a:lnSpc>
              <a:buNone/>
            </a:pPr>
            <a:r>
              <a:rPr lang="en-US" sz="1100" dirty="0">
                <a:solidFill>
                  <a:srgbClr val="3F4750"/>
                </a:solidFill>
                <a:latin typeface="Arial" pitchFamily="34" charset="0"/>
                <a:ea typeface="Arial" pitchFamily="34" charset="-122"/>
                <a:cs typeface="Arial" pitchFamily="34" charset="-120"/>
              </a:rPr>
              <a:t>Background, and how tough they are</a:t>
            </a:r>
            <a:endParaRPr lang="en-US" sz="1100" dirty="0"/>
          </a:p>
        </p:txBody>
      </p:sp>
      <p:sp>
        <p:nvSpPr>
          <p:cNvPr id="24" name="Text 22"/>
          <p:cNvSpPr/>
          <p:nvPr/>
        </p:nvSpPr>
        <p:spPr>
          <a:xfrm>
            <a:off x="8791727" y="3246120"/>
            <a:ext cx="274320" cy="292608"/>
          </a:xfrm>
          <a:prstGeom prst="rect">
            <a:avLst/>
          </a:prstGeom>
          <a:noFill/>
          <a:ln/>
        </p:spPr>
        <p:txBody>
          <a:bodyPr wrap="square" rtlCol="0" anchor="ctr"/>
          <a:lstStyle/>
          <a:p>
            <a:pPr algn="ctr" indent="0" marL="0">
              <a:buNone/>
            </a:pPr>
            <a:r>
              <a:rPr lang="en-US" sz="1500" dirty="0">
                <a:solidFill>
                  <a:srgbClr val="7A8593"/>
                </a:solidFill>
                <a:latin typeface="Arial" pitchFamily="34" charset="0"/>
                <a:ea typeface="Arial" pitchFamily="34" charset="-122"/>
                <a:cs typeface="Arial" pitchFamily="34" charset="-120"/>
              </a:rPr>
              <a:t>▸</a:t>
            </a:r>
            <a:endParaRPr lang="en-US" sz="1500" dirty="0"/>
          </a:p>
        </p:txBody>
      </p:sp>
      <p:sp>
        <p:nvSpPr>
          <p:cNvPr id="25" name="Shape 23"/>
          <p:cNvSpPr/>
          <p:nvPr/>
        </p:nvSpPr>
        <p:spPr>
          <a:xfrm>
            <a:off x="9066047" y="2871216"/>
            <a:ext cx="2558720" cy="1042416"/>
          </a:xfrm>
          <a:prstGeom prst="rect">
            <a:avLst/>
          </a:prstGeom>
          <a:solidFill>
            <a:srgbClr val="FFFFFF"/>
          </a:solidFill>
          <a:ln w="12700">
            <a:solidFill>
              <a:srgbClr val="DFE4EA"/>
            </a:solidFill>
            <a:prstDash val="solid"/>
          </a:ln>
        </p:spPr>
      </p:sp>
      <p:sp>
        <p:nvSpPr>
          <p:cNvPr id="26" name="Text 24"/>
          <p:cNvSpPr/>
          <p:nvPr/>
        </p:nvSpPr>
        <p:spPr>
          <a:xfrm>
            <a:off x="9212351" y="2990088"/>
            <a:ext cx="2266112" cy="219456"/>
          </a:xfrm>
          <a:prstGeom prst="rect">
            <a:avLst/>
          </a:prstGeom>
          <a:noFill/>
          <a:ln/>
        </p:spPr>
        <p:txBody>
          <a:bodyPr wrap="square" rtlCol="0" anchor="ctr"/>
          <a:lstStyle/>
          <a:p>
            <a:pPr indent="0" marL="0">
              <a:buNone/>
            </a:pPr>
            <a:r>
              <a:rPr lang="en-US" sz="950" b="1" spc="120" kern="0" dirty="0">
                <a:solidFill>
                  <a:srgbClr val="1D4ED8"/>
                </a:solidFill>
                <a:latin typeface="Arial" pitchFamily="34" charset="0"/>
                <a:ea typeface="Arial" pitchFamily="34" charset="-122"/>
                <a:cs typeface="Arial" pitchFamily="34" charset="-120"/>
              </a:rPr>
              <a:t>STEP 4</a:t>
            </a:r>
            <a:endParaRPr lang="en-US" sz="950" dirty="0"/>
          </a:p>
        </p:txBody>
      </p:sp>
      <p:sp>
        <p:nvSpPr>
          <p:cNvPr id="27" name="Text 25"/>
          <p:cNvSpPr/>
          <p:nvPr/>
        </p:nvSpPr>
        <p:spPr>
          <a:xfrm>
            <a:off x="9212351" y="3218688"/>
            <a:ext cx="226611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Interview</a:t>
            </a:r>
            <a:endParaRPr lang="en-US" sz="1400" dirty="0"/>
          </a:p>
        </p:txBody>
      </p:sp>
      <p:sp>
        <p:nvSpPr>
          <p:cNvPr id="28" name="Text 26"/>
          <p:cNvSpPr/>
          <p:nvPr/>
        </p:nvSpPr>
        <p:spPr>
          <a:xfrm>
            <a:off x="9212351" y="3547872"/>
            <a:ext cx="2266112" cy="219456"/>
          </a:xfrm>
          <a:prstGeom prst="rect">
            <a:avLst/>
          </a:prstGeom>
          <a:noFill/>
          <a:ln/>
        </p:spPr>
        <p:txBody>
          <a:bodyPr wrap="square" rtlCol="0" anchor="t"/>
          <a:lstStyle/>
          <a:p>
            <a:pPr indent="0" marL="0">
              <a:lnSpc>
                <a:spcPts val="1500"/>
              </a:lnSpc>
              <a:buNone/>
            </a:pPr>
            <a:r>
              <a:rPr lang="en-US" sz="1100" dirty="0">
                <a:solidFill>
                  <a:srgbClr val="3F4750"/>
                </a:solidFill>
                <a:latin typeface="Arial" pitchFamily="34" charset="0"/>
                <a:ea typeface="Arial" pitchFamily="34" charset="-122"/>
                <a:cs typeface="Arial" pitchFamily="34" charset="-120"/>
              </a:rPr>
              <a:t>Then read the report</a:t>
            </a:r>
            <a:endParaRPr lang="en-US" sz="1100" dirty="0"/>
          </a:p>
        </p:txBody>
      </p:sp>
      <p:sp>
        <p:nvSpPr>
          <p:cNvPr id="29" name="Shape 27"/>
          <p:cNvSpPr/>
          <p:nvPr/>
        </p:nvSpPr>
        <p:spPr>
          <a:xfrm>
            <a:off x="566928" y="4078224"/>
            <a:ext cx="3478682" cy="1298448"/>
          </a:xfrm>
          <a:prstGeom prst="rect">
            <a:avLst/>
          </a:prstGeom>
          <a:solidFill>
            <a:srgbClr val="F5F7FA"/>
          </a:solidFill>
          <a:ln w="12700">
            <a:solidFill>
              <a:srgbClr val="F5F7FA"/>
            </a:solidFill>
            <a:prstDash val="solid"/>
          </a:ln>
        </p:spPr>
      </p:sp>
      <p:sp>
        <p:nvSpPr>
          <p:cNvPr id="30" name="Shape 28"/>
          <p:cNvSpPr/>
          <p:nvPr/>
        </p:nvSpPr>
        <p:spPr>
          <a:xfrm>
            <a:off x="566928" y="4078224"/>
            <a:ext cx="50292" cy="1298448"/>
          </a:xfrm>
          <a:prstGeom prst="rect">
            <a:avLst/>
          </a:prstGeom>
          <a:solidFill>
            <a:srgbClr val="1D4ED8"/>
          </a:solidFill>
          <a:ln w="12700">
            <a:solidFill>
              <a:srgbClr val="333333"/>
            </a:solidFill>
            <a:prstDash val="solid"/>
          </a:ln>
        </p:spPr>
      </p:sp>
      <p:sp>
        <p:nvSpPr>
          <p:cNvPr id="31" name="Text 29"/>
          <p:cNvSpPr/>
          <p:nvPr/>
        </p:nvSpPr>
        <p:spPr>
          <a:xfrm>
            <a:off x="822960" y="4187952"/>
            <a:ext cx="3058058" cy="256032"/>
          </a:xfrm>
          <a:prstGeom prst="rect">
            <a:avLst/>
          </a:prstGeom>
          <a:noFill/>
          <a:ln/>
        </p:spPr>
        <p:txBody>
          <a:bodyPr wrap="square" rtlCol="0" anchor="ctr"/>
          <a:lstStyle/>
          <a:p>
            <a:pPr indent="0" marL="0">
              <a:buNone/>
            </a:pPr>
            <a:r>
              <a:rPr lang="en-US" sz="1300" b="1" dirty="0">
                <a:solidFill>
                  <a:srgbClr val="14161A"/>
                </a:solidFill>
                <a:latin typeface="Arial" pitchFamily="34" charset="0"/>
                <a:ea typeface="Arial" pitchFamily="34" charset="-122"/>
                <a:cs typeface="Arial" pitchFamily="34" charset="-120"/>
              </a:rPr>
              <a:t>Six kinds of round</a:t>
            </a:r>
            <a:endParaRPr lang="en-US" sz="1300" dirty="0"/>
          </a:p>
        </p:txBody>
      </p:sp>
      <p:sp>
        <p:nvSpPr>
          <p:cNvPr id="32" name="Text 30"/>
          <p:cNvSpPr/>
          <p:nvPr/>
        </p:nvSpPr>
        <p:spPr>
          <a:xfrm>
            <a:off x="822960" y="4498848"/>
            <a:ext cx="3058058" cy="786384"/>
          </a:xfrm>
          <a:prstGeom prst="rect">
            <a:avLst/>
          </a:prstGeom>
          <a:noFill/>
          <a:ln/>
        </p:spPr>
        <p:txBody>
          <a:bodyPr wrap="square" rtlCol="0" anchor="t"/>
          <a:lstStyle/>
          <a:p>
            <a:pPr indent="0" marL="0">
              <a:lnSpc>
                <a:spcPts val="1600"/>
              </a:lnSpc>
              <a:buNone/>
            </a:pPr>
            <a:r>
              <a:rPr lang="en-US" sz="1100" dirty="0">
                <a:solidFill>
                  <a:srgbClr val="3F4750"/>
                </a:solidFill>
                <a:latin typeface="Arial" pitchFamily="34" charset="0"/>
                <a:ea typeface="Arial" pitchFamily="34" charset="-122"/>
                <a:cs typeface="Arial" pitchFamily="34" charset="-120"/>
              </a:rPr>
              <a:t>First interview, “tell me about a time”, HR</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Coding, system design, business case</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Each one is marked differently</a:t>
            </a:r>
            <a:endParaRPr lang="en-US" sz="1100" dirty="0"/>
          </a:p>
        </p:txBody>
      </p:sp>
      <p:sp>
        <p:nvSpPr>
          <p:cNvPr id="33" name="Shape 31"/>
          <p:cNvSpPr/>
          <p:nvPr/>
        </p:nvSpPr>
        <p:spPr>
          <a:xfrm>
            <a:off x="4356506" y="4078224"/>
            <a:ext cx="3478682" cy="1298448"/>
          </a:xfrm>
          <a:prstGeom prst="rect">
            <a:avLst/>
          </a:prstGeom>
          <a:solidFill>
            <a:srgbClr val="F5F7FA"/>
          </a:solidFill>
          <a:ln w="12700">
            <a:solidFill>
              <a:srgbClr val="F5F7FA"/>
            </a:solidFill>
            <a:prstDash val="solid"/>
          </a:ln>
        </p:spPr>
      </p:sp>
      <p:sp>
        <p:nvSpPr>
          <p:cNvPr id="34" name="Shape 32"/>
          <p:cNvSpPr/>
          <p:nvPr/>
        </p:nvSpPr>
        <p:spPr>
          <a:xfrm>
            <a:off x="4356506" y="4078224"/>
            <a:ext cx="50292" cy="1298448"/>
          </a:xfrm>
          <a:prstGeom prst="rect">
            <a:avLst/>
          </a:prstGeom>
          <a:solidFill>
            <a:srgbClr val="1D4ED8"/>
          </a:solidFill>
          <a:ln w="12700">
            <a:solidFill>
              <a:srgbClr val="333333"/>
            </a:solidFill>
            <a:prstDash val="solid"/>
          </a:ln>
        </p:spPr>
      </p:sp>
      <p:sp>
        <p:nvSpPr>
          <p:cNvPr id="35" name="Text 33"/>
          <p:cNvSpPr/>
          <p:nvPr/>
        </p:nvSpPr>
        <p:spPr>
          <a:xfrm>
            <a:off x="4612538" y="4187952"/>
            <a:ext cx="3058058" cy="256032"/>
          </a:xfrm>
          <a:prstGeom prst="rect">
            <a:avLst/>
          </a:prstGeom>
          <a:noFill/>
          <a:ln/>
        </p:spPr>
        <p:txBody>
          <a:bodyPr wrap="square" rtlCol="0" anchor="ctr"/>
          <a:lstStyle/>
          <a:p>
            <a:pPr indent="0" marL="0">
              <a:buNone/>
            </a:pPr>
            <a:r>
              <a:rPr lang="en-US" sz="1300" b="1" dirty="0">
                <a:solidFill>
                  <a:srgbClr val="14161A"/>
                </a:solidFill>
                <a:latin typeface="Arial" pitchFamily="34" charset="0"/>
                <a:ea typeface="Arial" pitchFamily="34" charset="-122"/>
                <a:cs typeface="Arial" pitchFamily="34" charset="-120"/>
              </a:rPr>
              <a:t>Type or speak</a:t>
            </a:r>
            <a:endParaRPr lang="en-US" sz="1300" dirty="0"/>
          </a:p>
        </p:txBody>
      </p:sp>
      <p:sp>
        <p:nvSpPr>
          <p:cNvPr id="36" name="Text 34"/>
          <p:cNvSpPr/>
          <p:nvPr/>
        </p:nvSpPr>
        <p:spPr>
          <a:xfrm>
            <a:off x="4612538" y="4498848"/>
            <a:ext cx="3058058" cy="786384"/>
          </a:xfrm>
          <a:prstGeom prst="rect">
            <a:avLst/>
          </a:prstGeom>
          <a:noFill/>
          <a:ln/>
        </p:spPr>
        <p:txBody>
          <a:bodyPr wrap="square" rtlCol="0" anchor="t"/>
          <a:lstStyle/>
          <a:p>
            <a:pPr indent="0" marL="0">
              <a:lnSpc>
                <a:spcPts val="1600"/>
              </a:lnSpc>
              <a:buNone/>
            </a:pPr>
            <a:r>
              <a:rPr lang="en-US" sz="1100" dirty="0">
                <a:solidFill>
                  <a:srgbClr val="3F4750"/>
                </a:solidFill>
                <a:latin typeface="Arial" pitchFamily="34" charset="0"/>
                <a:ea typeface="Arial" pitchFamily="34" charset="-122"/>
                <a:cs typeface="Arial" pitchFamily="34" charset="-120"/>
              </a:rPr>
              <a:t>Answers appear as they are written</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Or spoken aloud, and you reply by voice</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A code editor for coding rounds</a:t>
            </a:r>
            <a:endParaRPr lang="en-US" sz="1100" dirty="0"/>
          </a:p>
        </p:txBody>
      </p:sp>
      <p:sp>
        <p:nvSpPr>
          <p:cNvPr id="37" name="Shape 35"/>
          <p:cNvSpPr/>
          <p:nvPr/>
        </p:nvSpPr>
        <p:spPr>
          <a:xfrm>
            <a:off x="8146085" y="4078224"/>
            <a:ext cx="3478682" cy="1298448"/>
          </a:xfrm>
          <a:prstGeom prst="rect">
            <a:avLst/>
          </a:prstGeom>
          <a:solidFill>
            <a:srgbClr val="F5F7FA"/>
          </a:solidFill>
          <a:ln w="12700">
            <a:solidFill>
              <a:srgbClr val="F5F7FA"/>
            </a:solidFill>
            <a:prstDash val="solid"/>
          </a:ln>
        </p:spPr>
      </p:sp>
      <p:sp>
        <p:nvSpPr>
          <p:cNvPr id="38" name="Shape 36"/>
          <p:cNvSpPr/>
          <p:nvPr/>
        </p:nvSpPr>
        <p:spPr>
          <a:xfrm>
            <a:off x="8146085" y="4078224"/>
            <a:ext cx="50292" cy="1298448"/>
          </a:xfrm>
          <a:prstGeom prst="rect">
            <a:avLst/>
          </a:prstGeom>
          <a:solidFill>
            <a:srgbClr val="1D4ED8"/>
          </a:solidFill>
          <a:ln w="12700">
            <a:solidFill>
              <a:srgbClr val="333333"/>
            </a:solidFill>
            <a:prstDash val="solid"/>
          </a:ln>
        </p:spPr>
      </p:sp>
      <p:sp>
        <p:nvSpPr>
          <p:cNvPr id="39" name="Text 37"/>
          <p:cNvSpPr/>
          <p:nvPr/>
        </p:nvSpPr>
        <p:spPr>
          <a:xfrm>
            <a:off x="8402117" y="4187952"/>
            <a:ext cx="3058058" cy="256032"/>
          </a:xfrm>
          <a:prstGeom prst="rect">
            <a:avLst/>
          </a:prstGeom>
          <a:noFill/>
          <a:ln/>
        </p:spPr>
        <p:txBody>
          <a:bodyPr wrap="square" rtlCol="0" anchor="ctr"/>
          <a:lstStyle/>
          <a:p>
            <a:pPr indent="0" marL="0">
              <a:buNone/>
            </a:pPr>
            <a:r>
              <a:rPr lang="en-US" sz="1300" b="1" dirty="0">
                <a:solidFill>
                  <a:srgbClr val="14161A"/>
                </a:solidFill>
                <a:latin typeface="Arial" pitchFamily="34" charset="0"/>
                <a:ea typeface="Arial" pitchFamily="34" charset="-122"/>
                <a:cs typeface="Arial" pitchFamily="34" charset="-120"/>
              </a:rPr>
              <a:t>A report at the end</a:t>
            </a:r>
            <a:endParaRPr lang="en-US" sz="1300" dirty="0"/>
          </a:p>
        </p:txBody>
      </p:sp>
      <p:sp>
        <p:nvSpPr>
          <p:cNvPr id="40" name="Text 38"/>
          <p:cNvSpPr/>
          <p:nvPr/>
        </p:nvSpPr>
        <p:spPr>
          <a:xfrm>
            <a:off x="8402117" y="4498848"/>
            <a:ext cx="3058058" cy="786384"/>
          </a:xfrm>
          <a:prstGeom prst="rect">
            <a:avLst/>
          </a:prstGeom>
          <a:noFill/>
          <a:ln/>
        </p:spPr>
        <p:txBody>
          <a:bodyPr wrap="square" rtlCol="0" anchor="t"/>
          <a:lstStyle/>
          <a:p>
            <a:pPr indent="0" marL="0">
              <a:lnSpc>
                <a:spcPts val="1600"/>
              </a:lnSpc>
              <a:buNone/>
            </a:pPr>
            <a:r>
              <a:rPr lang="en-US" sz="1100" dirty="0">
                <a:solidFill>
                  <a:srgbClr val="3F4750"/>
                </a:solidFill>
                <a:latin typeface="Arial" pitchFamily="34" charset="0"/>
                <a:ea typeface="Arial" pitchFamily="34" charset="-122"/>
                <a:cs typeface="Arial" pitchFamily="34" charset="-120"/>
              </a:rPr>
              <a:t>A score, and feedback on every answer</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A stronger version of each answer</a:t>
            </a:r>
            <a:endParaRPr lang="en-US" sz="1100" dirty="0"/>
          </a:p>
          <a:p>
            <a:pPr indent="0" marL="0">
              <a:lnSpc>
                <a:spcPts val="1600"/>
              </a:lnSpc>
              <a:buNone/>
            </a:pPr>
            <a:r>
              <a:rPr lang="en-US" sz="1100" dirty="0">
                <a:solidFill>
                  <a:srgbClr val="3F4750"/>
                </a:solidFill>
                <a:latin typeface="Arial" pitchFamily="34" charset="0"/>
                <a:ea typeface="Arial" pitchFamily="34" charset="-122"/>
                <a:cs typeface="Arial" pitchFamily="34" charset="-120"/>
              </a:rPr>
              <a:t>Which skills you did and didn't cover</a:t>
            </a:r>
            <a:endParaRPr lang="en-US" sz="1100" dirty="0"/>
          </a:p>
        </p:txBody>
      </p:sp>
      <p:sp>
        <p:nvSpPr>
          <p:cNvPr id="42" name="Text 39"/>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43" name="Text 40"/>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HOW IT WORKS</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It marks your answer, then uses that mark to choose the next question.</a:t>
            </a:r>
            <a:endParaRPr lang="en-US" sz="3000" dirty="0"/>
          </a:p>
        </p:txBody>
      </p:sp>
      <p:sp>
        <p:nvSpPr>
          <p:cNvPr id="5" name="Shape 3"/>
          <p:cNvSpPr/>
          <p:nvPr/>
        </p:nvSpPr>
        <p:spPr>
          <a:xfrm>
            <a:off x="566928" y="1517904"/>
            <a:ext cx="2558720" cy="1042416"/>
          </a:xfrm>
          <a:prstGeom prst="rect">
            <a:avLst/>
          </a:prstGeom>
          <a:solidFill>
            <a:srgbClr val="F5F7FA"/>
          </a:solidFill>
          <a:ln w="12700">
            <a:solidFill>
              <a:srgbClr val="DFE4EA"/>
            </a:solidFill>
            <a:prstDash val="solid"/>
          </a:ln>
        </p:spPr>
      </p:sp>
      <p:sp>
        <p:nvSpPr>
          <p:cNvPr id="6" name="Text 4"/>
          <p:cNvSpPr/>
          <p:nvPr/>
        </p:nvSpPr>
        <p:spPr>
          <a:xfrm>
            <a:off x="713232" y="1591056"/>
            <a:ext cx="365760" cy="237744"/>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694944" y="1819656"/>
            <a:ext cx="2302688" cy="310896"/>
          </a:xfrm>
          <a:prstGeom prst="rect">
            <a:avLst/>
          </a:prstGeom>
          <a:noFill/>
          <a:ln/>
        </p:spPr>
        <p:txBody>
          <a:bodyPr wrap="square" rtlCol="0" anchor="ctr"/>
          <a:lstStyle/>
          <a:p>
            <a:pPr algn="ctr" indent="0" marL="0">
              <a:buNone/>
            </a:pPr>
            <a:r>
              <a:rPr lang="en-US" sz="1300" b="1" dirty="0">
                <a:solidFill>
                  <a:srgbClr val="14161A"/>
                </a:solidFill>
                <a:latin typeface="Arial" pitchFamily="34" charset="0"/>
                <a:ea typeface="Arial" pitchFamily="34" charset="-122"/>
                <a:cs typeface="Arial" pitchFamily="34" charset="-120"/>
              </a:rPr>
              <a:t>You answer</a:t>
            </a:r>
            <a:endParaRPr lang="en-US" sz="1300" dirty="0"/>
          </a:p>
        </p:txBody>
      </p:sp>
      <p:sp>
        <p:nvSpPr>
          <p:cNvPr id="8" name="Text 6"/>
          <p:cNvSpPr/>
          <p:nvPr/>
        </p:nvSpPr>
        <p:spPr>
          <a:xfrm>
            <a:off x="658368" y="2139696"/>
            <a:ext cx="2375840" cy="402336"/>
          </a:xfrm>
          <a:prstGeom prst="rect">
            <a:avLst/>
          </a:prstGeom>
          <a:noFill/>
          <a:ln/>
        </p:spPr>
        <p:txBody>
          <a:bodyPr wrap="square" rtlCol="0" anchor="t"/>
          <a:lstStyle/>
          <a:p>
            <a:pPr algn="ctr" indent="0" marL="0">
              <a:lnSpc>
                <a:spcPts val="1350"/>
              </a:lnSpc>
              <a:buNone/>
            </a:pPr>
            <a:r>
              <a:rPr lang="en-US" sz="1050" dirty="0">
                <a:solidFill>
                  <a:srgbClr val="7A8593"/>
                </a:solidFill>
                <a:latin typeface="Arial" pitchFamily="34" charset="0"/>
                <a:ea typeface="Arial" pitchFamily="34" charset="-122"/>
                <a:cs typeface="Arial" pitchFamily="34" charset="-120"/>
              </a:rPr>
              <a:t>typed or spoken</a:t>
            </a:r>
            <a:endParaRPr lang="en-US" sz="1050" dirty="0"/>
          </a:p>
        </p:txBody>
      </p:sp>
      <p:sp>
        <p:nvSpPr>
          <p:cNvPr id="9" name="Text 7"/>
          <p:cNvSpPr/>
          <p:nvPr/>
        </p:nvSpPr>
        <p:spPr>
          <a:xfrm>
            <a:off x="3125648" y="1929384"/>
            <a:ext cx="274320" cy="292608"/>
          </a:xfrm>
          <a:prstGeom prst="rect">
            <a:avLst/>
          </a:prstGeom>
          <a:noFill/>
          <a:ln/>
        </p:spPr>
        <p:txBody>
          <a:bodyPr wrap="square" rtlCol="0" anchor="ctr"/>
          <a:lstStyle/>
          <a:p>
            <a:pPr algn="ctr" indent="0" marL="0">
              <a:buNone/>
            </a:pPr>
            <a:r>
              <a:rPr lang="en-US" sz="1600" b="1" dirty="0">
                <a:solidFill>
                  <a:srgbClr val="1D4ED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3399968" y="1517904"/>
            <a:ext cx="2558720" cy="1042416"/>
          </a:xfrm>
          <a:prstGeom prst="rect">
            <a:avLst/>
          </a:prstGeom>
          <a:solidFill>
            <a:srgbClr val="EAF0FE"/>
          </a:solidFill>
          <a:ln w="15875">
            <a:solidFill>
              <a:srgbClr val="1D4ED8"/>
            </a:solidFill>
            <a:prstDash val="solid"/>
          </a:ln>
        </p:spPr>
      </p:sp>
      <p:sp>
        <p:nvSpPr>
          <p:cNvPr id="11" name="Text 9"/>
          <p:cNvSpPr/>
          <p:nvPr/>
        </p:nvSpPr>
        <p:spPr>
          <a:xfrm>
            <a:off x="3546272" y="1591056"/>
            <a:ext cx="365760" cy="237744"/>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3527984" y="1819656"/>
            <a:ext cx="2302688" cy="310896"/>
          </a:xfrm>
          <a:prstGeom prst="rect">
            <a:avLst/>
          </a:prstGeom>
          <a:noFill/>
          <a:ln/>
        </p:spPr>
        <p:txBody>
          <a:bodyPr wrap="square" rtlCol="0" anchor="ctr"/>
          <a:lstStyle/>
          <a:p>
            <a:pPr algn="ctr" indent="0" marL="0">
              <a:buNone/>
            </a:pPr>
            <a:r>
              <a:rPr lang="en-US" sz="1300" b="1" dirty="0">
                <a:solidFill>
                  <a:srgbClr val="14161A"/>
                </a:solidFill>
                <a:latin typeface="Arial" pitchFamily="34" charset="0"/>
                <a:ea typeface="Arial" pitchFamily="34" charset="-122"/>
                <a:cs typeface="Arial" pitchFamily="34" charset="-120"/>
              </a:rPr>
              <a:t>It marks the answer</a:t>
            </a:r>
            <a:endParaRPr lang="en-US" sz="1300" dirty="0"/>
          </a:p>
        </p:txBody>
      </p:sp>
      <p:sp>
        <p:nvSpPr>
          <p:cNvPr id="13" name="Text 11"/>
          <p:cNvSpPr/>
          <p:nvPr/>
        </p:nvSpPr>
        <p:spPr>
          <a:xfrm>
            <a:off x="3491408" y="2139696"/>
            <a:ext cx="2375840" cy="402336"/>
          </a:xfrm>
          <a:prstGeom prst="rect">
            <a:avLst/>
          </a:prstGeom>
          <a:noFill/>
          <a:ln/>
        </p:spPr>
        <p:txBody>
          <a:bodyPr wrap="square" rtlCol="0" anchor="t"/>
          <a:lstStyle/>
          <a:p>
            <a:pPr algn="ctr" indent="0" marL="0">
              <a:lnSpc>
                <a:spcPts val="1350"/>
              </a:lnSpc>
              <a:buNone/>
            </a:pPr>
            <a:r>
              <a:rPr lang="en-US" sz="1050" dirty="0">
                <a:solidFill>
                  <a:srgbClr val="1D4ED8"/>
                </a:solidFill>
                <a:latin typeface="Arial" pitchFamily="34" charset="0"/>
                <a:ea typeface="Arial" pitchFamily="34" charset="-122"/>
                <a:cs typeface="Arial" pitchFamily="34" charset="-120"/>
              </a:rPr>
              <a:t>against a checklist for</a:t>
            </a:r>
            <a:endParaRPr lang="en-US" sz="1050" dirty="0"/>
          </a:p>
          <a:p>
            <a:pPr algn="ctr" indent="0" marL="0">
              <a:lnSpc>
                <a:spcPts val="1350"/>
              </a:lnSpc>
              <a:buNone/>
            </a:pPr>
            <a:r>
              <a:rPr lang="en-US" sz="1050" dirty="0">
                <a:solidFill>
                  <a:srgbClr val="1D4ED8"/>
                </a:solidFill>
                <a:latin typeface="Arial" pitchFamily="34" charset="0"/>
                <a:ea typeface="Arial" pitchFamily="34" charset="-122"/>
                <a:cs typeface="Arial" pitchFamily="34" charset="-120"/>
              </a:rPr>
              <a:t>this kind of question</a:t>
            </a:r>
            <a:endParaRPr lang="en-US" sz="1050" dirty="0"/>
          </a:p>
        </p:txBody>
      </p:sp>
      <p:sp>
        <p:nvSpPr>
          <p:cNvPr id="14" name="Text 12"/>
          <p:cNvSpPr/>
          <p:nvPr/>
        </p:nvSpPr>
        <p:spPr>
          <a:xfrm>
            <a:off x="5958688" y="1929384"/>
            <a:ext cx="274320" cy="292608"/>
          </a:xfrm>
          <a:prstGeom prst="rect">
            <a:avLst/>
          </a:prstGeom>
          <a:noFill/>
          <a:ln/>
        </p:spPr>
        <p:txBody>
          <a:bodyPr wrap="square" rtlCol="0" anchor="ctr"/>
          <a:lstStyle/>
          <a:p>
            <a:pPr algn="ctr" indent="0" marL="0">
              <a:buNone/>
            </a:pPr>
            <a:r>
              <a:rPr lang="en-US" sz="1600" b="1" dirty="0">
                <a:solidFill>
                  <a:srgbClr val="1D4ED8"/>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6233008" y="1517904"/>
            <a:ext cx="2558720" cy="1042416"/>
          </a:xfrm>
          <a:prstGeom prst="rect">
            <a:avLst/>
          </a:prstGeom>
          <a:solidFill>
            <a:srgbClr val="EAF0FE"/>
          </a:solidFill>
          <a:ln w="15875">
            <a:solidFill>
              <a:srgbClr val="1D4ED8"/>
            </a:solidFill>
            <a:prstDash val="solid"/>
          </a:ln>
        </p:spPr>
      </p:sp>
      <p:sp>
        <p:nvSpPr>
          <p:cNvPr id="16" name="Text 14"/>
          <p:cNvSpPr/>
          <p:nvPr/>
        </p:nvSpPr>
        <p:spPr>
          <a:xfrm>
            <a:off x="6379312" y="1591056"/>
            <a:ext cx="365760" cy="237744"/>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6361024" y="1819656"/>
            <a:ext cx="2302688" cy="310896"/>
          </a:xfrm>
          <a:prstGeom prst="rect">
            <a:avLst/>
          </a:prstGeom>
          <a:noFill/>
          <a:ln/>
        </p:spPr>
        <p:txBody>
          <a:bodyPr wrap="square" rtlCol="0" anchor="ctr"/>
          <a:lstStyle/>
          <a:p>
            <a:pPr algn="ctr" indent="0" marL="0">
              <a:buNone/>
            </a:pPr>
            <a:r>
              <a:rPr lang="en-US" sz="1300" b="1" dirty="0">
                <a:solidFill>
                  <a:srgbClr val="14161A"/>
                </a:solidFill>
                <a:latin typeface="Arial" pitchFamily="34" charset="0"/>
                <a:ea typeface="Arial" pitchFamily="34" charset="-122"/>
                <a:cs typeface="Arial" pitchFamily="34" charset="-120"/>
              </a:rPr>
              <a:t>It decides what to ask next</a:t>
            </a:r>
            <a:endParaRPr lang="en-US" sz="1300" dirty="0"/>
          </a:p>
        </p:txBody>
      </p:sp>
      <p:sp>
        <p:nvSpPr>
          <p:cNvPr id="18" name="Text 16"/>
          <p:cNvSpPr/>
          <p:nvPr/>
        </p:nvSpPr>
        <p:spPr>
          <a:xfrm>
            <a:off x="6324448" y="2139696"/>
            <a:ext cx="2375840" cy="402336"/>
          </a:xfrm>
          <a:prstGeom prst="rect">
            <a:avLst/>
          </a:prstGeom>
          <a:noFill/>
          <a:ln/>
        </p:spPr>
        <p:txBody>
          <a:bodyPr wrap="square" rtlCol="0" anchor="t"/>
          <a:lstStyle/>
          <a:p>
            <a:pPr algn="ctr" indent="0" marL="0">
              <a:lnSpc>
                <a:spcPts val="1350"/>
              </a:lnSpc>
              <a:buNone/>
            </a:pPr>
            <a:r>
              <a:rPr lang="en-US" sz="1050" dirty="0">
                <a:solidFill>
                  <a:srgbClr val="1D4ED8"/>
                </a:solidFill>
                <a:latin typeface="Arial" pitchFamily="34" charset="0"/>
                <a:ea typeface="Arial" pitchFamily="34" charset="-122"/>
                <a:cs typeface="Arial" pitchFamily="34" charset="-120"/>
              </a:rPr>
              <a:t>and how hard</a:t>
            </a:r>
            <a:endParaRPr lang="en-US" sz="1050" dirty="0"/>
          </a:p>
          <a:p>
            <a:pPr algn="ctr" indent="0" marL="0">
              <a:lnSpc>
                <a:spcPts val="1350"/>
              </a:lnSpc>
              <a:buNone/>
            </a:pPr>
            <a:r>
              <a:rPr lang="en-US" sz="1050" dirty="0">
                <a:solidFill>
                  <a:srgbClr val="1D4ED8"/>
                </a:solidFill>
                <a:latin typeface="Arial" pitchFamily="34" charset="0"/>
                <a:ea typeface="Arial" pitchFamily="34" charset="-122"/>
                <a:cs typeface="Arial" pitchFamily="34" charset="-120"/>
              </a:rPr>
              <a:t>to make it</a:t>
            </a:r>
            <a:endParaRPr lang="en-US" sz="1050" dirty="0"/>
          </a:p>
        </p:txBody>
      </p:sp>
      <p:sp>
        <p:nvSpPr>
          <p:cNvPr id="19" name="Text 17"/>
          <p:cNvSpPr/>
          <p:nvPr/>
        </p:nvSpPr>
        <p:spPr>
          <a:xfrm>
            <a:off x="8791727" y="1929384"/>
            <a:ext cx="274320" cy="292608"/>
          </a:xfrm>
          <a:prstGeom prst="rect">
            <a:avLst/>
          </a:prstGeom>
          <a:noFill/>
          <a:ln/>
        </p:spPr>
        <p:txBody>
          <a:bodyPr wrap="square" rtlCol="0" anchor="ctr"/>
          <a:lstStyle/>
          <a:p>
            <a:pPr algn="ctr" indent="0" marL="0">
              <a:buNone/>
            </a:pPr>
            <a:r>
              <a:rPr lang="en-US" sz="1600" b="1" dirty="0">
                <a:solidFill>
                  <a:srgbClr val="1D4ED8"/>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9066047" y="1517904"/>
            <a:ext cx="2558720" cy="1042416"/>
          </a:xfrm>
          <a:prstGeom prst="rect">
            <a:avLst/>
          </a:prstGeom>
          <a:solidFill>
            <a:srgbClr val="F5F7FA"/>
          </a:solidFill>
          <a:ln w="12700">
            <a:solidFill>
              <a:srgbClr val="DFE4EA"/>
            </a:solidFill>
            <a:prstDash val="solid"/>
          </a:ln>
        </p:spPr>
      </p:sp>
      <p:sp>
        <p:nvSpPr>
          <p:cNvPr id="21" name="Text 19"/>
          <p:cNvSpPr/>
          <p:nvPr/>
        </p:nvSpPr>
        <p:spPr>
          <a:xfrm>
            <a:off x="9212351" y="1591056"/>
            <a:ext cx="365760" cy="237744"/>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9194063" y="1819656"/>
            <a:ext cx="2302688" cy="310896"/>
          </a:xfrm>
          <a:prstGeom prst="rect">
            <a:avLst/>
          </a:prstGeom>
          <a:noFill/>
          <a:ln/>
        </p:spPr>
        <p:txBody>
          <a:bodyPr wrap="square" rtlCol="0" anchor="ctr"/>
          <a:lstStyle/>
          <a:p>
            <a:pPr algn="ctr" indent="0" marL="0">
              <a:buNone/>
            </a:pPr>
            <a:r>
              <a:rPr lang="en-US" sz="1300" b="1" dirty="0">
                <a:solidFill>
                  <a:srgbClr val="14161A"/>
                </a:solidFill>
                <a:latin typeface="Arial" pitchFamily="34" charset="0"/>
                <a:ea typeface="Arial" pitchFamily="34" charset="-122"/>
                <a:cs typeface="Arial" pitchFamily="34" charset="-120"/>
              </a:rPr>
              <a:t>It asks the follow-up</a:t>
            </a:r>
            <a:endParaRPr lang="en-US" sz="1300" dirty="0"/>
          </a:p>
        </p:txBody>
      </p:sp>
      <p:sp>
        <p:nvSpPr>
          <p:cNvPr id="23" name="Text 21"/>
          <p:cNvSpPr/>
          <p:nvPr/>
        </p:nvSpPr>
        <p:spPr>
          <a:xfrm>
            <a:off x="9157487" y="2139696"/>
            <a:ext cx="2375840" cy="402336"/>
          </a:xfrm>
          <a:prstGeom prst="rect">
            <a:avLst/>
          </a:prstGeom>
          <a:noFill/>
          <a:ln/>
        </p:spPr>
        <p:txBody>
          <a:bodyPr wrap="square" rtlCol="0" anchor="t"/>
          <a:lstStyle/>
          <a:p>
            <a:pPr algn="ctr" indent="0" marL="0">
              <a:lnSpc>
                <a:spcPts val="1350"/>
              </a:lnSpc>
              <a:buNone/>
            </a:pPr>
            <a:r>
              <a:rPr lang="en-US" sz="1050" dirty="0">
                <a:solidFill>
                  <a:srgbClr val="7A8593"/>
                </a:solidFill>
                <a:latin typeface="Arial" pitchFamily="34" charset="0"/>
                <a:ea typeface="Arial" pitchFamily="34" charset="-122"/>
                <a:cs typeface="Arial" pitchFamily="34" charset="-120"/>
              </a:rPr>
              <a:t>aimed at what</a:t>
            </a:r>
            <a:endParaRPr lang="en-US" sz="1050" dirty="0"/>
          </a:p>
          <a:p>
            <a:pPr algn="ctr" indent="0" marL="0">
              <a:lnSpc>
                <a:spcPts val="1350"/>
              </a:lnSpc>
              <a:buNone/>
            </a:pPr>
            <a:r>
              <a:rPr lang="en-US" sz="1050" dirty="0">
                <a:solidFill>
                  <a:srgbClr val="7A8593"/>
                </a:solidFill>
                <a:latin typeface="Arial" pitchFamily="34" charset="0"/>
                <a:ea typeface="Arial" pitchFamily="34" charset="-122"/>
                <a:cs typeface="Arial" pitchFamily="34" charset="-120"/>
              </a:rPr>
              <a:t>you got wrong</a:t>
            </a:r>
            <a:endParaRPr lang="en-US" sz="1050" dirty="0"/>
          </a:p>
        </p:txBody>
      </p:sp>
      <p:sp>
        <p:nvSpPr>
          <p:cNvPr id="24" name="Shape 22"/>
          <p:cNvSpPr/>
          <p:nvPr/>
        </p:nvSpPr>
        <p:spPr>
          <a:xfrm>
            <a:off x="566928" y="2651760"/>
            <a:ext cx="11057839" cy="420624"/>
          </a:xfrm>
          <a:prstGeom prst="rect">
            <a:avLst/>
          </a:prstGeom>
          <a:solidFill>
            <a:srgbClr val="FFFFFF"/>
          </a:solidFill>
          <a:ln w="12700">
            <a:solidFill>
              <a:srgbClr val="FFFFFF"/>
            </a:solidFill>
            <a:prstDash val="solid"/>
          </a:ln>
        </p:spPr>
      </p:sp>
      <p:sp>
        <p:nvSpPr>
          <p:cNvPr id="25" name="Shape 23"/>
          <p:cNvSpPr/>
          <p:nvPr/>
        </p:nvSpPr>
        <p:spPr>
          <a:xfrm>
            <a:off x="566928" y="2651760"/>
            <a:ext cx="50292" cy="420624"/>
          </a:xfrm>
          <a:prstGeom prst="rect">
            <a:avLst/>
          </a:prstGeom>
          <a:solidFill>
            <a:srgbClr val="7A8593"/>
          </a:solidFill>
          <a:ln w="12700">
            <a:solidFill>
              <a:srgbClr val="333333"/>
            </a:solidFill>
            <a:prstDash val="solid"/>
          </a:ln>
        </p:spPr>
      </p:sp>
      <p:sp>
        <p:nvSpPr>
          <p:cNvPr id="26" name="Text 24"/>
          <p:cNvSpPr/>
          <p:nvPr/>
        </p:nvSpPr>
        <p:spPr>
          <a:xfrm>
            <a:off x="841248" y="2651760"/>
            <a:ext cx="10600639" cy="420624"/>
          </a:xfrm>
          <a:prstGeom prst="rect">
            <a:avLst/>
          </a:prstGeom>
          <a:noFill/>
          <a:ln/>
        </p:spPr>
        <p:txBody>
          <a:bodyPr wrap="square" rtlCol="0" anchor="ctr"/>
          <a:lstStyle/>
          <a:p>
            <a:pPr indent="0" marL="0">
              <a:buNone/>
            </a:pPr>
            <a:r>
              <a:rPr lang="en-US" sz="1050" b="1" dirty="0">
                <a:solidFill>
                  <a:srgbClr val="14161A"/>
                </a:solidFill>
                <a:latin typeface="Arial" pitchFamily="34" charset="0"/>
                <a:ea typeface="Arial" pitchFamily="34" charset="-122"/>
                <a:cs typeface="Arial" pitchFamily="34" charset="-120"/>
              </a:rPr>
              <a:t>Which checklist?  </a:t>
            </a:r>
            <a:pPr indent="0" marL="0">
              <a:buNone/>
            </a:pPr>
            <a:r>
              <a:rPr lang="en-US" sz="1050" dirty="0">
                <a:solidFill>
                  <a:srgbClr val="3F4750"/>
                </a:solidFill>
                <a:latin typeface="Arial" pitchFamily="34" charset="0"/>
                <a:ea typeface="Arial" pitchFamily="34" charset="-122"/>
                <a:cs typeface="Arial" pitchFamily="34" charset="-120"/>
              </a:rPr>
              <a:t>Story rounds — did you set the scene, was the task clear, what did </a:t>
            </a:r>
            <a:pPr indent="0" marL="0">
              <a:buNone/>
            </a:pPr>
            <a:r>
              <a:rPr lang="en-US" sz="1050" i="1" dirty="0">
                <a:solidFill>
                  <a:srgbClr val="3F4750"/>
                </a:solidFill>
                <a:latin typeface="Arial" pitchFamily="34" charset="0"/>
                <a:ea typeface="Arial" pitchFamily="34" charset="-122"/>
                <a:cs typeface="Arial" pitchFamily="34" charset="-120"/>
              </a:rPr>
              <a:t>you</a:t>
            </a:r>
            <a:pPr indent="0" marL="0">
              <a:buNone/>
            </a:pPr>
            <a:r>
              <a:rPr lang="en-US" sz="1050" dirty="0">
                <a:solidFill>
                  <a:srgbClr val="3F4750"/>
                </a:solidFill>
                <a:latin typeface="Arial" pitchFamily="34" charset="0"/>
                <a:ea typeface="Arial" pitchFamily="34" charset="-122"/>
                <a:cs typeface="Arial" pitchFamily="34" charset="-120"/>
              </a:rPr>
              <a:t> do, what was the result?      Technical rounds — did you understand the problem, is the answer correct, is it efficient, did you handle the tricky cases?</a:t>
            </a:r>
            <a:endParaRPr lang="en-US" sz="1050" dirty="0"/>
          </a:p>
        </p:txBody>
      </p:sp>
      <p:sp>
        <p:nvSpPr>
          <p:cNvPr id="27" name="Shape 25"/>
          <p:cNvSpPr/>
          <p:nvPr/>
        </p:nvSpPr>
        <p:spPr>
          <a:xfrm>
            <a:off x="566928" y="3163824"/>
            <a:ext cx="11057839" cy="1773936"/>
          </a:xfrm>
          <a:prstGeom prst="rect">
            <a:avLst/>
          </a:prstGeom>
          <a:solidFill>
            <a:srgbClr val="F5F7FA"/>
          </a:solidFill>
          <a:ln w="12700">
            <a:solidFill>
              <a:srgbClr val="F5F7FA"/>
            </a:solidFill>
            <a:prstDash val="solid"/>
          </a:ln>
        </p:spPr>
      </p:sp>
      <p:sp>
        <p:nvSpPr>
          <p:cNvPr id="28" name="Shape 26"/>
          <p:cNvSpPr/>
          <p:nvPr/>
        </p:nvSpPr>
        <p:spPr>
          <a:xfrm>
            <a:off x="566928" y="3163824"/>
            <a:ext cx="50292" cy="1773936"/>
          </a:xfrm>
          <a:prstGeom prst="rect">
            <a:avLst/>
          </a:prstGeom>
          <a:solidFill>
            <a:srgbClr val="1D4ED8"/>
          </a:solidFill>
          <a:ln w="12700">
            <a:solidFill>
              <a:srgbClr val="333333"/>
            </a:solidFill>
            <a:prstDash val="solid"/>
          </a:ln>
        </p:spPr>
      </p:sp>
      <p:sp>
        <p:nvSpPr>
          <p:cNvPr id="29" name="Text 27"/>
          <p:cNvSpPr/>
          <p:nvPr/>
        </p:nvSpPr>
        <p:spPr>
          <a:xfrm>
            <a:off x="877824" y="3236976"/>
            <a:ext cx="10417759" cy="256032"/>
          </a:xfrm>
          <a:prstGeom prst="rect">
            <a:avLst/>
          </a:prstGeom>
          <a:noFill/>
          <a:ln/>
        </p:spPr>
        <p:txBody>
          <a:bodyPr wrap="square" rtlCol="0" anchor="ctr"/>
          <a:lstStyle/>
          <a:p>
            <a:pPr indent="0" marL="0">
              <a:buNone/>
            </a:pPr>
            <a:r>
              <a:rPr lang="en-US" sz="1250" b="1" dirty="0">
                <a:solidFill>
                  <a:srgbClr val="1D4ED8"/>
                </a:solidFill>
                <a:latin typeface="Arial" pitchFamily="34" charset="0"/>
                <a:ea typeface="Arial" pitchFamily="34" charset="-122"/>
                <a:cs typeface="Arial" pitchFamily="34" charset="-120"/>
              </a:rPr>
              <a:t>A real example</a:t>
            </a:r>
            <a:endParaRPr lang="en-US" sz="1250" dirty="0"/>
          </a:p>
        </p:txBody>
      </p:sp>
      <p:sp>
        <p:nvSpPr>
          <p:cNvPr id="30" name="Text 28"/>
          <p:cNvSpPr/>
          <p:nvPr/>
        </p:nvSpPr>
        <p:spPr>
          <a:xfrm>
            <a:off x="877824" y="3529584"/>
            <a:ext cx="10417759" cy="1316736"/>
          </a:xfrm>
          <a:prstGeom prst="rect">
            <a:avLst/>
          </a:prstGeom>
          <a:noFill/>
          <a:ln/>
        </p:spPr>
        <p:txBody>
          <a:bodyPr wrap="square" rtlCol="0" anchor="t"/>
          <a:lstStyle/>
          <a:p>
            <a:pPr indent="0" marL="0">
              <a:lnSpc>
                <a:spcPts val="1600"/>
              </a:lnSpc>
              <a:buNone/>
            </a:pPr>
            <a:r>
              <a:rPr lang="en-US" sz="1100" b="1" dirty="0">
                <a:solidFill>
                  <a:srgbClr val="14161A"/>
                </a:solidFill>
                <a:latin typeface="Arial" pitchFamily="34" charset="0"/>
                <a:ea typeface="Arial" pitchFamily="34" charset="-122"/>
                <a:cs typeface="Arial" pitchFamily="34" charset="-120"/>
              </a:rPr>
              <a:t>Question   </a:t>
            </a:r>
            <a:pPr indent="0" marL="0">
              <a:lnSpc>
                <a:spcPts val="1600"/>
              </a:lnSpc>
              <a:buNone/>
            </a:pPr>
            <a:r>
              <a:rPr lang="en-US" sz="1100" dirty="0">
                <a:solidFill>
                  <a:srgbClr val="3F4750"/>
                </a:solidFill>
                <a:latin typeface="Arial" pitchFamily="34" charset="0"/>
                <a:ea typeface="Arial" pitchFamily="34" charset="-122"/>
                <a:cs typeface="Arial" pitchFamily="34" charset="-120"/>
              </a:rPr>
              <a:t>Tell me about a time you had to deliver a project with an unrealistic deadline.</a:t>
            </a:r>
            <a:endParaRPr lang="en-US" sz="1100" dirty="0"/>
          </a:p>
          <a:p>
            <a:pPr indent="0" marL="0">
              <a:lnSpc>
                <a:spcPts val="1600"/>
              </a:lnSpc>
              <a:buNone/>
            </a:pPr>
            <a:endParaRPr lang="en-US" sz="1100" dirty="0"/>
          </a:p>
          <a:p>
            <a:pPr indent="0" marL="0">
              <a:lnSpc>
                <a:spcPts val="1600"/>
              </a:lnSpc>
              <a:buNone/>
            </a:pPr>
            <a:r>
              <a:rPr lang="en-US" sz="1100" b="1" dirty="0">
                <a:solidFill>
                  <a:srgbClr val="14161A"/>
                </a:solidFill>
                <a:latin typeface="Arial" pitchFamily="34" charset="0"/>
                <a:ea typeface="Arial" pitchFamily="34" charset="-122"/>
                <a:cs typeface="Arial" pitchFamily="34" charset="-120"/>
              </a:rPr>
              <a:t>Answer   </a:t>
            </a:r>
            <a:pPr indent="0" marL="0">
              <a:lnSpc>
                <a:spcPts val="1600"/>
              </a:lnSpc>
              <a:buNone/>
            </a:pPr>
            <a:r>
              <a:rPr lang="en-US" sz="1100" dirty="0">
                <a:solidFill>
                  <a:srgbClr val="3F4750"/>
                </a:solidFill>
                <a:latin typeface="Arial" pitchFamily="34" charset="0"/>
                <a:ea typeface="Arial" pitchFamily="34" charset="-122"/>
                <a:cs typeface="Arial" pitchFamily="34" charset="-120"/>
              </a:rPr>
              <a:t>“We had a launch date that was pretty tight. I worked with the team and we managed to get most of it done on time…”</a:t>
            </a:r>
            <a:endParaRPr lang="en-US" sz="1100" dirty="0"/>
          </a:p>
          <a:p>
            <a:pPr indent="0" marL="0">
              <a:lnSpc>
                <a:spcPts val="1600"/>
              </a:lnSpc>
              <a:buNone/>
            </a:pPr>
            <a:endParaRPr lang="en-US" sz="1100" dirty="0"/>
          </a:p>
          <a:p>
            <a:pPr indent="0" marL="0">
              <a:lnSpc>
                <a:spcPts val="1600"/>
              </a:lnSpc>
              <a:buNone/>
            </a:pPr>
            <a:r>
              <a:rPr lang="en-US" sz="1100" b="1" dirty="0">
                <a:solidFill>
                  <a:srgbClr val="14161A"/>
                </a:solidFill>
                <a:latin typeface="Arial" pitchFamily="34" charset="0"/>
                <a:ea typeface="Arial" pitchFamily="34" charset="-122"/>
                <a:cs typeface="Arial" pitchFamily="34" charset="-120"/>
              </a:rPr>
              <a:t>It checks   </a:t>
            </a:r>
            <a:pPr indent="0" marL="0">
              <a:lnSpc>
                <a:spcPts val="1600"/>
              </a:lnSpc>
              <a:buNone/>
            </a:pPr>
            <a:r>
              <a:rPr lang="en-US" sz="1100" dirty="0">
                <a:solidFill>
                  <a:srgbClr val="3F4750"/>
                </a:solidFill>
                <a:latin typeface="Arial" pitchFamily="34" charset="0"/>
                <a:ea typeface="Arial" pitchFamily="34" charset="-122"/>
                <a:cs typeface="Arial" pitchFamily="34" charset="-120"/>
              </a:rPr>
              <a:t>Did you set the scene?  Are there any specifics?  Did you say what </a:t>
            </a:r>
            <a:pPr indent="0" marL="0">
              <a:lnSpc>
                <a:spcPts val="1600"/>
              </a:lnSpc>
              <a:buNone/>
            </a:pPr>
            <a:r>
              <a:rPr lang="en-US" sz="1100" i="1" dirty="0">
                <a:solidFill>
                  <a:srgbClr val="3F4750"/>
                </a:solidFill>
                <a:latin typeface="Arial" pitchFamily="34" charset="0"/>
                <a:ea typeface="Arial" pitchFamily="34" charset="-122"/>
                <a:cs typeface="Arial" pitchFamily="34" charset="-120"/>
              </a:rPr>
              <a:t>you</a:t>
            </a:r>
            <a:pPr indent="0" marL="0">
              <a:lnSpc>
                <a:spcPts val="1600"/>
              </a:lnSpc>
              <a:buNone/>
            </a:pPr>
            <a:r>
              <a:rPr lang="en-US" sz="1100" dirty="0">
                <a:solidFill>
                  <a:srgbClr val="3F4750"/>
                </a:solidFill>
                <a:latin typeface="Arial" pitchFamily="34" charset="0"/>
                <a:ea typeface="Arial" pitchFamily="34" charset="-122"/>
                <a:cs typeface="Arial" pitchFamily="34" charset="-120"/>
              </a:rPr>
              <a:t> did, or what the team did?</a:t>
            </a:r>
            <a:endParaRPr lang="en-US" sz="1100" dirty="0"/>
          </a:p>
          <a:p>
            <a:pPr indent="0" marL="0">
              <a:lnSpc>
                <a:spcPts val="1600"/>
              </a:lnSpc>
              <a:buNone/>
            </a:pPr>
            <a:endParaRPr lang="en-US" sz="1100" dirty="0"/>
          </a:p>
          <a:p>
            <a:pPr indent="0" marL="0">
              <a:lnSpc>
                <a:spcPts val="1600"/>
              </a:lnSpc>
              <a:buNone/>
            </a:pPr>
            <a:r>
              <a:rPr lang="en-US" sz="1100" b="1" dirty="0">
                <a:solidFill>
                  <a:srgbClr val="1D4ED8"/>
                </a:solidFill>
                <a:latin typeface="Arial" pitchFamily="34" charset="0"/>
                <a:ea typeface="Arial" pitchFamily="34" charset="-122"/>
                <a:cs typeface="Arial" pitchFamily="34" charset="-120"/>
              </a:rPr>
              <a:t>So next   </a:t>
            </a:r>
            <a:pPr indent="0" marL="0">
              <a:lnSpc>
                <a:spcPts val="1600"/>
              </a:lnSpc>
              <a:buNone/>
            </a:pPr>
            <a:r>
              <a:rPr lang="en-US" sz="1100" dirty="0">
                <a:solidFill>
                  <a:srgbClr val="14161A"/>
                </a:solidFill>
                <a:latin typeface="Arial" pitchFamily="34" charset="0"/>
                <a:ea typeface="Arial" pitchFamily="34" charset="-122"/>
                <a:cs typeface="Arial" pitchFamily="34" charset="-120"/>
              </a:rPr>
              <a:t>no specifics, and “we” all the way through — so the follow-up presses for what this person personally did.</a:t>
            </a:r>
            <a:endParaRPr lang="en-US" sz="1100" dirty="0"/>
          </a:p>
        </p:txBody>
      </p:sp>
      <p:sp>
        <p:nvSpPr>
          <p:cNvPr id="31" name="Shape 29"/>
          <p:cNvSpPr/>
          <p:nvPr/>
        </p:nvSpPr>
        <p:spPr>
          <a:xfrm>
            <a:off x="566928" y="5047488"/>
            <a:ext cx="11057839" cy="640080"/>
          </a:xfrm>
          <a:prstGeom prst="rect">
            <a:avLst/>
          </a:prstGeom>
          <a:solidFill>
            <a:srgbClr val="EAF0FE"/>
          </a:solidFill>
          <a:ln w="12700">
            <a:solidFill>
              <a:srgbClr val="EAF0FE"/>
            </a:solidFill>
            <a:prstDash val="solid"/>
          </a:ln>
        </p:spPr>
      </p:sp>
      <p:sp>
        <p:nvSpPr>
          <p:cNvPr id="32" name="Shape 30"/>
          <p:cNvSpPr/>
          <p:nvPr/>
        </p:nvSpPr>
        <p:spPr>
          <a:xfrm>
            <a:off x="566928" y="5047488"/>
            <a:ext cx="50292" cy="640080"/>
          </a:xfrm>
          <a:prstGeom prst="rect">
            <a:avLst/>
          </a:prstGeom>
          <a:solidFill>
            <a:srgbClr val="1D4ED8"/>
          </a:solidFill>
          <a:ln w="12700">
            <a:solidFill>
              <a:srgbClr val="333333"/>
            </a:solidFill>
            <a:prstDash val="solid"/>
          </a:ln>
        </p:spPr>
      </p:sp>
      <p:sp>
        <p:nvSpPr>
          <p:cNvPr id="33" name="Text 31"/>
          <p:cNvSpPr/>
          <p:nvPr/>
        </p:nvSpPr>
        <p:spPr>
          <a:xfrm>
            <a:off x="877824" y="5047488"/>
            <a:ext cx="10509199" cy="640080"/>
          </a:xfrm>
          <a:prstGeom prst="rect">
            <a:avLst/>
          </a:prstGeom>
          <a:noFill/>
          <a:ln/>
        </p:spPr>
        <p:txBody>
          <a:bodyPr wrap="square" rtlCol="0" anchor="ctr"/>
          <a:lstStyle/>
          <a:p>
            <a:pPr indent="0" marL="0">
              <a:buNone/>
            </a:pPr>
            <a:r>
              <a:rPr lang="en-US" sz="1300" b="1" dirty="0">
                <a:solidFill>
                  <a:srgbClr val="1D4ED8"/>
                </a:solidFill>
                <a:latin typeface="Arial" pitchFamily="34" charset="0"/>
                <a:ea typeface="Arial" pitchFamily="34" charset="-122"/>
                <a:cs typeface="Arial" pitchFamily="34" charset="-120"/>
              </a:rPr>
              <a:t>Why mark it first?  </a:t>
            </a:r>
            <a:pPr indent="0" marL="0">
              <a:buNone/>
            </a:pPr>
            <a:r>
              <a:rPr lang="en-US" sz="1300" dirty="0">
                <a:solidFill>
                  <a:srgbClr val="14161A"/>
                </a:solidFill>
                <a:latin typeface="Arial" pitchFamily="34" charset="0"/>
                <a:ea typeface="Arial" pitchFamily="34" charset="-122"/>
                <a:cs typeface="Arial" pitchFamily="34" charset="-120"/>
              </a:rPr>
              <a:t>A score that only arrives at the end of the interview cannot change the interview.</a:t>
            </a:r>
            <a:endParaRPr lang="en-US" sz="1300" dirty="0"/>
          </a:p>
        </p:txBody>
      </p:sp>
      <p:sp>
        <p:nvSpPr>
          <p:cNvPr id="34" name="Text 32"/>
          <p:cNvSpPr/>
          <p:nvPr/>
        </p:nvSpPr>
        <p:spPr>
          <a:xfrm>
            <a:off x="566928" y="5760720"/>
            <a:ext cx="11057839" cy="256032"/>
          </a:xfrm>
          <a:prstGeom prst="rect">
            <a:avLst/>
          </a:prstGeom>
          <a:noFill/>
          <a:ln/>
        </p:spPr>
        <p:txBody>
          <a:bodyPr wrap="square" rtlCol="0" anchor="ctr"/>
          <a:lstStyle/>
          <a:p>
            <a:pPr indent="0" marL="0">
              <a:buNone/>
            </a:pPr>
            <a:r>
              <a:rPr lang="en-US" sz="1000" i="1" dirty="0">
                <a:solidFill>
                  <a:srgbClr val="7A8593"/>
                </a:solidFill>
                <a:latin typeface="Arial" pitchFamily="34" charset="0"/>
                <a:ea typeface="Arial" pitchFamily="34" charset="-122"/>
                <a:cs typeface="Arial" pitchFamily="34" charset="-120"/>
              </a:rPr>
              <a:t>Not an AI agent: the AI writes the questions and marks the answers. My code decides what happens next.</a:t>
            </a:r>
            <a:endParaRPr lang="en-US" sz="1000" dirty="0"/>
          </a:p>
        </p:txBody>
      </p:sp>
      <p:sp>
        <p:nvSpPr>
          <p:cNvPr id="36" name="Text 33"/>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37" name="Text 34"/>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WHAT IT'S BUILT FROM</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Four parts, and what each one actually does.</a:t>
            </a:r>
            <a:endParaRPr lang="en-US" sz="3000" dirty="0"/>
          </a:p>
        </p:txBody>
      </p:sp>
      <p:sp>
        <p:nvSpPr>
          <p:cNvPr id="5" name="Shape 3"/>
          <p:cNvSpPr/>
          <p:nvPr/>
        </p:nvSpPr>
        <p:spPr>
          <a:xfrm>
            <a:off x="566928" y="1591056"/>
            <a:ext cx="5373472" cy="1463040"/>
          </a:xfrm>
          <a:prstGeom prst="rect">
            <a:avLst/>
          </a:prstGeom>
          <a:solidFill>
            <a:srgbClr val="F5F7FA"/>
          </a:solidFill>
          <a:ln w="12700">
            <a:solidFill>
              <a:srgbClr val="F5F7FA"/>
            </a:solidFill>
            <a:prstDash val="solid"/>
          </a:ln>
        </p:spPr>
      </p:sp>
      <p:sp>
        <p:nvSpPr>
          <p:cNvPr id="6" name="Shape 4"/>
          <p:cNvSpPr/>
          <p:nvPr/>
        </p:nvSpPr>
        <p:spPr>
          <a:xfrm>
            <a:off x="566928" y="1591056"/>
            <a:ext cx="50292" cy="1463040"/>
          </a:xfrm>
          <a:prstGeom prst="rect">
            <a:avLst/>
          </a:prstGeom>
          <a:solidFill>
            <a:srgbClr val="1D4ED8"/>
          </a:solidFill>
          <a:ln w="12700">
            <a:solidFill>
              <a:srgbClr val="333333"/>
            </a:solidFill>
            <a:prstDash val="solid"/>
          </a:ln>
        </p:spPr>
      </p:sp>
      <p:sp>
        <p:nvSpPr>
          <p:cNvPr id="7" name="Text 5"/>
          <p:cNvSpPr/>
          <p:nvPr/>
        </p:nvSpPr>
        <p:spPr>
          <a:xfrm>
            <a:off x="841248" y="1700784"/>
            <a:ext cx="4916272" cy="274320"/>
          </a:xfrm>
          <a:prstGeom prst="rect">
            <a:avLst/>
          </a:prstGeom>
          <a:noFill/>
          <a:ln/>
        </p:spPr>
        <p:txBody>
          <a:bodyPr wrap="square" rtlCol="0" anchor="ctr"/>
          <a:lstStyle/>
          <a:p>
            <a:pPr indent="0" marL="0">
              <a:buNone/>
            </a:pPr>
            <a:r>
              <a:rPr lang="en-US" sz="1350" b="1" dirty="0">
                <a:solidFill>
                  <a:srgbClr val="14161A"/>
                </a:solidFill>
                <a:latin typeface="Arial" pitchFamily="34" charset="0"/>
                <a:ea typeface="Arial" pitchFamily="34" charset="-122"/>
                <a:cs typeface="Arial" pitchFamily="34" charset="-120"/>
              </a:rPr>
              <a:t>The AI that asks and marks</a:t>
            </a:r>
            <a:endParaRPr lang="en-US" sz="1350" dirty="0"/>
          </a:p>
        </p:txBody>
      </p:sp>
      <p:sp>
        <p:nvSpPr>
          <p:cNvPr id="8" name="Text 6"/>
          <p:cNvSpPr/>
          <p:nvPr/>
        </p:nvSpPr>
        <p:spPr>
          <a:xfrm>
            <a:off x="841248" y="2048256"/>
            <a:ext cx="4916272" cy="896112"/>
          </a:xfrm>
          <a:prstGeom prst="rect">
            <a:avLst/>
          </a:prstGeom>
          <a:noFill/>
          <a:ln/>
        </p:spPr>
        <p:txBody>
          <a:bodyPr wrap="square" rtlCol="0" anchor="t"/>
          <a:lstStyle/>
          <a:p>
            <a:pPr indent="0" marL="0">
              <a:lnSpc>
                <a:spcPts val="1700"/>
              </a:lnSpc>
              <a:buNone/>
            </a:pPr>
            <a:r>
              <a:rPr lang="en-US" sz="1150" dirty="0">
                <a:solidFill>
                  <a:srgbClr val="3F4750"/>
                </a:solidFill>
                <a:latin typeface="Arial" pitchFamily="34" charset="0"/>
                <a:ea typeface="Arial" pitchFamily="34" charset="-122"/>
                <a:cs typeface="Arial" pitchFamily="34" charset="-120"/>
              </a:rPr>
              <a:t>GPT-4o-mini, from OpenAI</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One model asks the questions, marks the answers and writes the feedback</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Answers appear word by word, not after a long pause</a:t>
            </a:r>
            <a:endParaRPr lang="en-US" sz="1150" dirty="0"/>
          </a:p>
        </p:txBody>
      </p:sp>
      <p:sp>
        <p:nvSpPr>
          <p:cNvPr id="9" name="Shape 7"/>
          <p:cNvSpPr/>
          <p:nvPr/>
        </p:nvSpPr>
        <p:spPr>
          <a:xfrm>
            <a:off x="6251296" y="1591056"/>
            <a:ext cx="5373472" cy="1463040"/>
          </a:xfrm>
          <a:prstGeom prst="rect">
            <a:avLst/>
          </a:prstGeom>
          <a:solidFill>
            <a:srgbClr val="F5F7FA"/>
          </a:solidFill>
          <a:ln w="12700">
            <a:solidFill>
              <a:srgbClr val="F5F7FA"/>
            </a:solidFill>
            <a:prstDash val="solid"/>
          </a:ln>
        </p:spPr>
      </p:sp>
      <p:sp>
        <p:nvSpPr>
          <p:cNvPr id="10" name="Shape 8"/>
          <p:cNvSpPr/>
          <p:nvPr/>
        </p:nvSpPr>
        <p:spPr>
          <a:xfrm>
            <a:off x="6251296" y="1591056"/>
            <a:ext cx="50292" cy="1463040"/>
          </a:xfrm>
          <a:prstGeom prst="rect">
            <a:avLst/>
          </a:prstGeom>
          <a:solidFill>
            <a:srgbClr val="1D4ED8"/>
          </a:solidFill>
          <a:ln w="12700">
            <a:solidFill>
              <a:srgbClr val="333333"/>
            </a:solidFill>
            <a:prstDash val="solid"/>
          </a:ln>
        </p:spPr>
      </p:sp>
      <p:sp>
        <p:nvSpPr>
          <p:cNvPr id="11" name="Text 9"/>
          <p:cNvSpPr/>
          <p:nvPr/>
        </p:nvSpPr>
        <p:spPr>
          <a:xfrm>
            <a:off x="6525616" y="1700784"/>
            <a:ext cx="4916272" cy="274320"/>
          </a:xfrm>
          <a:prstGeom prst="rect">
            <a:avLst/>
          </a:prstGeom>
          <a:noFill/>
          <a:ln/>
        </p:spPr>
        <p:txBody>
          <a:bodyPr wrap="square" rtlCol="0" anchor="ctr"/>
          <a:lstStyle/>
          <a:p>
            <a:pPr indent="0" marL="0">
              <a:buNone/>
            </a:pPr>
            <a:r>
              <a:rPr lang="en-US" sz="1350" b="1" dirty="0">
                <a:solidFill>
                  <a:srgbClr val="14161A"/>
                </a:solidFill>
                <a:latin typeface="Arial" pitchFamily="34" charset="0"/>
                <a:ea typeface="Arial" pitchFamily="34" charset="-122"/>
                <a:cs typeface="Arial" pitchFamily="34" charset="-120"/>
              </a:rPr>
              <a:t>Speech</a:t>
            </a:r>
            <a:endParaRPr lang="en-US" sz="1350" dirty="0"/>
          </a:p>
        </p:txBody>
      </p:sp>
      <p:sp>
        <p:nvSpPr>
          <p:cNvPr id="12" name="Text 10"/>
          <p:cNvSpPr/>
          <p:nvPr/>
        </p:nvSpPr>
        <p:spPr>
          <a:xfrm>
            <a:off x="6525616" y="2048256"/>
            <a:ext cx="4916272" cy="896112"/>
          </a:xfrm>
          <a:prstGeom prst="rect">
            <a:avLst/>
          </a:prstGeom>
          <a:noFill/>
          <a:ln/>
        </p:spPr>
        <p:txBody>
          <a:bodyPr wrap="square" rtlCol="0" anchor="t"/>
          <a:lstStyle/>
          <a:p>
            <a:pPr indent="0" marL="0">
              <a:lnSpc>
                <a:spcPts val="1700"/>
              </a:lnSpc>
              <a:buNone/>
            </a:pPr>
            <a:r>
              <a:rPr lang="en-US" sz="1150" dirty="0">
                <a:solidFill>
                  <a:srgbClr val="3F4750"/>
                </a:solidFill>
                <a:latin typeface="Arial" pitchFamily="34" charset="0"/>
                <a:ea typeface="Arial" pitchFamily="34" charset="-122"/>
                <a:cs typeface="Arial" pitchFamily="34" charset="-120"/>
              </a:rPr>
              <a:t>Azure Speech, from Microsoft</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Turns your voice into text while you are still talking</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Reads questions aloud in a natural voice — six to pick from</a:t>
            </a:r>
            <a:endParaRPr lang="en-US" sz="1150" dirty="0"/>
          </a:p>
        </p:txBody>
      </p:sp>
      <p:sp>
        <p:nvSpPr>
          <p:cNvPr id="13" name="Shape 11"/>
          <p:cNvSpPr/>
          <p:nvPr/>
        </p:nvSpPr>
        <p:spPr>
          <a:xfrm>
            <a:off x="566928" y="3163824"/>
            <a:ext cx="5373472" cy="1463040"/>
          </a:xfrm>
          <a:prstGeom prst="rect">
            <a:avLst/>
          </a:prstGeom>
          <a:solidFill>
            <a:srgbClr val="F5F7FA"/>
          </a:solidFill>
          <a:ln w="12700">
            <a:solidFill>
              <a:srgbClr val="F5F7FA"/>
            </a:solidFill>
            <a:prstDash val="solid"/>
          </a:ln>
        </p:spPr>
      </p:sp>
      <p:sp>
        <p:nvSpPr>
          <p:cNvPr id="14" name="Shape 12"/>
          <p:cNvSpPr/>
          <p:nvPr/>
        </p:nvSpPr>
        <p:spPr>
          <a:xfrm>
            <a:off x="566928" y="3163824"/>
            <a:ext cx="50292" cy="1463040"/>
          </a:xfrm>
          <a:prstGeom prst="rect">
            <a:avLst/>
          </a:prstGeom>
          <a:solidFill>
            <a:srgbClr val="1D4ED8"/>
          </a:solidFill>
          <a:ln w="12700">
            <a:solidFill>
              <a:srgbClr val="333333"/>
            </a:solidFill>
            <a:prstDash val="solid"/>
          </a:ln>
        </p:spPr>
      </p:sp>
      <p:sp>
        <p:nvSpPr>
          <p:cNvPr id="15" name="Text 13"/>
          <p:cNvSpPr/>
          <p:nvPr/>
        </p:nvSpPr>
        <p:spPr>
          <a:xfrm>
            <a:off x="841248" y="3273552"/>
            <a:ext cx="4916272" cy="274320"/>
          </a:xfrm>
          <a:prstGeom prst="rect">
            <a:avLst/>
          </a:prstGeom>
          <a:noFill/>
          <a:ln/>
        </p:spPr>
        <p:txBody>
          <a:bodyPr wrap="square" rtlCol="0" anchor="ctr"/>
          <a:lstStyle/>
          <a:p>
            <a:pPr indent="0" marL="0">
              <a:buNone/>
            </a:pPr>
            <a:r>
              <a:rPr lang="en-US" sz="1350" b="1" dirty="0">
                <a:solidFill>
                  <a:srgbClr val="14161A"/>
                </a:solidFill>
                <a:latin typeface="Arial" pitchFamily="34" charset="0"/>
                <a:ea typeface="Arial" pitchFamily="34" charset="-122"/>
                <a:cs typeface="Arial" pitchFamily="34" charset="-120"/>
              </a:rPr>
              <a:t>Your documents</a:t>
            </a:r>
            <a:endParaRPr lang="en-US" sz="1350" dirty="0"/>
          </a:p>
        </p:txBody>
      </p:sp>
      <p:sp>
        <p:nvSpPr>
          <p:cNvPr id="16" name="Text 14"/>
          <p:cNvSpPr/>
          <p:nvPr/>
        </p:nvSpPr>
        <p:spPr>
          <a:xfrm>
            <a:off x="841248" y="3621024"/>
            <a:ext cx="4916272" cy="896112"/>
          </a:xfrm>
          <a:prstGeom prst="rect">
            <a:avLst/>
          </a:prstGeom>
          <a:noFill/>
          <a:ln/>
        </p:spPr>
        <p:txBody>
          <a:bodyPr wrap="square" rtlCol="0" anchor="t"/>
          <a:lstStyle/>
          <a:p>
            <a:pPr indent="0" marL="0">
              <a:lnSpc>
                <a:spcPts val="1700"/>
              </a:lnSpc>
              <a:buNone/>
            </a:pPr>
            <a:r>
              <a:rPr lang="en-US" sz="1150" dirty="0">
                <a:solidFill>
                  <a:srgbClr val="3F4750"/>
                </a:solidFill>
                <a:latin typeface="Arial" pitchFamily="34" charset="0"/>
                <a:ea typeface="Arial" pitchFamily="34" charset="-122"/>
                <a:cs typeface="Arial" pitchFamily="34" charset="-120"/>
              </a:rPr>
              <a:t>Attach the real job advert and your resume</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Split up and searched by meaning, so “led a team” finds “line management”</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Short documents skip the search and go in whole</a:t>
            </a:r>
            <a:endParaRPr lang="en-US" sz="1150" dirty="0"/>
          </a:p>
        </p:txBody>
      </p:sp>
      <p:sp>
        <p:nvSpPr>
          <p:cNvPr id="17" name="Shape 15"/>
          <p:cNvSpPr/>
          <p:nvPr/>
        </p:nvSpPr>
        <p:spPr>
          <a:xfrm>
            <a:off x="6251296" y="3163824"/>
            <a:ext cx="5373472" cy="1463040"/>
          </a:xfrm>
          <a:prstGeom prst="rect">
            <a:avLst/>
          </a:prstGeom>
          <a:solidFill>
            <a:srgbClr val="F5F7FA"/>
          </a:solidFill>
          <a:ln w="12700">
            <a:solidFill>
              <a:srgbClr val="F5F7FA"/>
            </a:solidFill>
            <a:prstDash val="solid"/>
          </a:ln>
        </p:spPr>
      </p:sp>
      <p:sp>
        <p:nvSpPr>
          <p:cNvPr id="18" name="Shape 16"/>
          <p:cNvSpPr/>
          <p:nvPr/>
        </p:nvSpPr>
        <p:spPr>
          <a:xfrm>
            <a:off x="6251296" y="3163824"/>
            <a:ext cx="50292" cy="1463040"/>
          </a:xfrm>
          <a:prstGeom prst="rect">
            <a:avLst/>
          </a:prstGeom>
          <a:solidFill>
            <a:srgbClr val="1D4ED8"/>
          </a:solidFill>
          <a:ln w="12700">
            <a:solidFill>
              <a:srgbClr val="333333"/>
            </a:solidFill>
            <a:prstDash val="solid"/>
          </a:ln>
        </p:spPr>
      </p:sp>
      <p:sp>
        <p:nvSpPr>
          <p:cNvPr id="19" name="Text 17"/>
          <p:cNvSpPr/>
          <p:nvPr/>
        </p:nvSpPr>
        <p:spPr>
          <a:xfrm>
            <a:off x="6525616" y="3273552"/>
            <a:ext cx="4916272" cy="274320"/>
          </a:xfrm>
          <a:prstGeom prst="rect">
            <a:avLst/>
          </a:prstGeom>
          <a:noFill/>
          <a:ln/>
        </p:spPr>
        <p:txBody>
          <a:bodyPr wrap="square" rtlCol="0" anchor="ctr"/>
          <a:lstStyle/>
          <a:p>
            <a:pPr indent="0" marL="0">
              <a:buNone/>
            </a:pPr>
            <a:r>
              <a:rPr lang="en-US" sz="1350" b="1" dirty="0">
                <a:solidFill>
                  <a:srgbClr val="14161A"/>
                </a:solidFill>
                <a:latin typeface="Arial" pitchFamily="34" charset="0"/>
                <a:ea typeface="Arial" pitchFamily="34" charset="-122"/>
                <a:cs typeface="Arial" pitchFamily="34" charset="-120"/>
              </a:rPr>
              <a:t>Where everything is stored</a:t>
            </a:r>
            <a:endParaRPr lang="en-US" sz="1350" dirty="0"/>
          </a:p>
        </p:txBody>
      </p:sp>
      <p:sp>
        <p:nvSpPr>
          <p:cNvPr id="20" name="Text 18"/>
          <p:cNvSpPr/>
          <p:nvPr/>
        </p:nvSpPr>
        <p:spPr>
          <a:xfrm>
            <a:off x="6525616" y="3621024"/>
            <a:ext cx="4916272" cy="896112"/>
          </a:xfrm>
          <a:prstGeom prst="rect">
            <a:avLst/>
          </a:prstGeom>
          <a:noFill/>
          <a:ln/>
        </p:spPr>
        <p:txBody>
          <a:bodyPr wrap="square" rtlCol="0" anchor="t"/>
          <a:lstStyle/>
          <a:p>
            <a:pPr indent="0" marL="0">
              <a:lnSpc>
                <a:spcPts val="1700"/>
              </a:lnSpc>
              <a:buNone/>
            </a:pPr>
            <a:r>
              <a:rPr lang="en-US" sz="1150" dirty="0">
                <a:solidFill>
                  <a:srgbClr val="3F4750"/>
                </a:solidFill>
                <a:latin typeface="Arial" pitchFamily="34" charset="0"/>
                <a:ea typeface="Arial" pitchFamily="34" charset="-122"/>
                <a:cs typeface="Arial" pitchFamily="34" charset="-120"/>
              </a:rPr>
              <a:t>Supabase — a database service, hosted for me</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Every record is locked to the person it belongs to — the database enforces that, not my code</a:t>
            </a:r>
            <a:endParaRPr lang="en-US" sz="1150" dirty="0"/>
          </a:p>
          <a:p>
            <a:pPr indent="0" marL="0">
              <a:lnSpc>
                <a:spcPts val="1700"/>
              </a:lnSpc>
              <a:buNone/>
            </a:pPr>
            <a:r>
              <a:rPr lang="en-US" sz="1150" dirty="0">
                <a:solidFill>
                  <a:srgbClr val="3F4750"/>
                </a:solidFill>
                <a:latin typeface="Arial" pitchFamily="34" charset="0"/>
                <a:ea typeface="Arial" pitchFamily="34" charset="-122"/>
                <a:cs typeface="Arial" pitchFamily="34" charset="-120"/>
              </a:rPr>
              <a:t>The website itself is built with Next.js and React</a:t>
            </a:r>
            <a:endParaRPr lang="en-US" sz="1150" dirty="0"/>
          </a:p>
        </p:txBody>
      </p:sp>
      <p:sp>
        <p:nvSpPr>
          <p:cNvPr id="21" name="Shape 19"/>
          <p:cNvSpPr/>
          <p:nvPr/>
        </p:nvSpPr>
        <p:spPr>
          <a:xfrm>
            <a:off x="566928" y="4736592"/>
            <a:ext cx="11057839" cy="603504"/>
          </a:xfrm>
          <a:prstGeom prst="rect">
            <a:avLst/>
          </a:prstGeom>
          <a:solidFill>
            <a:srgbClr val="EAF0FE"/>
          </a:solidFill>
          <a:ln w="12700">
            <a:solidFill>
              <a:srgbClr val="EAF0FE"/>
            </a:solidFill>
            <a:prstDash val="solid"/>
          </a:ln>
        </p:spPr>
      </p:sp>
      <p:sp>
        <p:nvSpPr>
          <p:cNvPr id="22" name="Shape 20"/>
          <p:cNvSpPr/>
          <p:nvPr/>
        </p:nvSpPr>
        <p:spPr>
          <a:xfrm>
            <a:off x="566928" y="4736592"/>
            <a:ext cx="50292" cy="603504"/>
          </a:xfrm>
          <a:prstGeom prst="rect">
            <a:avLst/>
          </a:prstGeom>
          <a:solidFill>
            <a:srgbClr val="1D4ED8"/>
          </a:solidFill>
          <a:ln w="12700">
            <a:solidFill>
              <a:srgbClr val="333333"/>
            </a:solidFill>
            <a:prstDash val="solid"/>
          </a:ln>
        </p:spPr>
      </p:sp>
      <p:sp>
        <p:nvSpPr>
          <p:cNvPr id="23" name="Text 21"/>
          <p:cNvSpPr/>
          <p:nvPr/>
        </p:nvSpPr>
        <p:spPr>
          <a:xfrm>
            <a:off x="877824" y="4736592"/>
            <a:ext cx="10509199" cy="603504"/>
          </a:xfrm>
          <a:prstGeom prst="rect">
            <a:avLst/>
          </a:prstGeom>
          <a:noFill/>
          <a:ln/>
        </p:spPr>
        <p:txBody>
          <a:bodyPr wrap="square" rtlCol="0" anchor="ctr"/>
          <a:lstStyle/>
          <a:p>
            <a:pPr indent="0" marL="0">
              <a:lnSpc>
                <a:spcPts val="1600"/>
              </a:lnSpc>
              <a:buNone/>
            </a:pPr>
            <a:r>
              <a:rPr lang="en-US" sz="1200" b="1" dirty="0">
                <a:solidFill>
                  <a:srgbClr val="1D4ED8"/>
                </a:solidFill>
                <a:latin typeface="Arial" pitchFamily="34" charset="0"/>
                <a:ea typeface="Arial" pitchFamily="34" charset="-122"/>
                <a:cs typeface="Arial" pitchFamily="34" charset="-120"/>
              </a:rPr>
              <a:t>The decision I'd defend hardest:  </a:t>
            </a:r>
            <a:pPr indent="0" marL="0">
              <a:lnSpc>
                <a:spcPts val="1600"/>
              </a:lnSpc>
              <a:buNone/>
            </a:pPr>
            <a:r>
              <a:rPr lang="en-US" sz="1200" dirty="0">
                <a:solidFill>
                  <a:srgbClr val="14161A"/>
                </a:solidFill>
                <a:latin typeface="Arial" pitchFamily="34" charset="0"/>
                <a:ea typeface="Arial" pitchFamily="34" charset="-122"/>
                <a:cs typeface="Arial" pitchFamily="34" charset="-120"/>
              </a:rPr>
              <a:t>the document search lives inside the same database, so it is covered by the same lock. A separate search product would have been a second place to get security right — and a second place to get it wrong.</a:t>
            </a:r>
            <a:endParaRPr lang="en-US" sz="1200" dirty="0"/>
          </a:p>
        </p:txBody>
      </p:sp>
      <p:sp>
        <p:nvSpPr>
          <p:cNvPr id="24" name="Shape 22"/>
          <p:cNvSpPr/>
          <p:nvPr/>
        </p:nvSpPr>
        <p:spPr>
          <a:xfrm>
            <a:off x="566928" y="5449824"/>
            <a:ext cx="11057839" cy="512064"/>
          </a:xfrm>
          <a:prstGeom prst="rect">
            <a:avLst/>
          </a:prstGeom>
          <a:solidFill>
            <a:srgbClr val="F5F7FA"/>
          </a:solidFill>
          <a:ln w="12700">
            <a:solidFill>
              <a:srgbClr val="F5F7FA"/>
            </a:solidFill>
            <a:prstDash val="solid"/>
          </a:ln>
        </p:spPr>
      </p:sp>
      <p:sp>
        <p:nvSpPr>
          <p:cNvPr id="25" name="Text 23"/>
          <p:cNvSpPr/>
          <p:nvPr/>
        </p:nvSpPr>
        <p:spPr>
          <a:xfrm>
            <a:off x="841248" y="5449824"/>
            <a:ext cx="10600639" cy="512064"/>
          </a:xfrm>
          <a:prstGeom prst="rect">
            <a:avLst/>
          </a:prstGeom>
          <a:noFill/>
          <a:ln/>
        </p:spPr>
        <p:txBody>
          <a:bodyPr wrap="square" rtlCol="0" anchor="ctr"/>
          <a:lstStyle/>
          <a:p>
            <a:pPr indent="0" marL="0">
              <a:lnSpc>
                <a:spcPts val="1400"/>
              </a:lnSpc>
              <a:buNone/>
            </a:pPr>
            <a:r>
              <a:rPr lang="en-US" sz="1050" b="1" dirty="0">
                <a:solidFill>
                  <a:srgbClr val="15803D"/>
                </a:solidFill>
                <a:latin typeface="Arial" pitchFamily="34" charset="0"/>
                <a:ea typeface="Arial" pitchFamily="34" charset="-122"/>
                <a:cs typeface="Arial" pitchFamily="34" charset="-120"/>
              </a:rPr>
              <a:t>Checked on every change:  </a:t>
            </a:r>
            <a:pPr indent="0" marL="0">
              <a:lnSpc>
                <a:spcPts val="1400"/>
              </a:lnSpc>
              <a:buNone/>
            </a:pPr>
            <a:r>
              <a:rPr lang="en-US" sz="1050" dirty="0">
                <a:solidFill>
                  <a:srgbClr val="3F4750"/>
                </a:solidFill>
                <a:latin typeface="Arial" pitchFamily="34" charset="0"/>
                <a:ea typeface="Arial" pitchFamily="34" charset="-122"/>
                <a:cs typeface="Arial" pitchFamily="34" charset="-120"/>
              </a:rPr>
              <a:t>482 tests run, the code is checked, and the whole site is built.     </a:t>
            </a:r>
            <a:pPr indent="0" marL="0">
              <a:lnSpc>
                <a:spcPts val="1400"/>
              </a:lnSpc>
              <a:buNone/>
            </a:pPr>
            <a:r>
              <a:rPr lang="en-US" sz="1050" b="1" dirty="0">
                <a:solidFill>
                  <a:srgbClr val="9A5B08"/>
                </a:solidFill>
                <a:latin typeface="Arial" pitchFamily="34" charset="0"/>
                <a:ea typeface="Arial" pitchFamily="34" charset="-122"/>
                <a:cs typeface="Arial" pitchFamily="34" charset="-120"/>
              </a:rPr>
              <a:t>Not yet done:  </a:t>
            </a:r>
            <a:pPr indent="0" marL="0">
              <a:lnSpc>
                <a:spcPts val="1400"/>
              </a:lnSpc>
              <a:buNone/>
            </a:pPr>
            <a:r>
              <a:rPr lang="en-US" sz="1050" dirty="0">
                <a:solidFill>
                  <a:srgbClr val="3F4750"/>
                </a:solidFill>
                <a:latin typeface="Arial" pitchFamily="34" charset="0"/>
                <a:ea typeface="Arial" pitchFamily="34" charset="-122"/>
                <a:cs typeface="Arial" pitchFamily="34" charset="-120"/>
              </a:rPr>
              <a:t>trying it with real users, checking how accurate the marking is, and putting it online.</a:t>
            </a:r>
            <a:endParaRPr lang="en-US" sz="1050" dirty="0"/>
          </a:p>
        </p:txBody>
      </p:sp>
      <p:sp>
        <p:nvSpPr>
          <p:cNvPr id="27" name="Text 24"/>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28" name="Text 25"/>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WHAT IT COSTS TO RUN</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Every AI call is recorded and priced, so the cost is measured — not guessed.</a:t>
            </a:r>
            <a:endParaRPr lang="en-US" sz="3000" dirty="0"/>
          </a:p>
        </p:txBody>
      </p:sp>
      <p:sp>
        <p:nvSpPr>
          <p:cNvPr id="5" name="Shape 3"/>
          <p:cNvSpPr/>
          <p:nvPr/>
        </p:nvSpPr>
        <p:spPr>
          <a:xfrm>
            <a:off x="566928" y="1627632"/>
            <a:ext cx="3478682" cy="1316736"/>
          </a:xfrm>
          <a:prstGeom prst="rect">
            <a:avLst/>
          </a:prstGeom>
          <a:solidFill>
            <a:srgbClr val="F5F7FA"/>
          </a:solidFill>
          <a:ln w="12700">
            <a:solidFill>
              <a:srgbClr val="F5F7FA"/>
            </a:solidFill>
            <a:prstDash val="solid"/>
          </a:ln>
        </p:spPr>
      </p:sp>
      <p:sp>
        <p:nvSpPr>
          <p:cNvPr id="6" name="Shape 4"/>
          <p:cNvSpPr/>
          <p:nvPr/>
        </p:nvSpPr>
        <p:spPr>
          <a:xfrm>
            <a:off x="566928" y="1627632"/>
            <a:ext cx="50292" cy="1316736"/>
          </a:xfrm>
          <a:prstGeom prst="rect">
            <a:avLst/>
          </a:prstGeom>
          <a:solidFill>
            <a:srgbClr val="1D4ED8"/>
          </a:solidFill>
          <a:ln w="12700">
            <a:solidFill>
              <a:srgbClr val="333333"/>
            </a:solidFill>
            <a:prstDash val="solid"/>
          </a:ln>
        </p:spPr>
      </p:sp>
      <p:sp>
        <p:nvSpPr>
          <p:cNvPr id="7" name="Text 5"/>
          <p:cNvSpPr/>
          <p:nvPr/>
        </p:nvSpPr>
        <p:spPr>
          <a:xfrm>
            <a:off x="822960" y="1719072"/>
            <a:ext cx="3058058" cy="256032"/>
          </a:xfrm>
          <a:prstGeom prst="rect">
            <a:avLst/>
          </a:prstGeom>
          <a:noFill/>
          <a:ln/>
        </p:spPr>
        <p:txBody>
          <a:bodyPr wrap="square" rtlCol="0" anchor="ctr"/>
          <a:lstStyle/>
          <a:p>
            <a:pPr indent="0" marL="0">
              <a:buNone/>
            </a:pPr>
            <a:r>
              <a:rPr lang="en-US" sz="1250" b="1" dirty="0">
                <a:solidFill>
                  <a:srgbClr val="14161A"/>
                </a:solidFill>
                <a:latin typeface="Arial" pitchFamily="34" charset="0"/>
                <a:ea typeface="Arial" pitchFamily="34" charset="-122"/>
                <a:cs typeface="Arial" pitchFamily="34" charset="-120"/>
              </a:rPr>
              <a:t>The AI bills by the text</a:t>
            </a:r>
            <a:endParaRPr lang="en-US" sz="1250" dirty="0"/>
          </a:p>
        </p:txBody>
      </p:sp>
      <p:sp>
        <p:nvSpPr>
          <p:cNvPr id="8" name="Text 6"/>
          <p:cNvSpPr/>
          <p:nvPr/>
        </p:nvSpPr>
        <p:spPr>
          <a:xfrm>
            <a:off x="822960" y="2011680"/>
            <a:ext cx="3058058" cy="841248"/>
          </a:xfrm>
          <a:prstGeom prst="rect">
            <a:avLst/>
          </a:prstGeom>
          <a:noFill/>
          <a:ln/>
        </p:spPr>
        <p:txBody>
          <a:bodyPr wrap="square" rtlCol="0" anchor="t"/>
          <a:lstStyle/>
          <a:p>
            <a:pPr indent="0" marL="0">
              <a:lnSpc>
                <a:spcPts val="1550"/>
              </a:lnSpc>
              <a:buNone/>
            </a:pPr>
            <a:r>
              <a:rPr lang="en-US" sz="1100" dirty="0">
                <a:solidFill>
                  <a:srgbClr val="3F4750"/>
                </a:solidFill>
                <a:latin typeface="Arial" pitchFamily="34" charset="0"/>
                <a:ea typeface="Arial" pitchFamily="34" charset="-122"/>
                <a:cs typeface="Arial" pitchFamily="34" charset="-120"/>
              </a:rPr>
              <a:t>Text is counted in tokens — roughly four characters each. You pay for everything sent in, and again for everything written back, at different rates.</a:t>
            </a:r>
            <a:endParaRPr lang="en-US" sz="1100" dirty="0"/>
          </a:p>
        </p:txBody>
      </p:sp>
      <p:sp>
        <p:nvSpPr>
          <p:cNvPr id="9" name="Shape 7"/>
          <p:cNvSpPr/>
          <p:nvPr/>
        </p:nvSpPr>
        <p:spPr>
          <a:xfrm>
            <a:off x="4356506" y="1627632"/>
            <a:ext cx="3478682" cy="1316736"/>
          </a:xfrm>
          <a:prstGeom prst="rect">
            <a:avLst/>
          </a:prstGeom>
          <a:solidFill>
            <a:srgbClr val="F5F7FA"/>
          </a:solidFill>
          <a:ln w="12700">
            <a:solidFill>
              <a:srgbClr val="F5F7FA"/>
            </a:solidFill>
            <a:prstDash val="solid"/>
          </a:ln>
        </p:spPr>
      </p:sp>
      <p:sp>
        <p:nvSpPr>
          <p:cNvPr id="10" name="Shape 8"/>
          <p:cNvSpPr/>
          <p:nvPr/>
        </p:nvSpPr>
        <p:spPr>
          <a:xfrm>
            <a:off x="4356506" y="1627632"/>
            <a:ext cx="50292" cy="1316736"/>
          </a:xfrm>
          <a:prstGeom prst="rect">
            <a:avLst/>
          </a:prstGeom>
          <a:solidFill>
            <a:srgbClr val="1D4ED8"/>
          </a:solidFill>
          <a:ln w="12700">
            <a:solidFill>
              <a:srgbClr val="333333"/>
            </a:solidFill>
            <a:prstDash val="solid"/>
          </a:ln>
        </p:spPr>
      </p:sp>
      <p:sp>
        <p:nvSpPr>
          <p:cNvPr id="11" name="Text 9"/>
          <p:cNvSpPr/>
          <p:nvPr/>
        </p:nvSpPr>
        <p:spPr>
          <a:xfrm>
            <a:off x="4612538" y="1719072"/>
            <a:ext cx="3058058" cy="256032"/>
          </a:xfrm>
          <a:prstGeom prst="rect">
            <a:avLst/>
          </a:prstGeom>
          <a:noFill/>
          <a:ln/>
        </p:spPr>
        <p:txBody>
          <a:bodyPr wrap="square" rtlCol="0" anchor="ctr"/>
          <a:lstStyle/>
          <a:p>
            <a:pPr indent="0" marL="0">
              <a:buNone/>
            </a:pPr>
            <a:r>
              <a:rPr lang="en-US" sz="1250" b="1" dirty="0">
                <a:solidFill>
                  <a:srgbClr val="14161A"/>
                </a:solidFill>
                <a:latin typeface="Arial" pitchFamily="34" charset="0"/>
                <a:ea typeface="Arial" pitchFamily="34" charset="-122"/>
                <a:cs typeface="Arial" pitchFamily="34" charset="-120"/>
              </a:rPr>
              <a:t>So a session can be priced</a:t>
            </a:r>
            <a:endParaRPr lang="en-US" sz="1250" dirty="0"/>
          </a:p>
        </p:txBody>
      </p:sp>
      <p:sp>
        <p:nvSpPr>
          <p:cNvPr id="12" name="Text 10"/>
          <p:cNvSpPr/>
          <p:nvPr/>
        </p:nvSpPr>
        <p:spPr>
          <a:xfrm>
            <a:off x="4612538" y="2011680"/>
            <a:ext cx="3058058" cy="841248"/>
          </a:xfrm>
          <a:prstGeom prst="rect">
            <a:avLst/>
          </a:prstGeom>
          <a:noFill/>
          <a:ln/>
        </p:spPr>
        <p:txBody>
          <a:bodyPr wrap="square" rtlCol="0" anchor="t"/>
          <a:lstStyle/>
          <a:p>
            <a:pPr indent="0" marL="0">
              <a:lnSpc>
                <a:spcPts val="1550"/>
              </a:lnSpc>
              <a:buNone/>
            </a:pPr>
            <a:r>
              <a:rPr lang="en-US" sz="1100" dirty="0">
                <a:solidFill>
                  <a:srgbClr val="3F4750"/>
                </a:solidFill>
                <a:latin typeface="Arial" pitchFamily="34" charset="0"/>
                <a:ea typeface="Arial" pitchFamily="34" charset="-122"/>
                <a:cs typeface="Arial" pitchFamily="34" charset="-120"/>
              </a:rPr>
              <a:t>Every call writes down its own token count as it happens. A tool multiplies those by the published rates — so any cost figure is looked up, not guessed.</a:t>
            </a:r>
            <a:endParaRPr lang="en-US" sz="1100" dirty="0"/>
          </a:p>
        </p:txBody>
      </p:sp>
      <p:sp>
        <p:nvSpPr>
          <p:cNvPr id="13" name="Shape 11"/>
          <p:cNvSpPr/>
          <p:nvPr/>
        </p:nvSpPr>
        <p:spPr>
          <a:xfrm>
            <a:off x="8146085" y="1627632"/>
            <a:ext cx="3478682" cy="1316736"/>
          </a:xfrm>
          <a:prstGeom prst="rect">
            <a:avLst/>
          </a:prstGeom>
          <a:solidFill>
            <a:srgbClr val="F5F7FA"/>
          </a:solidFill>
          <a:ln w="12700">
            <a:solidFill>
              <a:srgbClr val="F5F7FA"/>
            </a:solidFill>
            <a:prstDash val="solid"/>
          </a:ln>
        </p:spPr>
      </p:sp>
      <p:sp>
        <p:nvSpPr>
          <p:cNvPr id="14" name="Shape 12"/>
          <p:cNvSpPr/>
          <p:nvPr/>
        </p:nvSpPr>
        <p:spPr>
          <a:xfrm>
            <a:off x="8146085" y="1627632"/>
            <a:ext cx="50292" cy="1316736"/>
          </a:xfrm>
          <a:prstGeom prst="rect">
            <a:avLst/>
          </a:prstGeom>
          <a:solidFill>
            <a:srgbClr val="1D4ED8"/>
          </a:solidFill>
          <a:ln w="12700">
            <a:solidFill>
              <a:srgbClr val="333333"/>
            </a:solidFill>
            <a:prstDash val="solid"/>
          </a:ln>
        </p:spPr>
      </p:sp>
      <p:sp>
        <p:nvSpPr>
          <p:cNvPr id="15" name="Text 13"/>
          <p:cNvSpPr/>
          <p:nvPr/>
        </p:nvSpPr>
        <p:spPr>
          <a:xfrm>
            <a:off x="8402117" y="1719072"/>
            <a:ext cx="3058058" cy="256032"/>
          </a:xfrm>
          <a:prstGeom prst="rect">
            <a:avLst/>
          </a:prstGeom>
          <a:noFill/>
          <a:ln/>
        </p:spPr>
        <p:txBody>
          <a:bodyPr wrap="square" rtlCol="0" anchor="ctr"/>
          <a:lstStyle/>
          <a:p>
            <a:pPr indent="0" marL="0">
              <a:buNone/>
            </a:pPr>
            <a:r>
              <a:rPr lang="en-US" sz="1250" b="1" dirty="0">
                <a:solidFill>
                  <a:srgbClr val="14161A"/>
                </a:solidFill>
                <a:latin typeface="Arial" pitchFamily="34" charset="0"/>
                <a:ea typeface="Arial" pitchFamily="34" charset="-122"/>
                <a:cs typeface="Arial" pitchFamily="34" charset="-120"/>
              </a:rPr>
              <a:t>What that let me cut</a:t>
            </a:r>
            <a:endParaRPr lang="en-US" sz="1250" dirty="0"/>
          </a:p>
        </p:txBody>
      </p:sp>
      <p:sp>
        <p:nvSpPr>
          <p:cNvPr id="16" name="Text 14"/>
          <p:cNvSpPr/>
          <p:nvPr/>
        </p:nvSpPr>
        <p:spPr>
          <a:xfrm>
            <a:off x="8402117" y="2011680"/>
            <a:ext cx="3058058" cy="841248"/>
          </a:xfrm>
          <a:prstGeom prst="rect">
            <a:avLst/>
          </a:prstGeom>
          <a:noFill/>
          <a:ln/>
        </p:spPr>
        <p:txBody>
          <a:bodyPr wrap="square" rtlCol="0" anchor="t"/>
          <a:lstStyle/>
          <a:p>
            <a:pPr indent="0" marL="0">
              <a:lnSpc>
                <a:spcPts val="1550"/>
              </a:lnSpc>
              <a:buNone/>
            </a:pPr>
            <a:r>
              <a:rPr lang="en-US" sz="1100" dirty="0">
                <a:solidFill>
                  <a:srgbClr val="3F4750"/>
                </a:solidFill>
                <a:latin typeface="Arial" pitchFamily="34" charset="0"/>
                <a:ea typeface="Arial" pitchFamily="34" charset="-122"/>
                <a:cs typeface="Arial" pitchFamily="34" charset="-120"/>
              </a:rPr>
              <a:t>One-word answers aren't marked · counting is done in ordinary code, not by the AI · feedback already written is reused, not bought twice</a:t>
            </a:r>
            <a:endParaRPr lang="en-US" sz="1100" dirty="0"/>
          </a:p>
        </p:txBody>
      </p:sp>
      <p:sp>
        <p:nvSpPr>
          <p:cNvPr id="17" name="Shape 15"/>
          <p:cNvSpPr/>
          <p:nvPr/>
        </p:nvSpPr>
        <p:spPr>
          <a:xfrm>
            <a:off x="566928" y="3127248"/>
            <a:ext cx="11057839" cy="1700784"/>
          </a:xfrm>
          <a:prstGeom prst="rect">
            <a:avLst/>
          </a:prstGeom>
          <a:solidFill>
            <a:srgbClr val="FDF4E7"/>
          </a:solidFill>
          <a:ln w="12700">
            <a:solidFill>
              <a:srgbClr val="FDF4E7"/>
            </a:solidFill>
            <a:prstDash val="solid"/>
          </a:ln>
        </p:spPr>
      </p:sp>
      <p:sp>
        <p:nvSpPr>
          <p:cNvPr id="18" name="Shape 16"/>
          <p:cNvSpPr/>
          <p:nvPr/>
        </p:nvSpPr>
        <p:spPr>
          <a:xfrm>
            <a:off x="566928" y="3127248"/>
            <a:ext cx="50292" cy="1700784"/>
          </a:xfrm>
          <a:prstGeom prst="rect">
            <a:avLst/>
          </a:prstGeom>
          <a:solidFill>
            <a:srgbClr val="9A5B08"/>
          </a:solidFill>
          <a:ln w="12700">
            <a:solidFill>
              <a:srgbClr val="333333"/>
            </a:solidFill>
            <a:prstDash val="solid"/>
          </a:ln>
        </p:spPr>
      </p:sp>
      <p:sp>
        <p:nvSpPr>
          <p:cNvPr id="19" name="Text 17"/>
          <p:cNvSpPr/>
          <p:nvPr/>
        </p:nvSpPr>
        <p:spPr>
          <a:xfrm>
            <a:off x="877824" y="3236976"/>
            <a:ext cx="10417759" cy="292608"/>
          </a:xfrm>
          <a:prstGeom prst="rect">
            <a:avLst/>
          </a:prstGeom>
          <a:noFill/>
          <a:ln/>
        </p:spPr>
        <p:txBody>
          <a:bodyPr wrap="square" rtlCol="0" anchor="ctr"/>
          <a:lstStyle/>
          <a:p>
            <a:pPr indent="0" marL="0">
              <a:buNone/>
            </a:pPr>
            <a:r>
              <a:rPr lang="en-US" sz="1500" b="1" dirty="0">
                <a:solidFill>
                  <a:srgbClr val="9A5B08"/>
                </a:solidFill>
                <a:latin typeface="Arial" pitchFamily="34" charset="0"/>
                <a:ea typeface="Arial" pitchFamily="34" charset="-122"/>
                <a:cs typeface="Arial" pitchFamily="34" charset="-120"/>
              </a:rPr>
              <a:t>The finding I didn't expect</a:t>
            </a:r>
            <a:endParaRPr lang="en-US" sz="1500" dirty="0"/>
          </a:p>
        </p:txBody>
      </p:sp>
      <p:sp>
        <p:nvSpPr>
          <p:cNvPr id="20" name="Text 18"/>
          <p:cNvSpPr/>
          <p:nvPr/>
        </p:nvSpPr>
        <p:spPr>
          <a:xfrm>
            <a:off x="877824" y="3566160"/>
            <a:ext cx="10417759" cy="694944"/>
          </a:xfrm>
          <a:prstGeom prst="rect">
            <a:avLst/>
          </a:prstGeom>
          <a:noFill/>
          <a:ln/>
        </p:spPr>
        <p:txBody>
          <a:bodyPr wrap="square" rtlCol="0" anchor="t"/>
          <a:lstStyle/>
          <a:p>
            <a:pPr indent="0" marL="0">
              <a:lnSpc>
                <a:spcPts val="1800"/>
              </a:lnSpc>
              <a:buNone/>
            </a:pPr>
            <a:r>
              <a:rPr lang="en-US" sz="1250" dirty="0">
                <a:solidFill>
                  <a:srgbClr val="3F4750"/>
                </a:solidFill>
                <a:latin typeface="Arial" pitchFamily="34" charset="0"/>
                <a:ea typeface="Arial" pitchFamily="34" charset="-122"/>
                <a:cs typeface="Arial" pitchFamily="34" charset="-120"/>
              </a:rPr>
              <a:t>OpenAI halves the price of the opening chunk of your instructions if it is identical every time — but only once that chunk reaches 1,024 tokens. That threshold is theirs, not mine. So I arranged my instructions with the unchanging part first, to qualify. Then I checked: mine comes to about 590 tokens. Too short, so the discount never applies — and the report confirms it, because every reply tells you how many tokens were reused, and that count is zero.</a:t>
            </a:r>
            <a:endParaRPr lang="en-US" sz="1250" dirty="0"/>
          </a:p>
        </p:txBody>
      </p:sp>
      <p:sp>
        <p:nvSpPr>
          <p:cNvPr id="21" name="Text 19"/>
          <p:cNvSpPr/>
          <p:nvPr/>
        </p:nvSpPr>
        <p:spPr>
          <a:xfrm>
            <a:off x="877824" y="4261104"/>
            <a:ext cx="10417759" cy="457200"/>
          </a:xfrm>
          <a:prstGeom prst="rect">
            <a:avLst/>
          </a:prstGeom>
          <a:noFill/>
          <a:ln/>
        </p:spPr>
        <p:txBody>
          <a:bodyPr wrap="square" rtlCol="0" anchor="t"/>
          <a:lstStyle/>
          <a:p>
            <a:pPr indent="0" marL="0">
              <a:lnSpc>
                <a:spcPts val="1500"/>
              </a:lnSpc>
              <a:buNone/>
            </a:pPr>
            <a:r>
              <a:rPr lang="en-US" sz="1100" i="1" dirty="0">
                <a:solidFill>
                  <a:srgbClr val="7A8593"/>
                </a:solidFill>
                <a:latin typeface="Arial" pitchFamily="34" charset="0"/>
                <a:ea typeface="Arial" pitchFamily="34" charset="-122"/>
                <a:cs typeface="Arial" pitchFamily="34" charset="-120"/>
              </a:rPr>
              <a:t>It does start applying once you attach a job advert, which is exactly when there is enough text for it to be worth having. Padding it out with filler to reach 1,024 would cost more than the discount returns.</a:t>
            </a:r>
            <a:endParaRPr lang="en-US" sz="1100" dirty="0"/>
          </a:p>
        </p:txBody>
      </p:sp>
      <p:sp>
        <p:nvSpPr>
          <p:cNvPr id="22" name="Shape 20"/>
          <p:cNvSpPr/>
          <p:nvPr/>
        </p:nvSpPr>
        <p:spPr>
          <a:xfrm>
            <a:off x="566928" y="4974336"/>
            <a:ext cx="11057839" cy="768096"/>
          </a:xfrm>
          <a:prstGeom prst="rect">
            <a:avLst/>
          </a:prstGeom>
          <a:solidFill>
            <a:srgbClr val="EAF0FE"/>
          </a:solidFill>
          <a:ln w="12700">
            <a:solidFill>
              <a:srgbClr val="EAF0FE"/>
            </a:solidFill>
            <a:prstDash val="solid"/>
          </a:ln>
        </p:spPr>
      </p:sp>
      <p:sp>
        <p:nvSpPr>
          <p:cNvPr id="23" name="Shape 21"/>
          <p:cNvSpPr/>
          <p:nvPr/>
        </p:nvSpPr>
        <p:spPr>
          <a:xfrm>
            <a:off x="566928" y="4974336"/>
            <a:ext cx="50292" cy="768096"/>
          </a:xfrm>
          <a:prstGeom prst="rect">
            <a:avLst/>
          </a:prstGeom>
          <a:solidFill>
            <a:srgbClr val="1D4ED8"/>
          </a:solidFill>
          <a:ln w="12700">
            <a:solidFill>
              <a:srgbClr val="333333"/>
            </a:solidFill>
            <a:prstDash val="solid"/>
          </a:ln>
        </p:spPr>
      </p:sp>
      <p:sp>
        <p:nvSpPr>
          <p:cNvPr id="24" name="Text 22"/>
          <p:cNvSpPr/>
          <p:nvPr/>
        </p:nvSpPr>
        <p:spPr>
          <a:xfrm>
            <a:off x="877824" y="4974336"/>
            <a:ext cx="10509199" cy="768096"/>
          </a:xfrm>
          <a:prstGeom prst="rect">
            <a:avLst/>
          </a:prstGeom>
          <a:noFill/>
          <a:ln/>
        </p:spPr>
        <p:txBody>
          <a:bodyPr wrap="square" rtlCol="0" anchor="ctr"/>
          <a:lstStyle/>
          <a:p>
            <a:pPr indent="0" marL="0">
              <a:lnSpc>
                <a:spcPts val="1700"/>
              </a:lnSpc>
              <a:buNone/>
            </a:pPr>
            <a:r>
              <a:rPr lang="en-US" sz="1250" b="1" dirty="0">
                <a:solidFill>
                  <a:srgbClr val="1D4ED8"/>
                </a:solidFill>
                <a:latin typeface="Arial" pitchFamily="34" charset="0"/>
                <a:ea typeface="Arial" pitchFamily="34" charset="-122"/>
                <a:cs typeface="Arial" pitchFamily="34" charset="-120"/>
              </a:rPr>
              <a:t>The claim isn't that it's cheap.  </a:t>
            </a:r>
            <a:pPr indent="0" marL="0">
              <a:lnSpc>
                <a:spcPts val="1700"/>
              </a:lnSpc>
              <a:buNone/>
            </a:pPr>
            <a:r>
              <a:rPr lang="en-US" sz="1250" dirty="0">
                <a:solidFill>
                  <a:srgbClr val="14161A"/>
                </a:solidFill>
                <a:latin typeface="Arial" pitchFamily="34" charset="0"/>
                <a:ea typeface="Arial" pitchFamily="34" charset="-122"/>
                <a:cs typeface="Arial" pitchFamily="34" charset="-120"/>
              </a:rPr>
              <a:t>It's that it's measured — including the optimisation that turned out not to work. A ten-question round costs roughly a penny, and even that is an estimate until I run the report on real traffic.</a:t>
            </a:r>
            <a:endParaRPr lang="en-US" sz="1250" dirty="0"/>
          </a:p>
        </p:txBody>
      </p:sp>
      <p:sp>
        <p:nvSpPr>
          <p:cNvPr id="26" name="Text 23"/>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27" name="Text 24"/>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INSIDE THE MARKING</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How an answer is marked, how the next question is chosen, what you control.</a:t>
            </a:r>
            <a:endParaRPr lang="en-US" sz="3000" dirty="0"/>
          </a:p>
        </p:txBody>
      </p:sp>
      <p:sp>
        <p:nvSpPr>
          <p:cNvPr id="5" name="Shape 3"/>
          <p:cNvSpPr/>
          <p:nvPr/>
        </p:nvSpPr>
        <p:spPr>
          <a:xfrm>
            <a:off x="566928" y="1591056"/>
            <a:ext cx="3478682" cy="2615184"/>
          </a:xfrm>
          <a:prstGeom prst="rect">
            <a:avLst/>
          </a:prstGeom>
          <a:solidFill>
            <a:srgbClr val="F5F7FA"/>
          </a:solidFill>
          <a:ln w="12700">
            <a:solidFill>
              <a:srgbClr val="F5F7FA"/>
            </a:solidFill>
            <a:prstDash val="solid"/>
          </a:ln>
        </p:spPr>
      </p:sp>
      <p:sp>
        <p:nvSpPr>
          <p:cNvPr id="6" name="Shape 4"/>
          <p:cNvSpPr/>
          <p:nvPr/>
        </p:nvSpPr>
        <p:spPr>
          <a:xfrm>
            <a:off x="566928" y="1591056"/>
            <a:ext cx="50292" cy="2615184"/>
          </a:xfrm>
          <a:prstGeom prst="rect">
            <a:avLst/>
          </a:prstGeom>
          <a:solidFill>
            <a:srgbClr val="1D4ED8"/>
          </a:solidFill>
          <a:ln w="12700">
            <a:solidFill>
              <a:srgbClr val="333333"/>
            </a:solidFill>
            <a:prstDash val="solid"/>
          </a:ln>
        </p:spPr>
      </p:sp>
      <p:sp>
        <p:nvSpPr>
          <p:cNvPr id="7" name="Text 5"/>
          <p:cNvSpPr/>
          <p:nvPr/>
        </p:nvSpPr>
        <p:spPr>
          <a:xfrm>
            <a:off x="822960" y="1700784"/>
            <a:ext cx="3058058" cy="274320"/>
          </a:xfrm>
          <a:prstGeom prst="rect">
            <a:avLst/>
          </a:prstGeom>
          <a:noFill/>
          <a:ln/>
        </p:spPr>
        <p:txBody>
          <a:bodyPr wrap="square" rtlCol="0" anchor="ctr"/>
          <a:lstStyle/>
          <a:p>
            <a:pPr indent="0" marL="0">
              <a:buNone/>
            </a:pPr>
            <a:r>
              <a:rPr lang="en-US" sz="1250" b="1" dirty="0">
                <a:solidFill>
                  <a:srgbClr val="1D4ED8"/>
                </a:solidFill>
                <a:latin typeface="Arial" pitchFamily="34" charset="0"/>
                <a:ea typeface="Arial" pitchFamily="34" charset="-122"/>
                <a:cs typeface="Arial" pitchFamily="34" charset="-120"/>
              </a:rPr>
              <a:t>How it marks your answer</a:t>
            </a:r>
            <a:endParaRPr lang="en-US" sz="1250" dirty="0"/>
          </a:p>
        </p:txBody>
      </p:sp>
      <p:sp>
        <p:nvSpPr>
          <p:cNvPr id="8" name="Text 6"/>
          <p:cNvSpPr/>
          <p:nvPr/>
        </p:nvSpPr>
        <p:spPr>
          <a:xfrm>
            <a:off x="822960" y="2029968"/>
            <a:ext cx="3058058" cy="2084832"/>
          </a:xfrm>
          <a:prstGeom prst="rect">
            <a:avLst/>
          </a:prstGeom>
          <a:noFill/>
          <a:ln/>
        </p:spPr>
        <p:txBody>
          <a:bodyPr wrap="square" rtlCol="0" anchor="t"/>
          <a:lstStyle/>
          <a:p>
            <a:pPr indent="0" marL="0">
              <a:lnSpc>
                <a:spcPts val="1450"/>
              </a:lnSpc>
              <a:buNone/>
            </a:pPr>
            <a:r>
              <a:rPr lang="en-US" sz="1050" dirty="0">
                <a:solidFill>
                  <a:srgbClr val="3F4750"/>
                </a:solidFill>
                <a:latin typeface="Arial" pitchFamily="34" charset="0"/>
                <a:ea typeface="Arial" pitchFamily="34" charset="-122"/>
                <a:cs typeface="Arial" pitchFamily="34" charset="-120"/>
              </a:rPr>
              <a:t>A different checklist for each kind of round</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“Tell me about a time…” — did you set the scene, say what you did, say how it turned out?</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Coding — is it correct, is it efficient, does it handle the awkward cases?</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It never knows who asked. A tough and a friendly interviewer mark the same answer identically</a:t>
            </a:r>
            <a:endParaRPr lang="en-US" sz="1050" dirty="0"/>
          </a:p>
        </p:txBody>
      </p:sp>
      <p:sp>
        <p:nvSpPr>
          <p:cNvPr id="9" name="Shape 7"/>
          <p:cNvSpPr/>
          <p:nvPr/>
        </p:nvSpPr>
        <p:spPr>
          <a:xfrm>
            <a:off x="4356506" y="1591056"/>
            <a:ext cx="3478682" cy="2615184"/>
          </a:xfrm>
          <a:prstGeom prst="rect">
            <a:avLst/>
          </a:prstGeom>
          <a:solidFill>
            <a:srgbClr val="F5F7FA"/>
          </a:solidFill>
          <a:ln w="12700">
            <a:solidFill>
              <a:srgbClr val="F5F7FA"/>
            </a:solidFill>
            <a:prstDash val="solid"/>
          </a:ln>
        </p:spPr>
      </p:sp>
      <p:sp>
        <p:nvSpPr>
          <p:cNvPr id="10" name="Shape 8"/>
          <p:cNvSpPr/>
          <p:nvPr/>
        </p:nvSpPr>
        <p:spPr>
          <a:xfrm>
            <a:off x="4356506" y="1591056"/>
            <a:ext cx="50292" cy="2615184"/>
          </a:xfrm>
          <a:prstGeom prst="rect">
            <a:avLst/>
          </a:prstGeom>
          <a:solidFill>
            <a:srgbClr val="1D4ED8"/>
          </a:solidFill>
          <a:ln w="12700">
            <a:solidFill>
              <a:srgbClr val="333333"/>
            </a:solidFill>
            <a:prstDash val="solid"/>
          </a:ln>
        </p:spPr>
      </p:sp>
      <p:sp>
        <p:nvSpPr>
          <p:cNvPr id="11" name="Text 9"/>
          <p:cNvSpPr/>
          <p:nvPr/>
        </p:nvSpPr>
        <p:spPr>
          <a:xfrm>
            <a:off x="4612538" y="1700784"/>
            <a:ext cx="3058058" cy="274320"/>
          </a:xfrm>
          <a:prstGeom prst="rect">
            <a:avLst/>
          </a:prstGeom>
          <a:noFill/>
          <a:ln/>
        </p:spPr>
        <p:txBody>
          <a:bodyPr wrap="square" rtlCol="0" anchor="ctr"/>
          <a:lstStyle/>
          <a:p>
            <a:pPr indent="0" marL="0">
              <a:buNone/>
            </a:pPr>
            <a:r>
              <a:rPr lang="en-US" sz="1250" b="1" dirty="0">
                <a:solidFill>
                  <a:srgbClr val="1D4ED8"/>
                </a:solidFill>
                <a:latin typeface="Arial" pitchFamily="34" charset="0"/>
                <a:ea typeface="Arial" pitchFamily="34" charset="-122"/>
                <a:cs typeface="Arial" pitchFamily="34" charset="-120"/>
              </a:rPr>
              <a:t>How it chooses the next question</a:t>
            </a:r>
            <a:endParaRPr lang="en-US" sz="1250" dirty="0"/>
          </a:p>
        </p:txBody>
      </p:sp>
      <p:sp>
        <p:nvSpPr>
          <p:cNvPr id="12" name="Text 10"/>
          <p:cNvSpPr/>
          <p:nvPr/>
        </p:nvSpPr>
        <p:spPr>
          <a:xfrm>
            <a:off x="4612538" y="2029968"/>
            <a:ext cx="3058058" cy="2084832"/>
          </a:xfrm>
          <a:prstGeom prst="rect">
            <a:avLst/>
          </a:prstGeom>
          <a:noFill/>
          <a:ln/>
        </p:spPr>
        <p:txBody>
          <a:bodyPr wrap="square" rtlCol="0" anchor="t"/>
          <a:lstStyle/>
          <a:p>
            <a:pPr indent="0" marL="0">
              <a:lnSpc>
                <a:spcPts val="1450"/>
              </a:lnSpc>
              <a:buNone/>
            </a:pPr>
            <a:r>
              <a:rPr lang="en-US" sz="1050" dirty="0">
                <a:solidFill>
                  <a:srgbClr val="3F4750"/>
                </a:solidFill>
                <a:latin typeface="Arial" pitchFamily="34" charset="0"/>
                <a:ea typeface="Arial" pitchFamily="34" charset="-122"/>
                <a:cs typeface="Arial" pitchFamily="34" charset="-120"/>
              </a:rPr>
              <a:t>No scene set  →  asks you to start again with the context</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Vague  →  presses for specifics</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You said “we”  →  asks what you did</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Same tactic twice  →  gets harder</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It is told what it has already asked, so it doesn't repeat itself</a:t>
            </a:r>
            <a:endParaRPr lang="en-US" sz="1050" dirty="0"/>
          </a:p>
        </p:txBody>
      </p:sp>
      <p:sp>
        <p:nvSpPr>
          <p:cNvPr id="13" name="Shape 11"/>
          <p:cNvSpPr/>
          <p:nvPr/>
        </p:nvSpPr>
        <p:spPr>
          <a:xfrm>
            <a:off x="8146085" y="1591056"/>
            <a:ext cx="3478682" cy="2615184"/>
          </a:xfrm>
          <a:prstGeom prst="rect">
            <a:avLst/>
          </a:prstGeom>
          <a:solidFill>
            <a:srgbClr val="F5F7FA"/>
          </a:solidFill>
          <a:ln w="12700">
            <a:solidFill>
              <a:srgbClr val="F5F7FA"/>
            </a:solidFill>
            <a:prstDash val="solid"/>
          </a:ln>
        </p:spPr>
      </p:sp>
      <p:sp>
        <p:nvSpPr>
          <p:cNvPr id="14" name="Shape 12"/>
          <p:cNvSpPr/>
          <p:nvPr/>
        </p:nvSpPr>
        <p:spPr>
          <a:xfrm>
            <a:off x="8146085" y="1591056"/>
            <a:ext cx="50292" cy="2615184"/>
          </a:xfrm>
          <a:prstGeom prst="rect">
            <a:avLst/>
          </a:prstGeom>
          <a:solidFill>
            <a:srgbClr val="15803D"/>
          </a:solidFill>
          <a:ln w="12700">
            <a:solidFill>
              <a:srgbClr val="333333"/>
            </a:solidFill>
            <a:prstDash val="solid"/>
          </a:ln>
        </p:spPr>
      </p:sp>
      <p:sp>
        <p:nvSpPr>
          <p:cNvPr id="15" name="Text 13"/>
          <p:cNvSpPr/>
          <p:nvPr/>
        </p:nvSpPr>
        <p:spPr>
          <a:xfrm>
            <a:off x="8402117" y="1700784"/>
            <a:ext cx="3058058" cy="274320"/>
          </a:xfrm>
          <a:prstGeom prst="rect">
            <a:avLst/>
          </a:prstGeom>
          <a:noFill/>
          <a:ln/>
        </p:spPr>
        <p:txBody>
          <a:bodyPr wrap="square" rtlCol="0" anchor="ctr"/>
          <a:lstStyle/>
          <a:p>
            <a:pPr indent="0" marL="0">
              <a:buNone/>
            </a:pPr>
            <a:r>
              <a:rPr lang="en-US" sz="1250" b="1" dirty="0">
                <a:solidFill>
                  <a:srgbClr val="15803D"/>
                </a:solidFill>
                <a:latin typeface="Arial" pitchFamily="34" charset="0"/>
                <a:ea typeface="Arial" pitchFamily="34" charset="-122"/>
                <a:cs typeface="Arial" pitchFamily="34" charset="-120"/>
              </a:rPr>
              <a:t>What you can change</a:t>
            </a:r>
            <a:endParaRPr lang="en-US" sz="1250" dirty="0"/>
          </a:p>
        </p:txBody>
      </p:sp>
      <p:sp>
        <p:nvSpPr>
          <p:cNvPr id="16" name="Text 14"/>
          <p:cNvSpPr/>
          <p:nvPr/>
        </p:nvSpPr>
        <p:spPr>
          <a:xfrm>
            <a:off x="8402117" y="2029968"/>
            <a:ext cx="3058058" cy="2084832"/>
          </a:xfrm>
          <a:prstGeom prst="rect">
            <a:avLst/>
          </a:prstGeom>
          <a:noFill/>
          <a:ln/>
        </p:spPr>
        <p:txBody>
          <a:bodyPr wrap="square" rtlCol="0" anchor="t"/>
          <a:lstStyle/>
          <a:p>
            <a:pPr indent="0" marL="0">
              <a:lnSpc>
                <a:spcPts val="1450"/>
              </a:lnSpc>
              <a:buNone/>
            </a:pPr>
            <a:r>
              <a:rPr lang="en-US" sz="1050" dirty="0">
                <a:solidFill>
                  <a:srgbClr val="3F4750"/>
                </a:solidFill>
                <a:latin typeface="Arial" pitchFamily="34" charset="0"/>
                <a:ea typeface="Arial" pitchFamily="34" charset="-122"/>
                <a:cs typeface="Arial" pitchFamily="34" charset="-120"/>
              </a:rPr>
              <a:t>The rounds — kind, length, focus, how many</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The interviewer — background, and how strict, warm, fast and challenging</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Type or speak, and which voice</a:t>
            </a:r>
            <a:endParaRPr lang="en-US" sz="1050" dirty="0"/>
          </a:p>
          <a:p>
            <a:pPr indent="0" marL="0">
              <a:lnSpc>
                <a:spcPts val="1450"/>
              </a:lnSpc>
              <a:buNone/>
            </a:pPr>
            <a:endParaRPr lang="en-US" sz="1050" dirty="0"/>
          </a:p>
          <a:p>
            <a:pPr indent="0" marL="0">
              <a:lnSpc>
                <a:spcPts val="1450"/>
              </a:lnSpc>
              <a:buNone/>
            </a:pPr>
            <a:r>
              <a:rPr lang="en-US" sz="1050" dirty="0">
                <a:solidFill>
                  <a:srgbClr val="3F4750"/>
                </a:solidFill>
                <a:latin typeface="Arial" pitchFamily="34" charset="0"/>
                <a:ea typeface="Arial" pitchFamily="34" charset="-122"/>
                <a:cs typeface="Arial" pitchFamily="34" charset="-120"/>
              </a:rPr>
              <a:t>Your own job advert and resume</a:t>
            </a:r>
            <a:endParaRPr lang="en-US" sz="1050" dirty="0"/>
          </a:p>
        </p:txBody>
      </p:sp>
      <p:sp>
        <p:nvSpPr>
          <p:cNvPr id="17" name="Shape 15"/>
          <p:cNvSpPr/>
          <p:nvPr/>
        </p:nvSpPr>
        <p:spPr>
          <a:xfrm>
            <a:off x="566928" y="4315968"/>
            <a:ext cx="11057839" cy="768096"/>
          </a:xfrm>
          <a:prstGeom prst="rect">
            <a:avLst/>
          </a:prstGeom>
          <a:solidFill>
            <a:srgbClr val="EAF0FE"/>
          </a:solidFill>
          <a:ln w="12700">
            <a:solidFill>
              <a:srgbClr val="EAF0FE"/>
            </a:solidFill>
            <a:prstDash val="solid"/>
          </a:ln>
        </p:spPr>
      </p:sp>
      <p:sp>
        <p:nvSpPr>
          <p:cNvPr id="18" name="Shape 16"/>
          <p:cNvSpPr/>
          <p:nvPr/>
        </p:nvSpPr>
        <p:spPr>
          <a:xfrm>
            <a:off x="566928" y="4315968"/>
            <a:ext cx="50292" cy="768096"/>
          </a:xfrm>
          <a:prstGeom prst="rect">
            <a:avLst/>
          </a:prstGeom>
          <a:solidFill>
            <a:srgbClr val="1D4ED8"/>
          </a:solidFill>
          <a:ln w="12700">
            <a:solidFill>
              <a:srgbClr val="333333"/>
            </a:solidFill>
            <a:prstDash val="solid"/>
          </a:ln>
        </p:spPr>
      </p:sp>
      <p:sp>
        <p:nvSpPr>
          <p:cNvPr id="19" name="Text 17"/>
          <p:cNvSpPr/>
          <p:nvPr/>
        </p:nvSpPr>
        <p:spPr>
          <a:xfrm>
            <a:off x="877824" y="4315968"/>
            <a:ext cx="10509199" cy="768096"/>
          </a:xfrm>
          <a:prstGeom prst="rect">
            <a:avLst/>
          </a:prstGeom>
          <a:noFill/>
          <a:ln/>
        </p:spPr>
        <p:txBody>
          <a:bodyPr wrap="square" rtlCol="0" anchor="ctr"/>
          <a:lstStyle/>
          <a:p>
            <a:pPr indent="0" marL="0">
              <a:lnSpc>
                <a:spcPts val="1700"/>
              </a:lnSpc>
              <a:buNone/>
            </a:pPr>
            <a:r>
              <a:rPr lang="en-US" sz="1250" b="1" dirty="0">
                <a:solidFill>
                  <a:srgbClr val="1D4ED8"/>
                </a:solidFill>
                <a:latin typeface="Arial" pitchFamily="34" charset="0"/>
                <a:ea typeface="Arial" pitchFamily="34" charset="-122"/>
                <a:cs typeface="Arial" pitchFamily="34" charset="-120"/>
              </a:rPr>
              <a:t>The settings really do change the interview.  </a:t>
            </a:r>
            <a:pPr indent="0" marL="0">
              <a:lnSpc>
                <a:spcPts val="1700"/>
              </a:lnSpc>
              <a:buNone/>
            </a:pPr>
            <a:r>
              <a:rPr lang="en-US" sz="1250" dirty="0">
                <a:solidFill>
                  <a:srgbClr val="14161A"/>
                </a:solidFill>
                <a:latin typeface="Arial" pitchFamily="34" charset="0"/>
                <a:ea typeface="Arial" pitchFamily="34" charset="-122"/>
                <a:cs typeface="Arial" pitchFamily="34" charset="-120"/>
              </a:rPr>
              <a:t>Same question, same answer — change only the interviewer. A strict one aims at 7 out of 10 for the next question; a warm one aims at 5. That is a formula, not the AI's mood: you can work it out on paper and get the same two numbers every run.</a:t>
            </a:r>
            <a:endParaRPr lang="en-US" sz="1250" dirty="0"/>
          </a:p>
        </p:txBody>
      </p:sp>
      <p:sp>
        <p:nvSpPr>
          <p:cNvPr id="20" name="Shape 18"/>
          <p:cNvSpPr/>
          <p:nvPr/>
        </p:nvSpPr>
        <p:spPr>
          <a:xfrm>
            <a:off x="566928" y="5193792"/>
            <a:ext cx="11057839" cy="621792"/>
          </a:xfrm>
          <a:prstGeom prst="rect">
            <a:avLst/>
          </a:prstGeom>
          <a:solidFill>
            <a:srgbClr val="FDF4E7"/>
          </a:solidFill>
          <a:ln w="12700">
            <a:solidFill>
              <a:srgbClr val="FDF4E7"/>
            </a:solidFill>
            <a:prstDash val="solid"/>
          </a:ln>
        </p:spPr>
      </p:sp>
      <p:sp>
        <p:nvSpPr>
          <p:cNvPr id="21" name="Shape 19"/>
          <p:cNvSpPr/>
          <p:nvPr/>
        </p:nvSpPr>
        <p:spPr>
          <a:xfrm>
            <a:off x="566928" y="5193792"/>
            <a:ext cx="50292" cy="621792"/>
          </a:xfrm>
          <a:prstGeom prst="rect">
            <a:avLst/>
          </a:prstGeom>
          <a:solidFill>
            <a:srgbClr val="9A5B08"/>
          </a:solidFill>
          <a:ln w="12700">
            <a:solidFill>
              <a:srgbClr val="333333"/>
            </a:solidFill>
            <a:prstDash val="solid"/>
          </a:ln>
        </p:spPr>
      </p:sp>
      <p:sp>
        <p:nvSpPr>
          <p:cNvPr id="22" name="Text 20"/>
          <p:cNvSpPr/>
          <p:nvPr/>
        </p:nvSpPr>
        <p:spPr>
          <a:xfrm>
            <a:off x="877824" y="5193792"/>
            <a:ext cx="10509199" cy="621792"/>
          </a:xfrm>
          <a:prstGeom prst="rect">
            <a:avLst/>
          </a:prstGeom>
          <a:noFill/>
          <a:ln/>
        </p:spPr>
        <p:txBody>
          <a:bodyPr wrap="square" rtlCol="0" anchor="ctr"/>
          <a:lstStyle/>
          <a:p>
            <a:pPr indent="0" marL="0">
              <a:lnSpc>
                <a:spcPts val="1600"/>
              </a:lnSpc>
              <a:buNone/>
            </a:pPr>
            <a:r>
              <a:rPr lang="en-US" sz="1200" b="1" dirty="0">
                <a:solidFill>
                  <a:srgbClr val="9A5B08"/>
                </a:solidFill>
                <a:latin typeface="Arial" pitchFamily="34" charset="0"/>
                <a:ea typeface="Arial" pitchFamily="34" charset="-122"/>
                <a:cs typeface="Arial" pitchFamily="34" charset="-120"/>
              </a:rPr>
              <a:t>What you cannot change:  </a:t>
            </a:r>
            <a:pPr indent="0" marL="0">
              <a:lnSpc>
                <a:spcPts val="1600"/>
              </a:lnSpc>
              <a:buNone/>
            </a:pPr>
            <a:r>
              <a:rPr lang="en-US" sz="1200" dirty="0">
                <a:solidFill>
                  <a:srgbClr val="14161A"/>
                </a:solidFill>
                <a:latin typeface="Arial" pitchFamily="34" charset="0"/>
                <a:ea typeface="Arial" pitchFamily="34" charset="-122"/>
                <a:cs typeface="Arial" pitchFamily="34" charset="-120"/>
              </a:rPr>
              <a:t>the marking rules themselves. Those are fixed numbers in the code — and fixing them is exactly what makes the same answer get the same mark twice, and lets me test each rule on its own.</a:t>
            </a:r>
            <a:endParaRPr lang="en-US" sz="1200" dirty="0"/>
          </a:p>
        </p:txBody>
      </p:sp>
      <p:sp>
        <p:nvSpPr>
          <p:cNvPr id="24" name="Text 2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25" name="Text 2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A"/>
        </a:solidFill>
      </p:bgPr>
    </p:bg>
    <p:spTree>
      <p:nvGrpSpPr>
        <p:cNvPr id="1" name=""/>
        <p:cNvGrpSpPr/>
        <p:nvPr/>
      </p:nvGrpSpPr>
      <p:grpSpPr>
        <a:xfrm>
          <a:off x="0" y="0"/>
          <a:ext cx="0" cy="0"/>
          <a:chOff x="0" y="0"/>
          <a:chExt cx="0" cy="0"/>
        </a:xfrm>
      </p:grpSpPr>
      <p:sp>
        <p:nvSpPr>
          <p:cNvPr id="2" name="Text 0"/>
          <p:cNvSpPr/>
          <p:nvPr/>
        </p:nvSpPr>
        <p:spPr>
          <a:xfrm>
            <a:off x="566928" y="2651760"/>
            <a:ext cx="11057839" cy="73152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3" name="Text 1"/>
          <p:cNvSpPr/>
          <p:nvPr/>
        </p:nvSpPr>
        <p:spPr>
          <a:xfrm>
            <a:off x="566928" y="3438144"/>
            <a:ext cx="11057839" cy="365760"/>
          </a:xfrm>
          <a:prstGeom prst="rect">
            <a:avLst/>
          </a:prstGeom>
          <a:noFill/>
          <a:ln/>
        </p:spPr>
        <p:txBody>
          <a:bodyPr wrap="square" rtlCol="0" anchor="ctr"/>
          <a:lstStyle/>
          <a:p>
            <a:pPr indent="0" marL="0">
              <a:buNone/>
            </a:pPr>
            <a:r>
              <a:rPr lang="en-US" sz="1500" dirty="0">
                <a:solidFill>
                  <a:srgbClr val="9AA5B4"/>
                </a:solidFill>
                <a:latin typeface="Arial" pitchFamily="34" charset="0"/>
                <a:ea typeface="Arial" pitchFamily="34" charset="-122"/>
                <a:cs typeface="Arial" pitchFamily="34" charset="-120"/>
              </a:rPr>
              <a:t>Questions. Supporting material follows — not presented.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A</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Full architecture</a:t>
            </a:r>
            <a:endParaRPr lang="en-US" sz="3000" dirty="0"/>
          </a:p>
        </p:txBody>
      </p:sp>
      <p:sp>
        <p:nvSpPr>
          <p:cNvPr id="5" name="Shape 3"/>
          <p:cNvSpPr/>
          <p:nvPr/>
        </p:nvSpPr>
        <p:spPr>
          <a:xfrm>
            <a:off x="566928" y="1627632"/>
            <a:ext cx="5373472" cy="3657600"/>
          </a:xfrm>
          <a:prstGeom prst="rect">
            <a:avLst/>
          </a:prstGeom>
          <a:solidFill>
            <a:srgbClr val="F5F7FA"/>
          </a:solidFill>
          <a:ln w="12700">
            <a:solidFill>
              <a:srgbClr val="F5F7FA"/>
            </a:solidFill>
            <a:prstDash val="solid"/>
          </a:ln>
        </p:spPr>
      </p:sp>
      <p:sp>
        <p:nvSpPr>
          <p:cNvPr id="6" name="Shape 4"/>
          <p:cNvSpPr/>
          <p:nvPr/>
        </p:nvSpPr>
        <p:spPr>
          <a:xfrm>
            <a:off x="566928" y="1627632"/>
            <a:ext cx="50292" cy="3657600"/>
          </a:xfrm>
          <a:prstGeom prst="rect">
            <a:avLst/>
          </a:prstGeom>
          <a:solidFill>
            <a:srgbClr val="1D4ED8"/>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Layers</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Proxy</a:t>
            </a:r>
            <a:pPr indent="0" marL="0">
              <a:lnSpc>
                <a:spcPts val="1600"/>
              </a:lnSpc>
              <a:buNone/>
            </a:pPr>
            <a:r>
              <a:rPr lang="en-US" sz="1150" dirty="0">
                <a:solidFill>
                  <a:srgbClr val="3F4750"/>
                </a:solidFill>
                <a:latin typeface="Arial" pitchFamily="34" charset="0"/>
                <a:ea typeface="Arial" pitchFamily="34" charset="-122"/>
                <a:cs typeface="Arial" pitchFamily="34" charset="-120"/>
              </a:rPr>
              <a:t>  refreshes the Supabase session cookie on every request</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Pages</a:t>
            </a:r>
            <a:pPr indent="0" marL="0">
              <a:lnSpc>
                <a:spcPts val="1600"/>
              </a:lnSpc>
              <a:buNone/>
            </a:pPr>
            <a:r>
              <a:rPr lang="en-US" sz="1150" dirty="0">
                <a:solidFill>
                  <a:srgbClr val="3F4750"/>
                </a:solidFill>
                <a:latin typeface="Arial" pitchFamily="34" charset="0"/>
                <a:ea typeface="Arial" pitchFamily="34" charset="-122"/>
                <a:cs typeface="Arial" pitchFamily="34" charset="-120"/>
              </a:rPr>
              <a:t>  marketing, auth, dashboard, and the two interview surfaces</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API</a:t>
            </a:r>
            <a:pPr indent="0" marL="0">
              <a:lnSpc>
                <a:spcPts val="1600"/>
              </a:lnSpc>
              <a:buNone/>
            </a:pPr>
            <a:r>
              <a:rPr lang="en-US" sz="1150" dirty="0">
                <a:solidFill>
                  <a:srgbClr val="3F4750"/>
                </a:solidFill>
                <a:latin typeface="Arial" pitchFamily="34" charset="0"/>
                <a:ea typeface="Arial" pitchFamily="34" charset="-122"/>
                <a:cs typeface="Arial" pitchFamily="34" charset="-120"/>
              </a:rPr>
              <a:t>  22 route files — auth-gated, rate-limited, RLS-backed</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Domain</a:t>
            </a:r>
            <a:pPr indent="0" marL="0">
              <a:lnSpc>
                <a:spcPts val="1600"/>
              </a:lnSpc>
              <a:buNone/>
            </a:pPr>
            <a:r>
              <a:rPr lang="en-US" sz="1150" dirty="0">
                <a:solidFill>
                  <a:srgbClr val="3F4750"/>
                </a:solidFill>
                <a:latin typeface="Arial" pitchFamily="34" charset="0"/>
                <a:ea typeface="Arial" pitchFamily="34" charset="-122"/>
                <a:cs typeface="Arial" pitchFamily="34" charset="-120"/>
              </a:rPr>
              <a:t>  pure, unit-tested logic: analyzer, decision engine, rounds, competencies, summary</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Data</a:t>
            </a:r>
            <a:pPr indent="0" marL="0">
              <a:lnSpc>
                <a:spcPts val="1600"/>
              </a:lnSpc>
              <a:buNone/>
            </a:pPr>
            <a:r>
              <a:rPr lang="en-US" sz="1150" dirty="0">
                <a:solidFill>
                  <a:srgbClr val="3F4750"/>
                </a:solidFill>
                <a:latin typeface="Arial" pitchFamily="34" charset="0"/>
                <a:ea typeface="Arial" pitchFamily="34" charset="-122"/>
                <a:cs typeface="Arial" pitchFamily="34" charset="-120"/>
              </a:rPr>
              <a:t>  src/lib/db — the only place SQL shapes live</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Operator</a:t>
            </a:r>
            <a:pPr indent="0" marL="0">
              <a:lnSpc>
                <a:spcPts val="1600"/>
              </a:lnSpc>
              <a:buNone/>
            </a:pPr>
            <a:r>
              <a:rPr lang="en-US" sz="1150" dirty="0">
                <a:solidFill>
                  <a:srgbClr val="3F4750"/>
                </a:solidFill>
                <a:latin typeface="Arial" pitchFamily="34" charset="0"/>
                <a:ea typeface="Arial" pitchFamily="34" charset="-122"/>
                <a:cs typeface="Arial" pitchFamily="34" charset="-120"/>
              </a:rPr>
              <a:t>  src/eval — CLI only, never bundled</a:t>
            </a:r>
            <a:endParaRPr lang="en-US" sz="1150" dirty="0"/>
          </a:p>
        </p:txBody>
      </p:sp>
      <p:sp>
        <p:nvSpPr>
          <p:cNvPr id="9" name="Shape 7"/>
          <p:cNvSpPr/>
          <p:nvPr/>
        </p:nvSpPr>
        <p:spPr>
          <a:xfrm>
            <a:off x="6251296" y="1627632"/>
            <a:ext cx="5373472" cy="3657600"/>
          </a:xfrm>
          <a:prstGeom prst="rect">
            <a:avLst/>
          </a:prstGeom>
          <a:solidFill>
            <a:srgbClr val="F5F7FA"/>
          </a:solidFill>
          <a:ln w="12700">
            <a:solidFill>
              <a:srgbClr val="F5F7FA"/>
            </a:solidFill>
            <a:prstDash val="solid"/>
          </a:ln>
        </p:spPr>
      </p:sp>
      <p:sp>
        <p:nvSpPr>
          <p:cNvPr id="10" name="Shape 8"/>
          <p:cNvSpPr/>
          <p:nvPr/>
        </p:nvSpPr>
        <p:spPr>
          <a:xfrm>
            <a:off x="6251296" y="1627632"/>
            <a:ext cx="50292" cy="3657600"/>
          </a:xfrm>
          <a:prstGeom prst="rect">
            <a:avLst/>
          </a:prstGeom>
          <a:solidFill>
            <a:srgbClr val="1D4ED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Why it is shaped this way</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Domain logic is pure</a:t>
            </a:r>
            <a:pPr indent="0" marL="0">
              <a:lnSpc>
                <a:spcPts val="1600"/>
              </a:lnSpc>
              <a:buNone/>
            </a:pPr>
            <a:r>
              <a:rPr lang="en-US" sz="1150" dirty="0">
                <a:solidFill>
                  <a:srgbClr val="3F4750"/>
                </a:solidFill>
                <a:latin typeface="Arial" pitchFamily="34" charset="0"/>
                <a:ea typeface="Arial" pitchFamily="34" charset="-122"/>
                <a:cs typeface="Arial" pitchFamily="34" charset="-120"/>
              </a:rPr>
              <a:t>  so it can be tested without a network or a database. That is why there are 482 tests and no mocking framework.</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One model for every interviewer turn</a:t>
            </a:r>
            <a:pPr indent="0" marL="0">
              <a:lnSpc>
                <a:spcPts val="1600"/>
              </a:lnSpc>
              <a:buNone/>
            </a:pPr>
            <a:r>
              <a:rPr lang="en-US" sz="1150" dirty="0">
                <a:solidFill>
                  <a:srgbClr val="3F4750"/>
                </a:solidFill>
                <a:latin typeface="Arial" pitchFamily="34" charset="0"/>
                <a:ea typeface="Arial" pitchFamily="34" charset="-122"/>
                <a:cs typeface="Arial" pitchFamily="34" charset="-120"/>
              </a:rPr>
              <a:t>  a different model is a different cache, so mixing them means never reusing a prefix.</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Retrieval lives inside Postgres</a:t>
            </a:r>
            <a:pPr indent="0" marL="0">
              <a:lnSpc>
                <a:spcPts val="1600"/>
              </a:lnSpc>
              <a:buNone/>
            </a:pPr>
            <a:r>
              <a:rPr lang="en-US" sz="1150" dirty="0">
                <a:solidFill>
                  <a:srgbClr val="3F4750"/>
                </a:solidFill>
                <a:latin typeface="Arial" pitchFamily="34" charset="0"/>
                <a:ea typeface="Arial" pitchFamily="34" charset="-122"/>
                <a:cs typeface="Arial" pitchFamily="34" charset="-120"/>
              </a:rPr>
              <a:t>  pgvector rather than an external vector DB, so retrieval inherits the same row-level security as everything else.</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No global state library</a:t>
            </a:r>
            <a:pPr indent="0" marL="0">
              <a:lnSpc>
                <a:spcPts val="1600"/>
              </a:lnSpc>
              <a:buNone/>
            </a:pPr>
            <a:r>
              <a:rPr lang="en-US" sz="1150" dirty="0">
                <a:solidFill>
                  <a:srgbClr val="3F4750"/>
                </a:solidFill>
                <a:latin typeface="Arial" pitchFamily="34" charset="0"/>
                <a:ea typeface="Arial" pitchFamily="34" charset="-122"/>
                <a:cs typeface="Arial" pitchFamily="34" charset="-120"/>
              </a:rPr>
              <a:t>  hook-owned state with a single owner per concern.</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B</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Data, access control and grounding</a:t>
            </a:r>
            <a:endParaRPr lang="en-US" sz="3000" dirty="0"/>
          </a:p>
        </p:txBody>
      </p:sp>
      <p:sp>
        <p:nvSpPr>
          <p:cNvPr id="5" name="Shape 3"/>
          <p:cNvSpPr/>
          <p:nvPr/>
        </p:nvSpPr>
        <p:spPr>
          <a:xfrm>
            <a:off x="566928" y="1627632"/>
            <a:ext cx="5373472" cy="3657600"/>
          </a:xfrm>
          <a:prstGeom prst="rect">
            <a:avLst/>
          </a:prstGeom>
          <a:solidFill>
            <a:srgbClr val="F5F7FA"/>
          </a:solidFill>
          <a:ln w="12700">
            <a:solidFill>
              <a:srgbClr val="F5F7FA"/>
            </a:solidFill>
            <a:prstDash val="solid"/>
          </a:ln>
        </p:spPr>
      </p:sp>
      <p:sp>
        <p:nvSpPr>
          <p:cNvPr id="6" name="Shape 4"/>
          <p:cNvSpPr/>
          <p:nvPr/>
        </p:nvSpPr>
        <p:spPr>
          <a:xfrm>
            <a:off x="566928" y="1627632"/>
            <a:ext cx="50292" cy="3657600"/>
          </a:xfrm>
          <a:prstGeom prst="rect">
            <a:avLst/>
          </a:prstGeom>
          <a:solidFill>
            <a:srgbClr val="1D4ED8"/>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Storage</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15 migrations</a:t>
            </a:r>
            <a:pPr indent="0" marL="0">
              <a:lnSpc>
                <a:spcPts val="1600"/>
              </a:lnSpc>
              <a:buNone/>
            </a:pPr>
            <a:r>
              <a:rPr lang="en-US" sz="1150" dirty="0">
                <a:solidFill>
                  <a:srgbClr val="3F4750"/>
                </a:solidFill>
                <a:latin typeface="Arial" pitchFamily="34" charset="0"/>
                <a:ea typeface="Arial" pitchFamily="34" charset="-122"/>
                <a:cs typeface="Arial" pitchFamily="34" charset="-120"/>
              </a:rPr>
              <a:t>  sessions, messages, personas, job descriptions, resumes, turn analyses, usage, coach answers, integrity constraints, server-owned writes, document metadata</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RLS on every table</a:t>
            </a:r>
            <a:pPr indent="0" marL="0">
              <a:lnSpc>
                <a:spcPts val="1600"/>
              </a:lnSpc>
              <a:buNone/>
            </a:pPr>
            <a:r>
              <a:rPr lang="en-US" sz="1150" dirty="0">
                <a:solidFill>
                  <a:srgbClr val="3F4750"/>
                </a:solidFill>
                <a:latin typeface="Arial" pitchFamily="34" charset="0"/>
                <a:ea typeface="Arial" pitchFamily="34" charset="-122"/>
                <a:cs typeface="Arial" pitchFamily="34" charset="-120"/>
              </a:rPr>
              <a:t>  user_id = auth.uid(), enforced in the database, not the application</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pgvector</a:t>
            </a:r>
            <a:pPr indent="0" marL="0">
              <a:lnSpc>
                <a:spcPts val="1600"/>
              </a:lnSpc>
              <a:buNone/>
            </a:pPr>
            <a:r>
              <a:rPr lang="en-US" sz="1150" dirty="0">
                <a:solidFill>
                  <a:srgbClr val="3F4750"/>
                </a:solidFill>
                <a:latin typeface="Arial" pitchFamily="34" charset="0"/>
                <a:ea typeface="Arial" pitchFamily="34" charset="-122"/>
                <a:cs typeface="Arial" pitchFamily="34" charset="-120"/>
              </a:rPr>
              <a:t>  job description chunks — 1,200 chars with 180 overlap, embedded with text-embedding-3-small</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retrieval RPC filters on auth.uid()</a:t>
            </a:r>
            <a:pPr indent="0" marL="0">
              <a:lnSpc>
                <a:spcPts val="1600"/>
              </a:lnSpc>
              <a:buNone/>
            </a:pPr>
            <a:r>
              <a:rPr lang="en-US" sz="1150" dirty="0">
                <a:solidFill>
                  <a:srgbClr val="3F4750"/>
                </a:solidFill>
                <a:latin typeface="Arial" pitchFamily="34" charset="0"/>
                <a:ea typeface="Arial" pitchFamily="34" charset="-122"/>
                <a:cs typeface="Arial" pitchFamily="34" charset="-120"/>
              </a:rPr>
              <a:t>  inside Postgres, so a bug in application code cannot leak another user's document</a:t>
            </a:r>
            <a:endParaRPr lang="en-US" sz="1150" dirty="0"/>
          </a:p>
        </p:txBody>
      </p:sp>
      <p:sp>
        <p:nvSpPr>
          <p:cNvPr id="9" name="Shape 7"/>
          <p:cNvSpPr/>
          <p:nvPr/>
        </p:nvSpPr>
        <p:spPr>
          <a:xfrm>
            <a:off x="6251296" y="1627632"/>
            <a:ext cx="5373472" cy="3657600"/>
          </a:xfrm>
          <a:prstGeom prst="rect">
            <a:avLst/>
          </a:prstGeom>
          <a:solidFill>
            <a:srgbClr val="F5F7FA"/>
          </a:solidFill>
          <a:ln w="12700">
            <a:solidFill>
              <a:srgbClr val="F5F7FA"/>
            </a:solidFill>
            <a:prstDash val="solid"/>
          </a:ln>
        </p:spPr>
      </p:sp>
      <p:sp>
        <p:nvSpPr>
          <p:cNvPr id="10" name="Shape 8"/>
          <p:cNvSpPr/>
          <p:nvPr/>
        </p:nvSpPr>
        <p:spPr>
          <a:xfrm>
            <a:off x="6251296" y="1627632"/>
            <a:ext cx="50292" cy="3657600"/>
          </a:xfrm>
          <a:prstGeom prst="rect">
            <a:avLst/>
          </a:prstGeom>
          <a:solidFill>
            <a:srgbClr val="1D4ED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Grounding decisions</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Small job descriptions are not embedded</a:t>
            </a:r>
            <a:pPr indent="0" marL="0">
              <a:lnSpc>
                <a:spcPts val="1600"/>
              </a:lnSpc>
              <a:buNone/>
            </a:pPr>
            <a:r>
              <a:rPr lang="en-US" sz="1150" dirty="0">
                <a:solidFill>
                  <a:srgbClr val="3F4750"/>
                </a:solidFill>
                <a:latin typeface="Arial" pitchFamily="34" charset="0"/>
                <a:ea typeface="Arial" pitchFamily="34" charset="-122"/>
                <a:cs typeface="Arial" pitchFamily="34" charset="-120"/>
              </a:rPr>
              <a:t>  four chunks or fewer get inlined whole into the cacheable prefix — retrieval would cost more than it saves</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retrieval query is not the raw answer</a:t>
            </a:r>
            <a:pPr indent="0" marL="0">
              <a:lnSpc>
                <a:spcPts val="1600"/>
              </a:lnSpc>
              <a:buNone/>
            </a:pPr>
            <a:r>
              <a:rPr lang="en-US" sz="1150" dirty="0">
                <a:solidFill>
                  <a:srgbClr val="3F4750"/>
                </a:solidFill>
                <a:latin typeface="Arial" pitchFamily="34" charset="0"/>
                <a:ea typeface="Arial" pitchFamily="34" charset="-122"/>
                <a:cs typeface="Arial" pitchFamily="34" charset="-120"/>
              </a:rPr>
              <a:t>  it is the previous turn's nextFocus, so retrieval follows where the interview is going</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resume is read directly, not searched</a:t>
            </a:r>
            <a:pPr indent="0" marL="0">
              <a:lnSpc>
                <a:spcPts val="1600"/>
              </a:lnSpc>
              <a:buNone/>
            </a:pPr>
            <a:r>
              <a:rPr lang="en-US" sz="1150" dirty="0">
                <a:solidFill>
                  <a:srgbClr val="3F4750"/>
                </a:solidFill>
                <a:latin typeface="Arial" pitchFamily="34" charset="0"/>
                <a:ea typeface="Arial" pitchFamily="34" charset="-122"/>
                <a:cs typeface="Arial" pitchFamily="34" charset="-120"/>
              </a:rPr>
              <a:t>  short enough to fit whole, so splitting and indexing it would cost more than it saves. An earlier version boiled it down to a summary; that was removed so the interviewer reads what the candidate actually wrote</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Speech keys never reach the browser</a:t>
            </a:r>
            <a:pPr indent="0" marL="0">
              <a:lnSpc>
                <a:spcPts val="1600"/>
              </a:lnSpc>
              <a:buNone/>
            </a:pPr>
            <a:r>
              <a:rPr lang="en-US" sz="1150" dirty="0">
                <a:solidFill>
                  <a:srgbClr val="3F4750"/>
                </a:solidFill>
                <a:latin typeface="Arial" pitchFamily="34" charset="0"/>
                <a:ea typeface="Arial" pitchFamily="34" charset="-122"/>
                <a:cs typeface="Arial" pitchFamily="34" charset="-120"/>
              </a:rPr>
              <a:t>  a server route mints a short-lived token</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C</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Why nationality is biography — and culture is not in the vector database</a:t>
            </a:r>
            <a:endParaRPr lang="en-US" sz="3000" dirty="0"/>
          </a:p>
        </p:txBody>
      </p:sp>
      <p:sp>
        <p:nvSpPr>
          <p:cNvPr id="5" name="Shape 3"/>
          <p:cNvSpPr/>
          <p:nvPr/>
        </p:nvSpPr>
        <p:spPr>
          <a:xfrm>
            <a:off x="566928" y="1627632"/>
            <a:ext cx="5373472" cy="3657600"/>
          </a:xfrm>
          <a:prstGeom prst="rect">
            <a:avLst/>
          </a:prstGeom>
          <a:solidFill>
            <a:srgbClr val="F5F7FA"/>
          </a:solidFill>
          <a:ln w="12700">
            <a:solidFill>
              <a:srgbClr val="F5F7FA"/>
            </a:solidFill>
            <a:prstDash val="solid"/>
          </a:ln>
        </p:spPr>
      </p:sp>
      <p:sp>
        <p:nvSpPr>
          <p:cNvPr id="6" name="Shape 4"/>
          <p:cNvSpPr/>
          <p:nvPr/>
        </p:nvSpPr>
        <p:spPr>
          <a:xfrm>
            <a:off x="566928" y="1627632"/>
            <a:ext cx="50292" cy="3657600"/>
          </a:xfrm>
          <a:prstGeom prst="rect">
            <a:avLst/>
          </a:prstGeom>
          <a:solidFill>
            <a:srgbClr val="1D4ED8"/>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What nationality does</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dirty="0">
                <a:solidFill>
                  <a:srgbClr val="3F4750"/>
                </a:solidFill>
                <a:latin typeface="Arial" pitchFamily="34" charset="0"/>
                <a:ea typeface="Arial" pitchFamily="34" charset="-122"/>
                <a:cs typeface="Arial" pitchFamily="34" charset="-120"/>
              </a:rPr>
              <a:t>It is one adjective in one sentence of the persona's self-description, and it is read nowhere else in the codebase.</a:t>
            </a:r>
            <a:endParaRPr lang="en-US" sz="1150" dirty="0"/>
          </a:p>
          <a:p>
            <a:pPr indent="0" marL="0">
              <a:lnSpc>
                <a:spcPts val="1600"/>
              </a:lnSpc>
              <a:buNone/>
            </a:pPr>
            <a:endParaRPr lang="en-US" sz="1150" dirty="0"/>
          </a:p>
          <a:p>
            <a:pPr indent="0" marL="0">
              <a:lnSpc>
                <a:spcPts val="1600"/>
              </a:lnSpc>
              <a:buNone/>
            </a:pPr>
            <a:r>
              <a:rPr lang="en-US" sz="1150" dirty="0">
                <a:solidFill>
                  <a:srgbClr val="3F4750"/>
                </a:solidFill>
                <a:latin typeface="Arial" pitchFamily="34" charset="0"/>
                <a:ea typeface="Arial" pitchFamily="34" charset="-122"/>
                <a:cs typeface="Arial" pitchFamily="34" charset="-120"/>
              </a:rPr>
              <a:t>The instruction immediately after it tells the model never to infer directness, formality, deference or expectations from it.</a:t>
            </a:r>
            <a:endParaRPr lang="en-US" sz="1150" dirty="0"/>
          </a:p>
          <a:p>
            <a:pPr indent="0" marL="0">
              <a:lnSpc>
                <a:spcPts val="1600"/>
              </a:lnSpc>
              <a:buNone/>
            </a:pPr>
            <a:endParaRPr lang="en-US" sz="1150" dirty="0"/>
          </a:p>
          <a:p>
            <a:pPr indent="0" marL="0">
              <a:lnSpc>
                <a:spcPts val="1600"/>
              </a:lnSpc>
              <a:buNone/>
            </a:pPr>
            <a:r>
              <a:rPr lang="en-US" sz="1150" dirty="0">
                <a:solidFill>
                  <a:srgbClr val="3F4750"/>
                </a:solidFill>
                <a:latin typeface="Arial" pitchFamily="34" charset="0"/>
                <a:ea typeface="Arial" pitchFamily="34" charset="-122"/>
                <a:cs typeface="Arial" pitchFamily="34" charset="-120"/>
              </a:rPr>
              <a:t>A test asserts that two personas differing only in nationality produce prompts that differ by exactly the demonym.</a:t>
            </a:r>
            <a:endParaRPr lang="en-US" sz="1150" dirty="0"/>
          </a:p>
        </p:txBody>
      </p:sp>
      <p:sp>
        <p:nvSpPr>
          <p:cNvPr id="9" name="Shape 7"/>
          <p:cNvSpPr/>
          <p:nvPr/>
        </p:nvSpPr>
        <p:spPr>
          <a:xfrm>
            <a:off x="6251296" y="1627632"/>
            <a:ext cx="5373472" cy="3657600"/>
          </a:xfrm>
          <a:prstGeom prst="rect">
            <a:avLst/>
          </a:prstGeom>
          <a:solidFill>
            <a:srgbClr val="FDF4E7"/>
          </a:solidFill>
          <a:ln w="12700">
            <a:solidFill>
              <a:srgbClr val="FDF4E7"/>
            </a:solidFill>
            <a:prstDash val="solid"/>
          </a:ln>
        </p:spPr>
      </p:sp>
      <p:sp>
        <p:nvSpPr>
          <p:cNvPr id="10" name="Shape 8"/>
          <p:cNvSpPr/>
          <p:nvPr/>
        </p:nvSpPr>
        <p:spPr>
          <a:xfrm>
            <a:off x="6251296" y="1627632"/>
            <a:ext cx="50292" cy="3657600"/>
          </a:xfrm>
          <a:prstGeom prst="rect">
            <a:avLst/>
          </a:prstGeom>
          <a:solidFill>
            <a:srgbClr val="9A5B0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9A5B08"/>
                </a:solidFill>
                <a:latin typeface="Arial" pitchFamily="34" charset="0"/>
                <a:ea typeface="Arial" pitchFamily="34" charset="-122"/>
                <a:cs typeface="Arial" pitchFamily="34" charset="-120"/>
              </a:rPr>
              <a:t>Why there is no culture corpus</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It is national-origin stereotyping with extra steps.</a:t>
            </a:r>
            <a:pPr indent="0" marL="0">
              <a:lnSpc>
                <a:spcPts val="1600"/>
              </a:lnSpc>
              <a:buNone/>
            </a:pPr>
            <a:r>
              <a:rPr lang="en-US" sz="1150" dirty="0">
                <a:solidFill>
                  <a:srgbClr val="3F4750"/>
                </a:solidFill>
                <a:latin typeface="Arial" pitchFamily="34" charset="0"/>
                <a:ea typeface="Arial" pitchFamily="34" charset="-122"/>
                <a:cs typeface="Arial" pitchFamily="34" charset="-120"/>
              </a:rPr>
              <a:t>  A retrieval store keyed on nationality that returns behavioural claims makes the model generate behaviour from national origin, deterministically. That is what a stereotype is.</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It cannot be sourced at the granularity it needs.</a:t>
            </a:r>
            <a:pPr indent="0" marL="0">
              <a:lnSpc>
                <a:spcPts val="1600"/>
              </a:lnSpc>
              <a:buNone/>
            </a:pPr>
            <a:r>
              <a:rPr lang="en-US" sz="1150" dirty="0">
                <a:solidFill>
                  <a:srgbClr val="3F4750"/>
                </a:solidFill>
                <a:latin typeface="Arial" pitchFamily="34" charset="0"/>
                <a:ea typeface="Arial" pitchFamily="34" charset="-122"/>
                <a:cs typeface="Arial" pitchFamily="34" charset="-120"/>
              </a:rPr>
              <a:t>  Hofstede and GLOBE are national aggregates whose own authors warn against applying them to individuals — the ecological fallacy.</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It is not needed.</a:t>
            </a:r>
            <a:pPr indent="0" marL="0">
              <a:lnSpc>
                <a:spcPts val="1600"/>
              </a:lnSpc>
              <a:buNone/>
            </a:pPr>
            <a:r>
              <a:rPr lang="en-US" sz="1150" dirty="0">
                <a:solidFill>
                  <a:srgbClr val="3F4750"/>
                </a:solidFill>
                <a:latin typeface="Arial" pitchFamily="34" charset="0"/>
                <a:ea typeface="Arial" pitchFamily="34" charset="-122"/>
                <a:cs typeface="Arial" pitchFamily="34" charset="-120"/>
              </a:rPr>
              <a:t>  Strictness, warmth, pace and pushback are explicit and measurable. They make the claim falsifiable; nationality would make it arguable.</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D</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Two design decisions worth defending</a:t>
            </a:r>
            <a:endParaRPr lang="en-US" sz="3000" dirty="0"/>
          </a:p>
        </p:txBody>
      </p:sp>
      <p:sp>
        <p:nvSpPr>
          <p:cNvPr id="5" name="Shape 3"/>
          <p:cNvSpPr/>
          <p:nvPr/>
        </p:nvSpPr>
        <p:spPr>
          <a:xfrm>
            <a:off x="566928" y="1627632"/>
            <a:ext cx="5373472" cy="3657600"/>
          </a:xfrm>
          <a:prstGeom prst="rect">
            <a:avLst/>
          </a:prstGeom>
          <a:solidFill>
            <a:srgbClr val="F5F7FA"/>
          </a:solidFill>
          <a:ln w="12700">
            <a:solidFill>
              <a:srgbClr val="F5F7FA"/>
            </a:solidFill>
            <a:prstDash val="solid"/>
          </a:ln>
        </p:spPr>
      </p:sp>
      <p:sp>
        <p:nvSpPr>
          <p:cNvPr id="6" name="Shape 4"/>
          <p:cNvSpPr/>
          <p:nvPr/>
        </p:nvSpPr>
        <p:spPr>
          <a:xfrm>
            <a:off x="566928" y="1627632"/>
            <a:ext cx="50292" cy="3657600"/>
          </a:xfrm>
          <a:prstGeom prst="rect">
            <a:avLst/>
          </a:prstGeom>
          <a:solidFill>
            <a:srgbClr val="1D4ED8"/>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Why scoring ignores the persona</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dirty="0">
                <a:solidFill>
                  <a:srgbClr val="3F4750"/>
                </a:solidFill>
                <a:latin typeface="Arial" pitchFamily="34" charset="0"/>
                <a:ea typeface="Arial" pitchFamily="34" charset="-122"/>
                <a:cs typeface="Arial" pitchFamily="34" charset="-120"/>
              </a:rPr>
              <a:t>The analyzer takes no persona argument at all, and its cache key is keyed only on round type.</a:t>
            </a:r>
            <a:endParaRPr lang="en-US" sz="1150" dirty="0"/>
          </a:p>
          <a:p>
            <a:pPr indent="0" marL="0">
              <a:lnSpc>
                <a:spcPts val="1600"/>
              </a:lnSpc>
              <a:buNone/>
            </a:pPr>
            <a:endParaRPr lang="en-US" sz="1150" dirty="0"/>
          </a:p>
          <a:p>
            <a:pPr indent="0" marL="0">
              <a:lnSpc>
                <a:spcPts val="1600"/>
              </a:lnSpc>
              <a:buNone/>
            </a:pPr>
            <a:r>
              <a:rPr lang="en-US" sz="1150" dirty="0">
                <a:solidFill>
                  <a:srgbClr val="3F4750"/>
                </a:solidFill>
                <a:latin typeface="Arial" pitchFamily="34" charset="0"/>
                <a:ea typeface="Arial" pitchFamily="34" charset="-122"/>
                <a:cs typeface="Arial" pitchFamily="34" charset="-120"/>
              </a:rPr>
              <a:t>A strict interviewer and a warm one score the same answer identically.</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Why:</a:t>
            </a:r>
            <a:pPr indent="0" marL="0">
              <a:lnSpc>
                <a:spcPts val="1600"/>
              </a:lnSpc>
              <a:buNone/>
            </a:pPr>
            <a:r>
              <a:rPr lang="en-US" sz="1150" dirty="0">
                <a:solidFill>
                  <a:srgbClr val="3F4750"/>
                </a:solidFill>
                <a:latin typeface="Arial" pitchFamily="34" charset="0"/>
                <a:ea typeface="Arial" pitchFamily="34" charset="-122"/>
                <a:cs typeface="Arial" pitchFamily="34" charset="-120"/>
              </a:rPr>
              <a:t>  grading should not depend on who asked. An answer is worth what it is worth. The persona controls what gets probed next and how hard — which is where interviewer variation belongs.</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Side benefit:</a:t>
            </a:r>
            <a:pPr indent="0" marL="0">
              <a:lnSpc>
                <a:spcPts val="1600"/>
              </a:lnSpc>
              <a:buNone/>
            </a:pPr>
            <a:r>
              <a:rPr lang="en-US" sz="1150" dirty="0">
                <a:solidFill>
                  <a:srgbClr val="3F4750"/>
                </a:solidFill>
                <a:latin typeface="Arial" pitchFamily="34" charset="0"/>
                <a:ea typeface="Arial" pitchFamily="34" charset="-122"/>
                <a:cs typeface="Arial" pitchFamily="34" charset="-120"/>
              </a:rPr>
              <a:t>  the analyzer's prompt prefix is then shared across all users, which is the one place caching has a real chance of firing.</a:t>
            </a:r>
            <a:endParaRPr lang="en-US" sz="1150" dirty="0"/>
          </a:p>
        </p:txBody>
      </p:sp>
      <p:sp>
        <p:nvSpPr>
          <p:cNvPr id="9" name="Shape 7"/>
          <p:cNvSpPr/>
          <p:nvPr/>
        </p:nvSpPr>
        <p:spPr>
          <a:xfrm>
            <a:off x="6251296" y="1627632"/>
            <a:ext cx="5373472" cy="3657600"/>
          </a:xfrm>
          <a:prstGeom prst="rect">
            <a:avLst/>
          </a:prstGeom>
          <a:solidFill>
            <a:srgbClr val="F5F7FA"/>
          </a:solidFill>
          <a:ln w="12700">
            <a:solidFill>
              <a:srgbClr val="F5F7FA"/>
            </a:solidFill>
            <a:prstDash val="solid"/>
          </a:ln>
        </p:spPr>
      </p:sp>
      <p:sp>
        <p:nvSpPr>
          <p:cNvPr id="10" name="Shape 8"/>
          <p:cNvSpPr/>
          <p:nvPr/>
        </p:nvSpPr>
        <p:spPr>
          <a:xfrm>
            <a:off x="6251296" y="1627632"/>
            <a:ext cx="50292" cy="3657600"/>
          </a:xfrm>
          <a:prstGeom prst="rect">
            <a:avLst/>
          </a:prstGeom>
          <a:solidFill>
            <a:srgbClr val="1D4ED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Why the question bank is not in the vector database</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dirty="0">
                <a:solidFill>
                  <a:srgbClr val="3F4750"/>
                </a:solidFill>
                <a:latin typeface="Arial" pitchFamily="34" charset="0"/>
                <a:ea typeface="Arial" pitchFamily="34" charset="-122"/>
                <a:cs typeface="Arial" pitchFamily="34" charset="-120"/>
              </a:rPr>
              <a:t>Retrieval saves tokens when it replaces stuffing a large corpus into the prompt. That is exactly why it is used for job descriptions, which run to 30,000 characters.</a:t>
            </a:r>
            <a:endParaRPr lang="en-US" sz="1150" dirty="0"/>
          </a:p>
          <a:p>
            <a:pPr indent="0" marL="0">
              <a:lnSpc>
                <a:spcPts val="1600"/>
              </a:lnSpc>
              <a:buNone/>
            </a:pPr>
            <a:endParaRPr lang="en-US" sz="1150" dirty="0"/>
          </a:p>
          <a:p>
            <a:pPr indent="0" marL="0">
              <a:lnSpc>
                <a:spcPts val="1600"/>
              </a:lnSpc>
              <a:buNone/>
            </a:pPr>
            <a:r>
              <a:rPr lang="en-US" sz="1150" dirty="0">
                <a:solidFill>
                  <a:srgbClr val="3F4750"/>
                </a:solidFill>
                <a:latin typeface="Arial" pitchFamily="34" charset="0"/>
                <a:ea typeface="Arial" pitchFamily="34" charset="-122"/>
                <a:cs typeface="Arial" pitchFamily="34" charset="-120"/>
              </a:rPr>
              <a:t>The interviewer prompt has no question corpus to slim down — questions are generated, not looked up.</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whole 39-question bank is about 800 tokens.</a:t>
            </a:r>
            <a:pPr indent="0" marL="0">
              <a:lnSpc>
                <a:spcPts val="1600"/>
              </a:lnSpc>
              <a:buNone/>
            </a:pPr>
            <a:r>
              <a:rPr lang="en-US" sz="1150" dirty="0">
                <a:solidFill>
                  <a:srgbClr val="3F4750"/>
                </a:solidFill>
                <a:latin typeface="Arial" pitchFamily="34" charset="0"/>
                <a:ea typeface="Arial" pitchFamily="34" charset="-122"/>
                <a:cs typeface="Arial" pitchFamily="34" charset="-120"/>
              </a:rPr>
              <a:t>  Retrieval would add 60–150 input tokens per turn plus an embedding call. The corpus is smaller than the machinery needed to search it.</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Honest caveat:</a:t>
            </a:r>
            <a:pPr indent="0" marL="0">
              <a:lnSpc>
                <a:spcPts val="1600"/>
              </a:lnSpc>
              <a:buNone/>
            </a:pPr>
            <a:r>
              <a:rPr lang="en-US" sz="1150" dirty="0">
                <a:solidFill>
                  <a:srgbClr val="3F4750"/>
                </a:solidFill>
                <a:latin typeface="Arial" pitchFamily="34" charset="0"/>
                <a:ea typeface="Arial" pitchFamily="34" charset="-122"/>
                <a:cs typeface="Arial" pitchFamily="34" charset="-120"/>
              </a:rPr>
              <a:t>  there is a legitimate quality argument for a curated bank. There is no cost argument.</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E</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Testing, CI, and a lint rule used as an architectural boundary</a:t>
            </a:r>
            <a:endParaRPr lang="en-US" sz="3000" dirty="0"/>
          </a:p>
        </p:txBody>
      </p:sp>
      <p:sp>
        <p:nvSpPr>
          <p:cNvPr id="5" name="Shape 3"/>
          <p:cNvSpPr/>
          <p:nvPr/>
        </p:nvSpPr>
        <p:spPr>
          <a:xfrm>
            <a:off x="566928" y="1627632"/>
            <a:ext cx="5373472" cy="3657600"/>
          </a:xfrm>
          <a:prstGeom prst="rect">
            <a:avLst/>
          </a:prstGeom>
          <a:solidFill>
            <a:srgbClr val="EAF5EE"/>
          </a:solidFill>
          <a:ln w="12700">
            <a:solidFill>
              <a:srgbClr val="EAF5EE"/>
            </a:solidFill>
            <a:prstDash val="solid"/>
          </a:ln>
        </p:spPr>
      </p:sp>
      <p:sp>
        <p:nvSpPr>
          <p:cNvPr id="6" name="Shape 4"/>
          <p:cNvSpPr/>
          <p:nvPr/>
        </p:nvSpPr>
        <p:spPr>
          <a:xfrm>
            <a:off x="566928" y="1627632"/>
            <a:ext cx="50292" cy="3657600"/>
          </a:xfrm>
          <a:prstGeom prst="rect">
            <a:avLst/>
          </a:prstGeom>
          <a:solidFill>
            <a:srgbClr val="15803D"/>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5803D"/>
                </a:solidFill>
                <a:latin typeface="Arial" pitchFamily="34" charset="0"/>
                <a:ea typeface="Arial" pitchFamily="34" charset="-122"/>
                <a:cs typeface="Arial" pitchFamily="34" charset="-120"/>
              </a:rPr>
              <a:t>What is tested</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482 tests, 55 files, all passing.</a:t>
            </a:r>
            <a:pPr indent="0" marL="0">
              <a:lnSpc>
                <a:spcPts val="1600"/>
              </a:lnSpc>
              <a:buNone/>
            </a:pPr>
            <a:r>
              <a:rPr lang="en-US" sz="1150" dirty="0">
                <a:solidFill>
                  <a:srgbClr val="3F4750"/>
                </a:solidFill>
                <a:latin typeface="Arial" pitchFamily="34" charset="0"/>
                <a:ea typeface="Arial" pitchFamily="34" charset="-122"/>
                <a:cs typeface="Arial" pitchFamily="34" charset="-120"/>
              </a:rPr>
              <a:t>  Pure logic plus route handlers — the route tests cover authentication, input bounds and the prompt trust boundary.</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No network in the test suite.</a:t>
            </a:r>
            <a:pPr indent="0" marL="0">
              <a:lnSpc>
                <a:spcPts val="1600"/>
              </a:lnSpc>
              <a:buNone/>
            </a:pPr>
            <a:r>
              <a:rPr lang="en-US" sz="1150" dirty="0">
                <a:solidFill>
                  <a:srgbClr val="3F4750"/>
                </a:solidFill>
                <a:latin typeface="Arial" pitchFamily="34" charset="0"/>
                <a:ea typeface="Arial" pitchFamily="34" charset="-122"/>
                <a:cs typeface="Arial" pitchFamily="34" charset="-120"/>
              </a:rPr>
              <a:t>  Domain logic was kept pure specifically so this would be possible.</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speech queue test fakes the Azure SDK contract</a:t>
            </a:r>
            <a:pPr indent="0" marL="0">
              <a:lnSpc>
                <a:spcPts val="1600"/>
              </a:lnSpc>
              <a:buNone/>
            </a:pPr>
            <a:r>
              <a:rPr lang="en-US" sz="1150" dirty="0">
                <a:solidFill>
                  <a:srgbClr val="3F4750"/>
                </a:solidFill>
                <a:latin typeface="Arial" pitchFamily="34" charset="0"/>
                <a:ea typeface="Arial" pitchFamily="34" charset="-122"/>
                <a:cs typeface="Arial" pitchFamily="34" charset="-120"/>
              </a:rPr>
              <a:t>  so a regression that stops calling close() fails in CI the same way it failed in the browser.</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CI runs typecheck, lint, the tests and a production build</a:t>
            </a:r>
            <a:pPr indent="0" marL="0">
              <a:lnSpc>
                <a:spcPts val="1600"/>
              </a:lnSpc>
              <a:buNone/>
            </a:pPr>
            <a:r>
              <a:rPr lang="en-US" sz="1150" dirty="0">
                <a:solidFill>
                  <a:srgbClr val="3F4750"/>
                </a:solidFill>
                <a:latin typeface="Arial" pitchFamily="34" charset="0"/>
                <a:ea typeface="Arial" pitchFamily="34" charset="-122"/>
                <a:cs typeface="Arial" pitchFamily="34" charset="-120"/>
              </a:rPr>
              <a:t>  on every push and pull request. The build step catches what types cannot — a missing Suspense boundary is a build failure, not a type error.</a:t>
            </a:r>
            <a:endParaRPr lang="en-US" sz="1150" dirty="0"/>
          </a:p>
        </p:txBody>
      </p:sp>
      <p:sp>
        <p:nvSpPr>
          <p:cNvPr id="9" name="Shape 7"/>
          <p:cNvSpPr/>
          <p:nvPr/>
        </p:nvSpPr>
        <p:spPr>
          <a:xfrm>
            <a:off x="6251296" y="1627632"/>
            <a:ext cx="5373472" cy="3657600"/>
          </a:xfrm>
          <a:prstGeom prst="rect">
            <a:avLst/>
          </a:prstGeom>
          <a:solidFill>
            <a:srgbClr val="EAF0FE"/>
          </a:solidFill>
          <a:ln w="12700">
            <a:solidFill>
              <a:srgbClr val="EAF0FE"/>
            </a:solidFill>
            <a:prstDash val="solid"/>
          </a:ln>
        </p:spPr>
      </p:sp>
      <p:sp>
        <p:nvSpPr>
          <p:cNvPr id="10" name="Shape 8"/>
          <p:cNvSpPr/>
          <p:nvPr/>
        </p:nvSpPr>
        <p:spPr>
          <a:xfrm>
            <a:off x="6251296" y="1627632"/>
            <a:ext cx="50292" cy="3657600"/>
          </a:xfrm>
          <a:prstGeom prst="rect">
            <a:avLst/>
          </a:prstGeom>
          <a:solidFill>
            <a:srgbClr val="1D4ED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1D4ED8"/>
                </a:solidFill>
                <a:latin typeface="Arial" pitchFamily="34" charset="0"/>
                <a:ea typeface="Arial" pitchFamily="34" charset="-122"/>
                <a:cs typeface="Arial" pitchFamily="34" charset="-120"/>
              </a:rPr>
              <a:t>The boundary that is actually enforced</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dirty="0">
                <a:solidFill>
                  <a:srgbClr val="3F4750"/>
                </a:solidFill>
                <a:latin typeface="Arial" pitchFamily="34" charset="0"/>
                <a:ea typeface="Arial" pitchFamily="34" charset="-122"/>
                <a:cs typeface="Arial" pitchFamily="34" charset="-120"/>
              </a:rPr>
              <a:t>The developer tooling — the eval harnesses, the cost report, the OpenAI rate card — must never be bundled into the browser.</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An ESLint rule forbids it.</a:t>
            </a:r>
            <a:pPr indent="0" marL="0">
              <a:lnSpc>
                <a:spcPts val="1600"/>
              </a:lnSpc>
              <a:buNone/>
            </a:pPr>
            <a:r>
              <a:rPr lang="en-US" sz="1150" dirty="0">
                <a:solidFill>
                  <a:srgbClr val="3F4750"/>
                </a:solidFill>
                <a:latin typeface="Arial" pitchFamily="34" charset="0"/>
                <a:ea typeface="Arial" pitchFamily="34" charset="-122"/>
                <a:cs typeface="Arial" pitchFamily="34" charset="-120"/>
              </a:rPr>
              <a:t>  Application code may not import the eval directory, the pricing table, or the test support helpers. A future mistake fails CI instead of silently shipping the price list to every user.</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The service-role key has no NEXT_PUBLIC_ prefix,</a:t>
            </a:r>
            <a:pPr indent="0" marL="0">
              <a:lnSpc>
                <a:spcPts val="1600"/>
              </a:lnSpc>
              <a:buNone/>
            </a:pPr>
            <a:r>
              <a:rPr lang="en-US" sz="1150" dirty="0">
                <a:solidFill>
                  <a:srgbClr val="3F4750"/>
                </a:solidFill>
                <a:latin typeface="Arial" pitchFamily="34" charset="0"/>
                <a:ea typeface="Arial" pitchFamily="34" charset="-122"/>
                <a:cs typeface="Arial" pitchFamily="34" charset="-120"/>
              </a:rPr>
              <a:t>  so it evaluates to undefined in a browser even if it were imported by accident.</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Stated plainly:</a:t>
            </a:r>
            <a:pPr indent="0" marL="0">
              <a:lnSpc>
                <a:spcPts val="1600"/>
              </a:lnSpc>
              <a:buNone/>
            </a:pPr>
            <a:r>
              <a:rPr lang="en-US" sz="1150" dirty="0">
                <a:solidFill>
                  <a:srgbClr val="3F4750"/>
                </a:solidFill>
                <a:latin typeface="Arial" pitchFamily="34" charset="0"/>
                <a:ea typeface="Arial" pitchFamily="34" charset="-122"/>
                <a:cs typeface="Arial" pitchFamily="34" charset="-120"/>
              </a:rPr>
              <a:t>  the absence of a user interface is not access control. The enforced boundaries are the import graph, the key naming, and RLS.</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128016" cy="128016"/>
          </a:xfrm>
          <a:prstGeom prst="rect">
            <a:avLst/>
          </a:prstGeom>
          <a:solidFill>
            <a:srgbClr val="1D4ED8"/>
          </a:solidFill>
          <a:ln/>
        </p:spPr>
      </p:sp>
      <p:sp>
        <p:nvSpPr>
          <p:cNvPr id="3" name="Text 1"/>
          <p:cNvSpPr/>
          <p:nvPr/>
        </p:nvSpPr>
        <p:spPr>
          <a:xfrm>
            <a:off x="804672" y="365760"/>
            <a:ext cx="10820095" cy="237744"/>
          </a:xfrm>
          <a:prstGeom prst="rect">
            <a:avLst/>
          </a:prstGeom>
          <a:noFill/>
          <a:ln/>
        </p:spPr>
        <p:txBody>
          <a:bodyPr wrap="square" rtlCol="0" anchor="ctr"/>
          <a:lstStyle/>
          <a:p>
            <a:pPr indent="0" marL="0">
              <a:buNone/>
            </a:pPr>
            <a:r>
              <a:rPr lang="en-US" sz="1100" b="1" spc="160" kern="0" dirty="0">
                <a:solidFill>
                  <a:srgbClr val="1D4ED8"/>
                </a:solidFill>
                <a:latin typeface="Arial" pitchFamily="34" charset="0"/>
                <a:ea typeface="Arial" pitchFamily="34" charset="-122"/>
                <a:cs typeface="Arial" pitchFamily="34" charset="-120"/>
              </a:rPr>
              <a:t>APPENDIX F</a:t>
            </a:r>
            <a:endParaRPr lang="en-US" sz="1100" dirty="0"/>
          </a:p>
        </p:txBody>
      </p:sp>
      <p:sp>
        <p:nvSpPr>
          <p:cNvPr id="4" name="Text 2"/>
          <p:cNvSpPr/>
          <p:nvPr/>
        </p:nvSpPr>
        <p:spPr>
          <a:xfrm>
            <a:off x="566928" y="694944"/>
            <a:ext cx="11057839" cy="566928"/>
          </a:xfrm>
          <a:prstGeom prst="rect">
            <a:avLst/>
          </a:prstGeom>
          <a:noFill/>
          <a:ln/>
        </p:spPr>
        <p:txBody>
          <a:bodyPr wrap="square" rtlCol="0" anchor="ctr"/>
          <a:lstStyle/>
          <a:p>
            <a:pPr indent="0" marL="0">
              <a:buNone/>
            </a:pPr>
            <a:r>
              <a:rPr lang="en-US" sz="3000" b="1" dirty="0">
                <a:solidFill>
                  <a:srgbClr val="14161A"/>
                </a:solidFill>
                <a:latin typeface="Arial" pitchFamily="34" charset="0"/>
                <a:ea typeface="Arial" pitchFamily="34" charset="-122"/>
                <a:cs typeface="Arial" pitchFamily="34" charset="-120"/>
              </a:rPr>
              <a:t>What I would do next</a:t>
            </a:r>
            <a:endParaRPr lang="en-US" sz="3000" dirty="0"/>
          </a:p>
        </p:txBody>
      </p:sp>
      <p:sp>
        <p:nvSpPr>
          <p:cNvPr id="5" name="Shape 3"/>
          <p:cNvSpPr/>
          <p:nvPr/>
        </p:nvSpPr>
        <p:spPr>
          <a:xfrm>
            <a:off x="566928" y="1627632"/>
            <a:ext cx="5373472" cy="3657600"/>
          </a:xfrm>
          <a:prstGeom prst="rect">
            <a:avLst/>
          </a:prstGeom>
          <a:solidFill>
            <a:srgbClr val="F5F7FA"/>
          </a:solidFill>
          <a:ln w="12700">
            <a:solidFill>
              <a:srgbClr val="F5F7FA"/>
            </a:solidFill>
            <a:prstDash val="solid"/>
          </a:ln>
        </p:spPr>
      </p:sp>
      <p:sp>
        <p:nvSpPr>
          <p:cNvPr id="6" name="Shape 4"/>
          <p:cNvSpPr/>
          <p:nvPr/>
        </p:nvSpPr>
        <p:spPr>
          <a:xfrm>
            <a:off x="566928" y="1627632"/>
            <a:ext cx="50292" cy="3657600"/>
          </a:xfrm>
          <a:prstGeom prst="rect">
            <a:avLst/>
          </a:prstGeom>
          <a:solidFill>
            <a:srgbClr val="1D4ED8"/>
          </a:solidFill>
          <a:ln w="12700">
            <a:solidFill>
              <a:srgbClr val="333333"/>
            </a:solidFill>
            <a:prstDash val="solid"/>
          </a:ln>
        </p:spPr>
      </p:sp>
      <p:sp>
        <p:nvSpPr>
          <p:cNvPr id="7" name="Text 5"/>
          <p:cNvSpPr/>
          <p:nvPr/>
        </p:nvSpPr>
        <p:spPr>
          <a:xfrm>
            <a:off x="841248"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Immediately</a:t>
            </a:r>
            <a:endParaRPr lang="en-US" sz="1400" dirty="0"/>
          </a:p>
        </p:txBody>
      </p:sp>
      <p:sp>
        <p:nvSpPr>
          <p:cNvPr id="8" name="Text 6"/>
          <p:cNvSpPr/>
          <p:nvPr/>
        </p:nvSpPr>
        <p:spPr>
          <a:xfrm>
            <a:off x="841248"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Run the scoring evaluation.</a:t>
            </a:r>
            <a:pPr indent="0" marL="0">
              <a:lnSpc>
                <a:spcPts val="1600"/>
              </a:lnSpc>
              <a:buNone/>
            </a:pPr>
            <a:r>
              <a:rPr lang="en-US" sz="1150" dirty="0">
                <a:solidFill>
                  <a:srgbClr val="3F4750"/>
                </a:solidFill>
                <a:latin typeface="Arial" pitchFamily="34" charset="0"/>
                <a:ea typeface="Arial" pitchFamily="34" charset="-122"/>
                <a:cs typeface="Arial" pitchFamily="34" charset="-120"/>
              </a:rPr>
              <a:t>  The harness, the fixtures and the metrics exist. It costs money to run, which is the only reason it has not been.</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Run the UAT.</a:t>
            </a:r>
            <a:pPr indent="0" marL="0">
              <a:lnSpc>
                <a:spcPts val="1600"/>
              </a:lnSpc>
              <a:buNone/>
            </a:pPr>
            <a:r>
              <a:rPr lang="en-US" sz="1150" dirty="0">
                <a:solidFill>
                  <a:srgbClr val="3F4750"/>
                </a:solidFill>
                <a:latin typeface="Arial" pitchFamily="34" charset="0"/>
                <a:ea typeface="Arial" pitchFamily="34" charset="-122"/>
                <a:cs typeface="Arial" pitchFamily="34" charset="-120"/>
              </a:rPr>
              <a:t>  Plan, tester handout and exit criteria are written; it needs at least two non-developer testers to complete a full interview unaided.</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Run the blind-judge arm of the persona evaluation</a:t>
            </a:r>
            <a:pPr indent="0" marL="0">
              <a:lnSpc>
                <a:spcPts val="1600"/>
              </a:lnSpc>
              <a:buNone/>
            </a:pPr>
            <a:r>
              <a:rPr lang="en-US" sz="1150" dirty="0">
                <a:solidFill>
                  <a:srgbClr val="3F4750"/>
                </a:solidFill>
                <a:latin typeface="Arial" pitchFamily="34" charset="0"/>
                <a:ea typeface="Arial" pitchFamily="34" charset="-122"/>
                <a:cs typeface="Arial" pitchFamily="34" charset="-120"/>
              </a:rPr>
              <a:t>  to measure the textual path, which cannot be proved by inspection.</a:t>
            </a:r>
            <a:endParaRPr lang="en-US" sz="1150" dirty="0"/>
          </a:p>
        </p:txBody>
      </p:sp>
      <p:sp>
        <p:nvSpPr>
          <p:cNvPr id="9" name="Shape 7"/>
          <p:cNvSpPr/>
          <p:nvPr/>
        </p:nvSpPr>
        <p:spPr>
          <a:xfrm>
            <a:off x="6251296" y="1627632"/>
            <a:ext cx="5373472" cy="3657600"/>
          </a:xfrm>
          <a:prstGeom prst="rect">
            <a:avLst/>
          </a:prstGeom>
          <a:solidFill>
            <a:srgbClr val="F5F7FA"/>
          </a:solidFill>
          <a:ln w="12700">
            <a:solidFill>
              <a:srgbClr val="F5F7FA"/>
            </a:solidFill>
            <a:prstDash val="solid"/>
          </a:ln>
        </p:spPr>
      </p:sp>
      <p:sp>
        <p:nvSpPr>
          <p:cNvPr id="10" name="Shape 8"/>
          <p:cNvSpPr/>
          <p:nvPr/>
        </p:nvSpPr>
        <p:spPr>
          <a:xfrm>
            <a:off x="6251296" y="1627632"/>
            <a:ext cx="50292" cy="3657600"/>
          </a:xfrm>
          <a:prstGeom prst="rect">
            <a:avLst/>
          </a:prstGeom>
          <a:solidFill>
            <a:srgbClr val="1D4ED8"/>
          </a:solidFill>
          <a:ln w="12700">
            <a:solidFill>
              <a:srgbClr val="333333"/>
            </a:solidFill>
            <a:prstDash val="solid"/>
          </a:ln>
        </p:spPr>
      </p:sp>
      <p:sp>
        <p:nvSpPr>
          <p:cNvPr id="11" name="Text 9"/>
          <p:cNvSpPr/>
          <p:nvPr/>
        </p:nvSpPr>
        <p:spPr>
          <a:xfrm>
            <a:off x="6525616" y="1755648"/>
            <a:ext cx="4916272" cy="310896"/>
          </a:xfrm>
          <a:prstGeom prst="rect">
            <a:avLst/>
          </a:prstGeom>
          <a:noFill/>
          <a:ln/>
        </p:spPr>
        <p:txBody>
          <a:bodyPr wrap="square" rtlCol="0" anchor="ctr"/>
          <a:lstStyle/>
          <a:p>
            <a:pPr indent="0" marL="0">
              <a:buNone/>
            </a:pPr>
            <a:r>
              <a:rPr lang="en-US" sz="1400" b="1" dirty="0">
                <a:solidFill>
                  <a:srgbClr val="14161A"/>
                </a:solidFill>
                <a:latin typeface="Arial" pitchFamily="34" charset="0"/>
                <a:ea typeface="Arial" pitchFamily="34" charset="-122"/>
                <a:cs typeface="Arial" pitchFamily="34" charset="-120"/>
              </a:rPr>
              <a:t>Then</a:t>
            </a:r>
            <a:endParaRPr lang="en-US" sz="1400" dirty="0"/>
          </a:p>
        </p:txBody>
      </p:sp>
      <p:sp>
        <p:nvSpPr>
          <p:cNvPr id="12" name="Text 10"/>
          <p:cNvSpPr/>
          <p:nvPr/>
        </p:nvSpPr>
        <p:spPr>
          <a:xfrm>
            <a:off x="6525616" y="2139696"/>
            <a:ext cx="4916272" cy="3054096"/>
          </a:xfrm>
          <a:prstGeom prst="rect">
            <a:avLst/>
          </a:prstGeom>
          <a:noFill/>
          <a:ln/>
        </p:spPr>
        <p:txBody>
          <a:bodyPr wrap="square" rtlCol="0" anchor="t"/>
          <a:lstStyle/>
          <a:p>
            <a:pPr indent="0" marL="0">
              <a:lnSpc>
                <a:spcPts val="1600"/>
              </a:lnSpc>
              <a:buNone/>
            </a:pPr>
            <a:r>
              <a:rPr lang="en-US" sz="1150" b="1" dirty="0">
                <a:solidFill>
                  <a:srgbClr val="14161A"/>
                </a:solidFill>
                <a:latin typeface="Arial" pitchFamily="34" charset="0"/>
                <a:ea typeface="Arial" pitchFamily="34" charset="-122"/>
                <a:cs typeface="Arial" pitchFamily="34" charset="-120"/>
              </a:rPr>
              <a:t>Move the rate limiter out of process</a:t>
            </a:r>
            <a:pPr indent="0" marL="0">
              <a:lnSpc>
                <a:spcPts val="1600"/>
              </a:lnSpc>
              <a:buNone/>
            </a:pPr>
            <a:r>
              <a:rPr lang="en-US" sz="1150" dirty="0">
                <a:solidFill>
                  <a:srgbClr val="3F4750"/>
                </a:solidFill>
                <a:latin typeface="Arial" pitchFamily="34" charset="0"/>
                <a:ea typeface="Arial" pitchFamily="34" charset="-122"/>
                <a:cs typeface="Arial" pitchFamily="34" charset="-120"/>
              </a:rPr>
              <a:t>  so it is correct across serverless instances.</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Add a content security policy</a:t>
            </a:r>
            <a:pPr indent="0" marL="0">
              <a:lnSpc>
                <a:spcPts val="1600"/>
              </a:lnSpc>
              <a:buNone/>
            </a:pPr>
            <a:r>
              <a:rPr lang="en-US" sz="1150" dirty="0">
                <a:solidFill>
                  <a:srgbClr val="3F4750"/>
                </a:solidFill>
                <a:latin typeface="Arial" pitchFamily="34" charset="0"/>
                <a:ea typeface="Arial" pitchFamily="34" charset="-122"/>
                <a:cs typeface="Arial" pitchFamily="34" charset="-120"/>
              </a:rPr>
              <a:t>  once the speech websocket origins are inventoried.</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Write usage rows with a service-role path</a:t>
            </a:r>
            <a:pPr indent="0" marL="0">
              <a:lnSpc>
                <a:spcPts val="1600"/>
              </a:lnSpc>
              <a:buNone/>
            </a:pPr>
            <a:r>
              <a:rPr lang="en-US" sz="1150" dirty="0">
                <a:solidFill>
                  <a:srgbClr val="3F4750"/>
                </a:solidFill>
                <a:latin typeface="Arial" pitchFamily="34" charset="0"/>
                <a:ea typeface="Arial" pitchFamily="34" charset="-122"/>
                <a:cs typeface="Arial" pitchFamily="34" charset="-120"/>
              </a:rPr>
              <a:t>  so the grant to authenticated users can be revoked.</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Interview conventions by market</a:t>
            </a:r>
            <a:pPr indent="0" marL="0">
              <a:lnSpc>
                <a:spcPts val="1600"/>
              </a:lnSpc>
              <a:buNone/>
            </a:pPr>
            <a:r>
              <a:rPr lang="en-US" sz="1150" dirty="0">
                <a:solidFill>
                  <a:srgbClr val="3F4750"/>
                </a:solidFill>
                <a:latin typeface="Arial" pitchFamily="34" charset="0"/>
                <a:ea typeface="Arial" pitchFamily="34" charset="-122"/>
                <a:cs typeface="Arial" pitchFamily="34" charset="-120"/>
              </a:rPr>
              <a:t>  — process, not people — as the defensible version of the cultural-context idea.</a:t>
            </a:r>
            <a:endParaRPr lang="en-US" sz="1150" dirty="0"/>
          </a:p>
          <a:p>
            <a:pPr indent="0" marL="0">
              <a:lnSpc>
                <a:spcPts val="1600"/>
              </a:lnSpc>
              <a:buNone/>
            </a:pPr>
            <a:endParaRPr lang="en-US" sz="1150" dirty="0"/>
          </a:p>
          <a:p>
            <a:pPr indent="0" marL="0">
              <a:lnSpc>
                <a:spcPts val="1600"/>
              </a:lnSpc>
              <a:buNone/>
            </a:pPr>
            <a:r>
              <a:rPr lang="en-US" sz="1150" b="1" dirty="0">
                <a:solidFill>
                  <a:srgbClr val="14161A"/>
                </a:solidFill>
                <a:latin typeface="Arial" pitchFamily="34" charset="0"/>
                <a:ea typeface="Arial" pitchFamily="34" charset="-122"/>
                <a:cs typeface="Arial" pitchFamily="34" charset="-120"/>
              </a:rPr>
              <a:t>Persist the delivery metrics</a:t>
            </a:r>
            <a:pPr indent="0" marL="0">
              <a:lnSpc>
                <a:spcPts val="1600"/>
              </a:lnSpc>
              <a:buNone/>
            </a:pPr>
            <a:r>
              <a:rPr lang="en-US" sz="1150" dirty="0">
                <a:solidFill>
                  <a:srgbClr val="3F4750"/>
                </a:solidFill>
                <a:latin typeface="Arial" pitchFamily="34" charset="0"/>
                <a:ea typeface="Arial" pitchFamily="34" charset="-122"/>
                <a:cs typeface="Arial" pitchFamily="34" charset="-120"/>
              </a:rPr>
              <a:t>  already computed during voice rounds into the report.</a:t>
            </a:r>
            <a:endParaRPr lang="en-US" sz="1150" dirty="0"/>
          </a:p>
        </p:txBody>
      </p:sp>
      <p:sp>
        <p:nvSpPr>
          <p:cNvPr id="14" name="Text 11"/>
          <p:cNvSpPr/>
          <p:nvPr/>
        </p:nvSpPr>
        <p:spPr>
          <a:xfrm>
            <a:off x="566928" y="6382512"/>
            <a:ext cx="5486400" cy="274320"/>
          </a:xfrm>
          <a:prstGeom prst="rect">
            <a:avLst/>
          </a:prstGeom>
          <a:noFill/>
          <a:ln/>
        </p:spPr>
        <p:txBody>
          <a:bodyPr wrap="square" rtlCol="0" anchor="ctr"/>
          <a:lstStyle/>
          <a:p>
            <a:pPr indent="0" marL="0">
              <a:buNone/>
            </a:pPr>
            <a:r>
              <a:rPr lang="en-US" sz="1000" dirty="0">
                <a:solidFill>
                  <a:srgbClr val="7A8593"/>
                </a:solidFill>
                <a:latin typeface="Arial" pitchFamily="34" charset="0"/>
                <a:ea typeface="Arial" pitchFamily="34" charset="-122"/>
                <a:cs typeface="Arial" pitchFamily="34" charset="-120"/>
              </a:rPr>
              <a:t>ConvoTrainer  ·  Final Year Project</a:t>
            </a:r>
            <a:endParaRPr lang="en-US" sz="1000" dirty="0"/>
          </a:p>
        </p:txBody>
      </p:sp>
      <p:sp>
        <p:nvSpPr>
          <p:cNvPr id="15" name="Text 12"/>
          <p:cNvSpPr/>
          <p:nvPr/>
        </p:nvSpPr>
        <p:spPr>
          <a:xfrm>
            <a:off x="10710367" y="6382512"/>
            <a:ext cx="914400" cy="274320"/>
          </a:xfrm>
          <a:prstGeom prst="rect">
            <a:avLst/>
          </a:prstGeom>
          <a:noFill/>
          <a:ln/>
        </p:spPr>
        <p:txBody>
          <a:bodyPr wrap="square" rtlCol="0" anchor="ctr"/>
          <a:lstStyle/>
          <a:p>
            <a:pPr algn="r" indent="0" marL="0">
              <a:buNone/>
            </a:pPr>
            <a:r>
              <a:rPr lang="en-US" sz="1000" dirty="0">
                <a:solidFill>
                  <a:srgbClr val="7A8593"/>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ConvoTrainer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ConvoTrainer — FYP Demo</dc:title>
  <dc:subject>PptxGenJS Presentation</dc:subject>
  <dc:creator>Dylan Tan</dc:creator>
  <cp:lastModifiedBy>Dylan Tan</cp:lastModifiedBy>
  <cp:revision>1</cp:revision>
  <dcterms:created xsi:type="dcterms:W3CDTF">2026-08-17T00:58:48Z</dcterms:created>
  <dcterms:modified xsi:type="dcterms:W3CDTF">2026-08-17T00:58:48Z</dcterms:modified>
</cp:coreProperties>
</file>